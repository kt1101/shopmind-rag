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nhóm và đề tài. ShopMind là một cửa hàng thu nhỏ 1.500 sản phẩm dùng để nghiên cứu truy hồi đa phương thức và RAG, nhấn mạnh tính minh bạch: mọi kết quả đều giải thích được.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Nêu ba vấn đề gặp phải sau bài tập A1/A3: dense bằng SigLIP2 gần như không hoạt động, hợp nhất còn kém hơn BM25, và hệ thống chưa phải sản phẩm. Từ đó dẫn tới năm mục tiêu.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ABO là sản phẩm thật, tiêu đề đa ngôn ngữ. Giá, tồn kho và chính sách là dữ liệu tổng hợp, có gắn nhãn. Ba benchmark, tất cả nhãn tự sinh — đây là giới hạn chính sẽ nói lại ở cuối.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 từ trên xuống: giao diện tách vai, tầng HTTP, use case, domain không phụ thuộc framework, hạ tầng thay được. bootstrap/wiring là nơi duy nhất lắp ráp; phân hệ lỗi không làm sập ứng dụng.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thích registry: thêm thuật toán = một lớp + một dòng đăng ký + YAML. Các bước retrieve chạy song song nhưng hợp lại theo thứ tự khai báo nên trace giống hệt. Trace lọc mọi vector, chỉ giữ số chiều và chuẩn.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quan trọng nhất. Cùng pipeline, chỉ đổi vector: SigLIP2 chữ 0,0375, E5 0,55, vượt BM25. Lý do: SigLIP2 học khớp ảnh–chú thích, cắt ở 64 token; E5 học khớp chữ–chữ đa ngôn ngữ.</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Hợp nhất tuyến tính giữ thông tin khoảng cách điểm nên tốt nhất về Recall. Adaptive tốt nhất về nDCG và MRR. Cross-encoder đã cài nhưng không đo được trên CPU (hơn 100 giây mỗi truy vấn).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mạnh quy trình: chọn duy nhất theo DEV. Adaptive tốt hơn trên holdout nhưng không được chọn vì như vậy là dùng holdout để chọn. Từ điển mở rộng sau đó không đổi DEV, holdout tăng lên 0,7381.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 normalize(α·ảnh + (1−α)·chữ), sau đó tăng điểm cho màu khớp. Mọi α đều vượt cả hai phương thức đơn lẻ. Mặc định α = 0,5 chứ không phải 0,3 vì α được so trên chính tập tổng hợp này; giao diện có thanh trượt.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Tìm sản phẩm trả lời ngay bằng thẻ sản phẩm, không cần LLM. Câu hỏi đi qua RAG đa nguồn và kiểm tra trích dẫn. Phiên chat do máy chủ cấp mã. Stream qua SSE với các bước hiện cho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thuộc tính không qua LLM nên không thể bịa. Nhận xét phải trích ID có trong ngữ cảnh, sai thì sinh lại một lần. Không có LLM thì vẫn có bảng, kèm lý do rõ ràng.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Tính năng RAG bổ sung ở giai đoạn cuối. Tách nhu cầu (LLM chỉ được chọn danh mục có thật, hoặc template), truy hồi từng nhu cầu, tối ưu ngân sách bằng quy hoạch động — đúng tối ưu, kiểm chứng bằng vét cạn — rồi giải thích có trích dẫn. Chạy được cả khi không có LLM.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Thẻ thuật toán tìm kiếm: đổi pipeline mặc định có hiệu lực ngay, có lịch sử và quay lại. Inspector cho thấy thứ hạng qua từng bước và công thức hợp nhất với số thật. Playground so hai pipeline trên cùng truy vấn.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Cache embedding truy vấn và ảnh, cache phân giải bộ lọc và mapping, chạy song song các bước retrieve, trả _source nhẹ hơn. Truy vấn mới vẫn ~179 ms vì phải mã hoá E5 trên CPU.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523 kiểm thử backend gồm tích hợp với Elasticsearch thật; 235 kiểm thử logic giao diện. Rà soát độc lập tìm 14 lỗi, tất cả đã sửa kèm kiểm thử hồi quy. Smoke đầu–cuối trên API và trình duyệt.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thẳng các giới hạn. Ba hướng tiếp: gán nhãn có người duyệt (đã có công cụ), đo RAG bằng LLM-as-judge, và đo rerank trên GPU.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Chạy theo docs/DEMO_SCRIPT.md. Nếu không có mạng hoặc khoá LLM: tìm kiếm, trợ lý tìm sản phẩm, bảng so sánh và lên kế hoạch vẫn chạy.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tắt ba con số chính và mời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C3C"/>
        </a:solidFill>
        <a:effectLst/>
      </p:bgPr>
    </p:bg>
    <p:spTree>
      <p:nvGrpSpPr>
        <p:cNvPr id="1" name=""/>
        <p:cNvGrpSpPr/>
        <p:nvPr/>
      </p:nvGrpSpPr>
      <p:grpSpPr/>
      <p:sp>
        <p:nvSpPr>
          <p:cNvPr id="2" name="TextBox 1"/>
          <p:cNvSpPr txBox="1"/>
          <p:nvPr/>
        </p:nvSpPr>
        <p:spPr>
          <a:xfrm>
            <a:off x="822960" y="640080"/>
            <a:ext cx="10058400" cy="365760"/>
          </a:xfrm>
          <a:prstGeom prst="rect">
            <a:avLst/>
          </a:prstGeom>
          <a:noFill/>
        </p:spPr>
        <p:txBody>
          <a:bodyPr wrap="square" anchor="t" lIns="45720" rIns="45720" tIns="27432" bIns="27432">
            <a:spAutoFit/>
          </a:bodyPr>
          <a:lstStyle/>
          <a:p>
            <a:pPr algn="l">
              <a:lnSpc>
                <a:spcPct val="110000"/>
              </a:lnSpc>
            </a:pPr>
            <a:r>
              <a:rPr sz="1300" b="1">
                <a:solidFill>
                  <a:srgbClr val="9FC9C4"/>
                </a:solidFill>
                <a:latin typeface="Segoe UI"/>
              </a:rPr>
              <a:t>TRƯỜNG ĐẠI HỌC CÔNG NGHỆ THÔNG TIN – ĐHQG TP.HCM  ·  MÔN TÌM KIẾM THÔNG MINH</a:t>
            </a:r>
          </a:p>
        </p:txBody>
      </p:sp>
      <p:sp>
        <p:nvSpPr>
          <p:cNvPr id="3" name="TextBox 2"/>
          <p:cNvSpPr txBox="1"/>
          <p:nvPr/>
        </p:nvSpPr>
        <p:spPr>
          <a:xfrm>
            <a:off x="822960" y="1737360"/>
            <a:ext cx="10515600" cy="1097280"/>
          </a:xfrm>
          <a:prstGeom prst="rect">
            <a:avLst/>
          </a:prstGeom>
          <a:noFill/>
        </p:spPr>
        <p:txBody>
          <a:bodyPr wrap="square" anchor="t" lIns="45720" rIns="45720" tIns="27432" bIns="27432">
            <a:spAutoFit/>
          </a:bodyPr>
          <a:lstStyle/>
          <a:p>
            <a:pPr algn="l">
              <a:lnSpc>
                <a:spcPct val="110000"/>
              </a:lnSpc>
            </a:pPr>
            <a:r>
              <a:rPr sz="6000" b="0">
                <a:solidFill>
                  <a:srgbClr val="FFFFFF"/>
                </a:solidFill>
                <a:latin typeface="Georgia"/>
              </a:rPr>
              <a:t>ShopMind</a:t>
            </a:r>
          </a:p>
        </p:txBody>
      </p:sp>
      <p:sp>
        <p:nvSpPr>
          <p:cNvPr id="4" name="TextBox 3"/>
          <p:cNvSpPr txBox="1"/>
          <p:nvPr/>
        </p:nvSpPr>
        <p:spPr>
          <a:xfrm>
            <a:off x="822960" y="2788920"/>
            <a:ext cx="10515600" cy="1097280"/>
          </a:xfrm>
          <a:prstGeom prst="rect">
            <a:avLst/>
          </a:prstGeom>
          <a:noFill/>
        </p:spPr>
        <p:txBody>
          <a:bodyPr wrap="square" anchor="t" lIns="45720" rIns="45720" tIns="27432" bIns="27432">
            <a:spAutoFit/>
          </a:bodyPr>
          <a:lstStyle/>
          <a:p>
            <a:pPr algn="l">
              <a:lnSpc>
                <a:spcPct val="110000"/>
              </a:lnSpc>
            </a:pPr>
            <a:r>
              <a:rPr sz="2600" b="0">
                <a:solidFill>
                  <a:srgbClr val="DDE7E4"/>
                </a:solidFill>
                <a:latin typeface="Georgia"/>
              </a:rPr>
              <a:t>Tìm kiếm sản phẩm đa phương thức và trợ lý mua sắm RAG minh bạch</a:t>
            </a:r>
          </a:p>
        </p:txBody>
      </p:sp>
      <p:sp>
        <p:nvSpPr>
          <p:cNvPr id="5" name="Rectangle 4"/>
          <p:cNvSpPr/>
          <p:nvPr/>
        </p:nvSpPr>
        <p:spPr>
          <a:xfrm>
            <a:off x="822960" y="3977639"/>
            <a:ext cx="1280160" cy="54864"/>
          </a:xfrm>
          <a:prstGeom prst="rect">
            <a:avLst/>
          </a:prstGeom>
          <a:solidFill>
            <a:srgbClr val="7FB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51960"/>
            <a:ext cx="6400800" cy="1737360"/>
          </a:xfrm>
          <a:prstGeom prst="rect">
            <a:avLst/>
          </a:prstGeom>
          <a:noFill/>
        </p:spPr>
        <p:txBody>
          <a:bodyPr wrap="square" anchor="t" lIns="45720" rIns="45720" tIns="27432" bIns="27432">
            <a:spAutoFit/>
          </a:bodyPr>
          <a:lstStyle/>
          <a:p>
            <a:pPr algn="l">
              <a:lnSpc>
                <a:spcPct val="135000"/>
              </a:lnSpc>
            </a:pPr>
            <a:r>
              <a:rPr sz="1600" b="0">
                <a:solidFill>
                  <a:srgbClr val="FFFFFF"/>
                </a:solidFill>
                <a:latin typeface="Segoe UI"/>
              </a:rPr>
              <a:t>Báo cáo đồ án cuối kỳ — Nhóm 4</a:t>
            </a:r>
          </a:p>
          <a:p>
            <a:pPr algn="l">
              <a:lnSpc>
                <a:spcPct val="135000"/>
              </a:lnSpc>
            </a:pPr>
            <a:r>
              <a:rPr sz="1600" b="0">
                <a:solidFill>
                  <a:srgbClr val="FFFFFF"/>
                </a:solidFill>
                <a:latin typeface="Segoe UI"/>
              </a:rPr>
              <a:t>Trần Văn Quang · Nguyễn Minh Thái · Trần Khoa · Đinh Ngọc Phúc</a:t>
            </a:r>
          </a:p>
          <a:p>
            <a:pPr algn="l">
              <a:lnSpc>
                <a:spcPct val="135000"/>
              </a:lnSpc>
            </a:pPr>
            <a:r>
              <a:rPr sz="1600" b="0">
                <a:solidFill>
                  <a:srgbClr val="FFFFFF"/>
                </a:solidFill>
                <a:latin typeface="Segoe UI"/>
              </a:rPr>
              <a:t>GVHD: TS. Phạm Đỗ Kim Chi</a:t>
            </a:r>
          </a:p>
        </p:txBody>
      </p:sp>
      <p:sp>
        <p:nvSpPr>
          <p:cNvPr id="7" name="TextBox 6"/>
          <p:cNvSpPr txBox="1"/>
          <p:nvPr/>
        </p:nvSpPr>
        <p:spPr>
          <a:xfrm>
            <a:off x="8595360" y="6035040"/>
            <a:ext cx="3017520" cy="365760"/>
          </a:xfrm>
          <a:prstGeom prst="rect">
            <a:avLst/>
          </a:prstGeom>
          <a:noFill/>
        </p:spPr>
        <p:txBody>
          <a:bodyPr wrap="square" anchor="t" lIns="45720" rIns="45720" tIns="27432" bIns="27432">
            <a:spAutoFit/>
          </a:bodyPr>
          <a:lstStyle/>
          <a:p>
            <a:pPr algn="r">
              <a:lnSpc>
                <a:spcPct val="110000"/>
              </a:lnSpc>
            </a:pPr>
            <a:r>
              <a:rPr sz="1400" b="0">
                <a:solidFill>
                  <a:srgbClr val="9FC9C4"/>
                </a:solidFill>
                <a:latin typeface="Segoe UI"/>
              </a:rPr>
              <a:t>Tháng 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BỐI CẢNH</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Tìm kiếm là cửa ngõ của cửa hàng — và nó đang sai</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2</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sp>
        <p:nvSpPr>
          <p:cNvPr id="7" name="Rounded Rectangle 6"/>
          <p:cNvSpPr/>
          <p:nvPr/>
        </p:nvSpPr>
        <p:spPr>
          <a:xfrm>
            <a:off x="548640" y="1737360"/>
            <a:ext cx="5394960" cy="4389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01952"/>
            <a:ext cx="4937760" cy="411480"/>
          </a:xfrm>
          <a:prstGeom prst="rect">
            <a:avLst/>
          </a:prstGeom>
          <a:noFill/>
        </p:spPr>
        <p:txBody>
          <a:bodyPr wrap="square" anchor="t" lIns="45720" rIns="45720" tIns="27432" bIns="27432">
            <a:spAutoFit/>
          </a:bodyPr>
          <a:lstStyle/>
          <a:p>
            <a:pPr algn="l">
              <a:lnSpc>
                <a:spcPct val="110000"/>
              </a:lnSpc>
            </a:pPr>
            <a:r>
              <a:rPr sz="1700" b="0">
                <a:solidFill>
                  <a:srgbClr val="086F69"/>
                </a:solidFill>
                <a:latin typeface="Georgia"/>
              </a:rPr>
              <a:t>Hiện trạng sau A1/A3</a:t>
            </a:r>
          </a:p>
        </p:txBody>
      </p:sp>
      <p:sp>
        <p:nvSpPr>
          <p:cNvPr id="9" name="TextBox 8"/>
          <p:cNvSpPr txBox="1"/>
          <p:nvPr/>
        </p:nvSpPr>
        <p:spPr>
          <a:xfrm>
            <a:off x="731520" y="2377440"/>
            <a:ext cx="5029200" cy="3657600"/>
          </a:xfrm>
          <a:prstGeom prst="rect">
            <a:avLst/>
          </a:prstGeom>
          <a:noFill/>
        </p:spPr>
        <p:txBody>
          <a:bodyPr wrap="square">
            <a:spAutoFit/>
          </a:bodyPr>
          <a:lstStyle/>
          <a:p>
            <a:pPr>
              <a:lnSpc>
                <a:spcPct val="108000"/>
              </a:lnSpc>
              <a:spcAft>
                <a:spcPts val="500"/>
              </a:spcAft>
            </a:pPr>
            <a:r>
              <a:rPr sz="1200">
                <a:solidFill>
                  <a:srgbClr val="086F69"/>
                </a:solidFill>
              </a:rPr>
              <a:t>▪  </a:t>
            </a:r>
            <a:r>
              <a:rPr sz="1500" b="0">
                <a:solidFill>
                  <a:srgbClr val="152C3C"/>
                </a:solidFill>
                <a:latin typeface="Segoe UI"/>
              </a:rPr>
              <a:t>BM25 tốt với tên, mã sản phẩm — kém với câu mô tả và tiếng Việt</a:t>
            </a:r>
          </a:p>
          <a:p>
            <a:pPr>
              <a:lnSpc>
                <a:spcPct val="108000"/>
              </a:lnSpc>
              <a:spcAft>
                <a:spcPts val="500"/>
              </a:spcAft>
            </a:pPr>
            <a:r>
              <a:rPr sz="1200">
                <a:solidFill>
                  <a:srgbClr val="086F69"/>
                </a:solidFill>
              </a:rPr>
              <a:t>▪  </a:t>
            </a:r>
            <a:r>
              <a:rPr sz="1500" b="0">
                <a:solidFill>
                  <a:srgbClr val="152C3C"/>
                </a:solidFill>
                <a:latin typeface="Segoe UI"/>
              </a:rPr>
              <a:t>Dense bằng SigLIP2 chữ: </a:t>
            </a:r>
            <a:r>
              <a:rPr sz="1500" b="1">
                <a:solidFill>
                  <a:srgbClr val="152C3C"/>
                </a:solidFill>
                <a:latin typeface="Segoe UI"/>
              </a:rPr>
              <a:t>Recall@10 = 0,0125</a:t>
            </a:r>
          </a:p>
          <a:p>
            <a:pPr>
              <a:lnSpc>
                <a:spcPct val="108000"/>
              </a:lnSpc>
              <a:spcAft>
                <a:spcPts val="500"/>
              </a:spcAft>
            </a:pPr>
            <a:r>
              <a:rPr sz="1200">
                <a:solidFill>
                  <a:srgbClr val="086F69"/>
                </a:solidFill>
              </a:rPr>
              <a:t>▪  </a:t>
            </a:r>
            <a:r>
              <a:rPr sz="1500" b="0">
                <a:solidFill>
                  <a:srgbClr val="152C3C"/>
                </a:solidFill>
                <a:latin typeface="Segoe UI"/>
              </a:rPr>
              <a:t>Hybrid RRF còn </a:t>
            </a:r>
            <a:r>
              <a:rPr sz="1500" b="1">
                <a:solidFill>
                  <a:srgbClr val="152C3C"/>
                </a:solidFill>
                <a:latin typeface="Segoe UI"/>
              </a:rPr>
              <a:t>thấp hơn</a:t>
            </a:r>
            <a:r>
              <a:rPr sz="1500" b="0">
                <a:solidFill>
                  <a:srgbClr val="152C3C"/>
                </a:solidFill>
                <a:latin typeface="Segoe UI"/>
              </a:rPr>
              <a:t> BM25 (0,325 so với 0,4625)</a:t>
            </a:r>
          </a:p>
          <a:p>
            <a:pPr>
              <a:lnSpc>
                <a:spcPct val="108000"/>
              </a:lnSpc>
              <a:spcAft>
                <a:spcPts val="500"/>
              </a:spcAft>
            </a:pPr>
            <a:r>
              <a:rPr sz="1200">
                <a:solidFill>
                  <a:srgbClr val="086F69"/>
                </a:solidFill>
              </a:rPr>
              <a:t>▪  </a:t>
            </a:r>
            <a:r>
              <a:rPr sz="1500" b="0">
                <a:solidFill>
                  <a:srgbClr val="152C3C"/>
                </a:solidFill>
                <a:latin typeface="Segoe UI"/>
              </a:rPr>
              <a:t>Chưa có CSDL, trang quản trị, chưa giải thích được vì sao ra kết quả</a:t>
            </a:r>
          </a:p>
        </p:txBody>
      </p:sp>
      <p:sp>
        <p:nvSpPr>
          <p:cNvPr id="10" name="Rounded Rectangle 9"/>
          <p:cNvSpPr/>
          <p:nvPr/>
        </p:nvSpPr>
        <p:spPr>
          <a:xfrm>
            <a:off x="6217920" y="1737360"/>
            <a:ext cx="5394960" cy="4389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01952"/>
            <a:ext cx="4937760" cy="411480"/>
          </a:xfrm>
          <a:prstGeom prst="rect">
            <a:avLst/>
          </a:prstGeom>
          <a:noFill/>
        </p:spPr>
        <p:txBody>
          <a:bodyPr wrap="square" anchor="t" lIns="45720" rIns="45720" tIns="27432" bIns="27432">
            <a:spAutoFit/>
          </a:bodyPr>
          <a:lstStyle/>
          <a:p>
            <a:pPr algn="l">
              <a:lnSpc>
                <a:spcPct val="110000"/>
              </a:lnSpc>
            </a:pPr>
            <a:r>
              <a:rPr sz="1700" b="0">
                <a:solidFill>
                  <a:srgbClr val="086F69"/>
                </a:solidFill>
                <a:latin typeface="Georgia"/>
              </a:rPr>
              <a:t>Mục tiêu đồ án</a:t>
            </a:r>
          </a:p>
        </p:txBody>
      </p:sp>
      <p:sp>
        <p:nvSpPr>
          <p:cNvPr id="12" name="TextBox 11"/>
          <p:cNvSpPr txBox="1"/>
          <p:nvPr/>
        </p:nvSpPr>
        <p:spPr>
          <a:xfrm>
            <a:off x="6400800" y="2377440"/>
            <a:ext cx="5029200" cy="3657600"/>
          </a:xfrm>
          <a:prstGeom prst="rect">
            <a:avLst/>
          </a:prstGeom>
          <a:noFill/>
        </p:spPr>
        <p:txBody>
          <a:bodyPr wrap="square">
            <a:spAutoFit/>
          </a:bodyPr>
          <a:lstStyle/>
          <a:p>
            <a:pPr>
              <a:lnSpc>
                <a:spcPct val="108000"/>
              </a:lnSpc>
              <a:spcAft>
                <a:spcPts val="500"/>
              </a:spcAft>
            </a:pPr>
            <a:r>
              <a:rPr sz="1200">
                <a:solidFill>
                  <a:srgbClr val="086F69"/>
                </a:solidFill>
              </a:rPr>
              <a:t>▪  </a:t>
            </a:r>
            <a:r>
              <a:rPr sz="1500" b="1">
                <a:solidFill>
                  <a:srgbClr val="152C3C"/>
                </a:solidFill>
                <a:latin typeface="Segoe UI"/>
              </a:rPr>
              <a:t>Sửa lõi truy hồi</a:t>
            </a:r>
            <a:r>
              <a:rPr sz="1500" b="0">
                <a:solidFill>
                  <a:srgbClr val="152C3C"/>
                </a:solidFill>
                <a:latin typeface="Segoe UI"/>
              </a:rPr>
              <a:t> — embedding chữ riêng, hybrid ≥ BM25</a:t>
            </a:r>
          </a:p>
          <a:p>
            <a:pPr>
              <a:lnSpc>
                <a:spcPct val="108000"/>
              </a:lnSpc>
              <a:spcAft>
                <a:spcPts val="500"/>
              </a:spcAft>
            </a:pPr>
            <a:r>
              <a:rPr sz="1200">
                <a:solidFill>
                  <a:srgbClr val="086F69"/>
                </a:solidFill>
              </a:rPr>
              <a:t>▪  </a:t>
            </a:r>
            <a:r>
              <a:rPr sz="1500" b="1">
                <a:solidFill>
                  <a:srgbClr val="152C3C"/>
                </a:solidFill>
                <a:latin typeface="Segoe UI"/>
              </a:rPr>
              <a:t>Glass-box</a:t>
            </a:r>
            <a:r>
              <a:rPr sz="1500" b="0">
                <a:solidFill>
                  <a:srgbClr val="152C3C"/>
                </a:solidFill>
                <a:latin typeface="Segoe UI"/>
              </a:rPr>
              <a:t> — mọi bước có trace xem được</a:t>
            </a:r>
          </a:p>
          <a:p>
            <a:pPr>
              <a:lnSpc>
                <a:spcPct val="108000"/>
              </a:lnSpc>
              <a:spcAft>
                <a:spcPts val="500"/>
              </a:spcAft>
            </a:pPr>
            <a:r>
              <a:rPr sz="1200">
                <a:solidFill>
                  <a:srgbClr val="086F69"/>
                </a:solidFill>
              </a:rPr>
              <a:t>▪  </a:t>
            </a:r>
            <a:r>
              <a:rPr sz="1500" b="1">
                <a:solidFill>
                  <a:srgbClr val="152C3C"/>
                </a:solidFill>
                <a:latin typeface="Segoe UI"/>
              </a:rPr>
              <a:t>Cấu hình thay vì sửa mã</a:t>
            </a:r>
            <a:r>
              <a:rPr sz="1500" b="0">
                <a:solidFill>
                  <a:srgbClr val="152C3C"/>
                </a:solidFill>
                <a:latin typeface="Segoe UI"/>
              </a:rPr>
              <a:t> — admin đổi thuật toán khi đang chạy</a:t>
            </a:r>
          </a:p>
          <a:p>
            <a:pPr>
              <a:lnSpc>
                <a:spcPct val="108000"/>
              </a:lnSpc>
              <a:spcAft>
                <a:spcPts val="500"/>
              </a:spcAft>
            </a:pPr>
            <a:r>
              <a:rPr sz="1200">
                <a:solidFill>
                  <a:srgbClr val="086F69"/>
                </a:solidFill>
              </a:rPr>
              <a:t>▪  </a:t>
            </a:r>
            <a:r>
              <a:rPr sz="1500" b="1">
                <a:solidFill>
                  <a:srgbClr val="152C3C"/>
                </a:solidFill>
                <a:latin typeface="Segoe UI"/>
              </a:rPr>
              <a:t>Tính năng RAG thực tế</a:t>
            </a:r>
            <a:r>
              <a:rPr sz="1500" b="0">
                <a:solidFill>
                  <a:srgbClr val="152C3C"/>
                </a:solidFill>
                <a:latin typeface="Segoe UI"/>
              </a:rPr>
              <a:t> — ảnh + chữ, trợ lý, so sánh, lên kế hoạch</a:t>
            </a:r>
          </a:p>
          <a:p>
            <a:pPr>
              <a:lnSpc>
                <a:spcPct val="108000"/>
              </a:lnSpc>
              <a:spcAft>
                <a:spcPts val="500"/>
              </a:spcAft>
            </a:pPr>
            <a:r>
              <a:rPr sz="1200">
                <a:solidFill>
                  <a:srgbClr val="086F69"/>
                </a:solidFill>
              </a:rPr>
              <a:t>▪  </a:t>
            </a:r>
            <a:r>
              <a:rPr sz="1500" b="1">
                <a:solidFill>
                  <a:srgbClr val="152C3C"/>
                </a:solidFill>
                <a:latin typeface="Segoe UI"/>
              </a:rPr>
              <a:t>Đánh giá trung thực</a:t>
            </a:r>
            <a:r>
              <a:rPr sz="1500" b="0">
                <a:solidFill>
                  <a:srgbClr val="152C3C"/>
                </a:solidFill>
                <a:latin typeface="Segoe UI"/>
              </a:rPr>
              <a:t> — chọn trên DEV, báo cáo holdout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DỮ LIỆU</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Một cửa hàng thu nhỏ trên Amazon Berkeley Objects</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3</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sp>
        <p:nvSpPr>
          <p:cNvPr id="7" name="Rounded Rectangle 6"/>
          <p:cNvSpPr/>
          <p:nvPr/>
        </p:nvSpPr>
        <p:spPr>
          <a:xfrm>
            <a:off x="548640" y="1783080"/>
            <a:ext cx="265176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92808"/>
            <a:ext cx="2651760" cy="731520"/>
          </a:xfrm>
          <a:prstGeom prst="rect">
            <a:avLst/>
          </a:prstGeom>
          <a:noFill/>
        </p:spPr>
        <p:txBody>
          <a:bodyPr wrap="square" anchor="t" lIns="45720" rIns="45720" tIns="27432" bIns="27432">
            <a:spAutoFit/>
          </a:bodyPr>
          <a:lstStyle/>
          <a:p>
            <a:pPr algn="ctr">
              <a:lnSpc>
                <a:spcPct val="110000"/>
              </a:lnSpc>
            </a:pPr>
            <a:r>
              <a:rPr sz="3400" b="0">
                <a:solidFill>
                  <a:srgbClr val="086F69"/>
                </a:solidFill>
                <a:latin typeface="Georgia"/>
              </a:rPr>
              <a:t>1.500</a:t>
            </a:r>
          </a:p>
        </p:txBody>
      </p:sp>
      <p:sp>
        <p:nvSpPr>
          <p:cNvPr id="9" name="TextBox 8"/>
          <p:cNvSpPr txBox="1"/>
          <p:nvPr/>
        </p:nvSpPr>
        <p:spPr>
          <a:xfrm>
            <a:off x="685800" y="2606040"/>
            <a:ext cx="237744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sản phẩm ABO, seed 42</a:t>
            </a:r>
          </a:p>
        </p:txBody>
      </p:sp>
      <p:sp>
        <p:nvSpPr>
          <p:cNvPr id="10" name="Rounded Rectangle 9"/>
          <p:cNvSpPr/>
          <p:nvPr/>
        </p:nvSpPr>
        <p:spPr>
          <a:xfrm>
            <a:off x="3429000" y="1783080"/>
            <a:ext cx="265176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1892808"/>
            <a:ext cx="2651760" cy="731520"/>
          </a:xfrm>
          <a:prstGeom prst="rect">
            <a:avLst/>
          </a:prstGeom>
          <a:noFill/>
        </p:spPr>
        <p:txBody>
          <a:bodyPr wrap="square" anchor="t" lIns="45720" rIns="45720" tIns="27432" bIns="27432">
            <a:spAutoFit/>
          </a:bodyPr>
          <a:lstStyle/>
          <a:p>
            <a:pPr algn="ctr">
              <a:lnSpc>
                <a:spcPct val="110000"/>
              </a:lnSpc>
            </a:pPr>
            <a:r>
              <a:rPr sz="3400" b="0">
                <a:solidFill>
                  <a:srgbClr val="086F69"/>
                </a:solidFill>
                <a:latin typeface="Georgia"/>
              </a:rPr>
              <a:t>215</a:t>
            </a:r>
          </a:p>
        </p:txBody>
      </p:sp>
      <p:sp>
        <p:nvSpPr>
          <p:cNvPr id="12" name="TextBox 11"/>
          <p:cNvSpPr txBox="1"/>
          <p:nvPr/>
        </p:nvSpPr>
        <p:spPr>
          <a:xfrm>
            <a:off x="3566160" y="2606040"/>
            <a:ext cx="237744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danh mục, tối đa 150/danh mục</a:t>
            </a:r>
          </a:p>
        </p:txBody>
      </p:sp>
      <p:sp>
        <p:nvSpPr>
          <p:cNvPr id="13" name="Rounded Rectangle 12"/>
          <p:cNvSpPr/>
          <p:nvPr/>
        </p:nvSpPr>
        <p:spPr>
          <a:xfrm>
            <a:off x="6309360" y="1783080"/>
            <a:ext cx="265176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892808"/>
            <a:ext cx="2651760" cy="731520"/>
          </a:xfrm>
          <a:prstGeom prst="rect">
            <a:avLst/>
          </a:prstGeom>
          <a:noFill/>
        </p:spPr>
        <p:txBody>
          <a:bodyPr wrap="square" anchor="t" lIns="45720" rIns="45720" tIns="27432" bIns="27432">
            <a:spAutoFit/>
          </a:bodyPr>
          <a:lstStyle/>
          <a:p>
            <a:pPr algn="ctr">
              <a:lnSpc>
                <a:spcPct val="110000"/>
              </a:lnSpc>
            </a:pPr>
            <a:r>
              <a:rPr sz="3400" b="0">
                <a:solidFill>
                  <a:srgbClr val="086F69"/>
                </a:solidFill>
                <a:latin typeface="Georgia"/>
              </a:rPr>
              <a:t>3 × 768</a:t>
            </a:r>
          </a:p>
        </p:txBody>
      </p:sp>
      <p:sp>
        <p:nvSpPr>
          <p:cNvPr id="15" name="TextBox 14"/>
          <p:cNvSpPr txBox="1"/>
          <p:nvPr/>
        </p:nvSpPr>
        <p:spPr>
          <a:xfrm>
            <a:off x="6446520" y="2606040"/>
            <a:ext cx="237744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vector mỗi sản phẩm: E5, SigLIP2 ảnh, SigLIP2 chữ</a:t>
            </a:r>
          </a:p>
        </p:txBody>
      </p:sp>
      <p:sp>
        <p:nvSpPr>
          <p:cNvPr id="16" name="Rounded Rectangle 15"/>
          <p:cNvSpPr/>
          <p:nvPr/>
        </p:nvSpPr>
        <p:spPr>
          <a:xfrm>
            <a:off x="9189720" y="1783080"/>
            <a:ext cx="246888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20" y="1892808"/>
            <a:ext cx="2468880" cy="731520"/>
          </a:xfrm>
          <a:prstGeom prst="rect">
            <a:avLst/>
          </a:prstGeom>
          <a:noFill/>
        </p:spPr>
        <p:txBody>
          <a:bodyPr wrap="square" anchor="t" lIns="45720" rIns="45720" tIns="27432" bIns="27432">
            <a:spAutoFit/>
          </a:bodyPr>
          <a:lstStyle/>
          <a:p>
            <a:pPr algn="ctr">
              <a:lnSpc>
                <a:spcPct val="110000"/>
              </a:lnSpc>
            </a:pPr>
            <a:r>
              <a:rPr sz="3400" b="0">
                <a:solidFill>
                  <a:srgbClr val="086F69"/>
                </a:solidFill>
                <a:latin typeface="Georgia"/>
              </a:rPr>
              <a:t>300</a:t>
            </a:r>
          </a:p>
        </p:txBody>
      </p:sp>
      <p:sp>
        <p:nvSpPr>
          <p:cNvPr id="18" name="TextBox 17"/>
          <p:cNvSpPr txBox="1"/>
          <p:nvPr/>
        </p:nvSpPr>
        <p:spPr>
          <a:xfrm>
            <a:off x="9326880" y="2606040"/>
            <a:ext cx="219456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truy vấn đánh giá trên 3 benchmark</a:t>
            </a:r>
          </a:p>
        </p:txBody>
      </p:sp>
      <p:sp>
        <p:nvSpPr>
          <p:cNvPr id="19" name="Rounded Rectangle 18"/>
          <p:cNvSpPr/>
          <p:nvPr/>
        </p:nvSpPr>
        <p:spPr>
          <a:xfrm>
            <a:off x="548640" y="3520440"/>
            <a:ext cx="5486400" cy="26517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685032"/>
            <a:ext cx="5029200" cy="411480"/>
          </a:xfrm>
          <a:prstGeom prst="rect">
            <a:avLst/>
          </a:prstGeom>
          <a:noFill/>
        </p:spPr>
        <p:txBody>
          <a:bodyPr wrap="square" anchor="t" lIns="45720" rIns="45720" tIns="27432" bIns="27432">
            <a:spAutoFit/>
          </a:bodyPr>
          <a:lstStyle/>
          <a:p>
            <a:pPr algn="l">
              <a:lnSpc>
                <a:spcPct val="110000"/>
              </a:lnSpc>
            </a:pPr>
            <a:r>
              <a:rPr sz="1700" b="0">
                <a:solidFill>
                  <a:srgbClr val="086F69"/>
                </a:solidFill>
                <a:latin typeface="Georgia"/>
              </a:rPr>
              <a:t>Benchmark</a:t>
            </a:r>
          </a:p>
        </p:txBody>
      </p:sp>
      <p:sp>
        <p:nvSpPr>
          <p:cNvPr id="21" name="TextBox 20"/>
          <p:cNvSpPr txBox="1"/>
          <p:nvPr/>
        </p:nvSpPr>
        <p:spPr>
          <a:xfrm>
            <a:off x="731520" y="4160520"/>
            <a:ext cx="5120640" cy="1920240"/>
          </a:xfrm>
          <a:prstGeom prst="rect">
            <a:avLst/>
          </a:prstGeom>
          <a:noFill/>
        </p:spPr>
        <p:txBody>
          <a:bodyPr wrap="square">
            <a:spAutoFit/>
          </a:bodyPr>
          <a:lstStyle/>
          <a:p>
            <a:pPr>
              <a:lnSpc>
                <a:spcPct val="108000"/>
              </a:lnSpc>
              <a:spcAft>
                <a:spcPts val="500"/>
              </a:spcAft>
            </a:pPr>
            <a:r>
              <a:rPr sz="1200">
                <a:solidFill>
                  <a:srgbClr val="086F69"/>
                </a:solidFill>
              </a:rPr>
              <a:t>▪  </a:t>
            </a:r>
            <a:r>
              <a:rPr sz="1500" b="1">
                <a:solidFill>
                  <a:srgbClr val="152C3C"/>
                </a:solidFill>
                <a:latin typeface="Segoe UI"/>
              </a:rPr>
              <a:t>A1</a:t>
            </a:r>
            <a:r>
              <a:rPr sz="1500" b="0">
                <a:solidFill>
                  <a:srgbClr val="152C3C"/>
                </a:solidFill>
                <a:latin typeface="Segoe UI"/>
              </a:rPr>
              <a:t> — 80 truy vấn chữ (Anh/Việt) + 20 ảnh biến đổi</a:t>
            </a:r>
          </a:p>
          <a:p>
            <a:pPr>
              <a:lnSpc>
                <a:spcPct val="108000"/>
              </a:lnSpc>
              <a:spcAft>
                <a:spcPts val="500"/>
              </a:spcAft>
            </a:pPr>
            <a:r>
              <a:rPr sz="1200">
                <a:solidFill>
                  <a:srgbClr val="086F69"/>
                </a:solidFill>
              </a:rPr>
              <a:t>▪  </a:t>
            </a:r>
            <a:r>
              <a:rPr sz="1500" b="1">
                <a:solidFill>
                  <a:srgbClr val="152C3C"/>
                </a:solidFill>
                <a:latin typeface="Segoe UI"/>
              </a:rPr>
              <a:t>accuracy_v2</a:t>
            </a:r>
            <a:r>
              <a:rPr sz="1500" b="0">
                <a:solidFill>
                  <a:srgbClr val="152C3C"/>
                </a:solidFill>
                <a:latin typeface="Segoe UI"/>
              </a:rPr>
              <a:t> — 160 truy vấn: 130 DEV, 30 holdout danh mục tách biệt</a:t>
            </a:r>
          </a:p>
          <a:p>
            <a:pPr>
              <a:lnSpc>
                <a:spcPct val="108000"/>
              </a:lnSpc>
              <a:spcAft>
                <a:spcPts val="500"/>
              </a:spcAft>
            </a:pPr>
            <a:r>
              <a:rPr sz="1200">
                <a:solidFill>
                  <a:srgbClr val="086F69"/>
                </a:solidFill>
              </a:rPr>
              <a:t>▪  </a:t>
            </a:r>
            <a:r>
              <a:rPr sz="1500" b="1">
                <a:solidFill>
                  <a:srgbClr val="152C3C"/>
                </a:solidFill>
                <a:latin typeface="Segoe UI"/>
              </a:rPr>
              <a:t>F1</a:t>
            </a:r>
            <a:r>
              <a:rPr sz="1500" b="0">
                <a:solidFill>
                  <a:srgbClr val="152C3C"/>
                </a:solidFill>
                <a:latin typeface="Segoe UI"/>
              </a:rPr>
              <a:t> — 40 truy vấn ảnh A + màu của sản phẩm B</a:t>
            </a:r>
          </a:p>
        </p:txBody>
      </p:sp>
      <p:sp>
        <p:nvSpPr>
          <p:cNvPr id="22" name="Rounded Rectangle 21"/>
          <p:cNvSpPr/>
          <p:nvPr/>
        </p:nvSpPr>
        <p:spPr>
          <a:xfrm>
            <a:off x="6309360" y="3520440"/>
            <a:ext cx="5349240" cy="26517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0" y="3685032"/>
            <a:ext cx="4892040" cy="411480"/>
          </a:xfrm>
          <a:prstGeom prst="rect">
            <a:avLst/>
          </a:prstGeom>
          <a:noFill/>
        </p:spPr>
        <p:txBody>
          <a:bodyPr wrap="square" anchor="t" lIns="45720" rIns="45720" tIns="27432" bIns="27432">
            <a:spAutoFit/>
          </a:bodyPr>
          <a:lstStyle/>
          <a:p>
            <a:pPr algn="l">
              <a:lnSpc>
                <a:spcPct val="110000"/>
              </a:lnSpc>
            </a:pPr>
            <a:r>
              <a:rPr sz="1700" b="0">
                <a:solidFill>
                  <a:srgbClr val="086F69"/>
                </a:solidFill>
                <a:latin typeface="Georgia"/>
              </a:rPr>
              <a:t>Lưu ý trung thực</a:t>
            </a:r>
          </a:p>
        </p:txBody>
      </p:sp>
      <p:sp>
        <p:nvSpPr>
          <p:cNvPr id="24" name="TextBox 23"/>
          <p:cNvSpPr txBox="1"/>
          <p:nvPr/>
        </p:nvSpPr>
        <p:spPr>
          <a:xfrm>
            <a:off x="6492240" y="4160520"/>
            <a:ext cx="4983480" cy="1920240"/>
          </a:xfrm>
          <a:prstGeom prst="rect">
            <a:avLst/>
          </a:prstGeom>
          <a:noFill/>
        </p:spPr>
        <p:txBody>
          <a:bodyPr wrap="square">
            <a:spAutoFit/>
          </a:bodyPr>
          <a:lstStyle/>
          <a:p>
            <a:pPr>
              <a:lnSpc>
                <a:spcPct val="108000"/>
              </a:lnSpc>
              <a:spcAft>
                <a:spcPts val="500"/>
              </a:spcAft>
            </a:pPr>
            <a:r>
              <a:rPr sz="1200">
                <a:solidFill>
                  <a:srgbClr val="086F69"/>
                </a:solidFill>
              </a:rPr>
              <a:t>▪  </a:t>
            </a:r>
            <a:r>
              <a:rPr sz="1500" b="0">
                <a:solidFill>
                  <a:srgbClr val="152C3C"/>
                </a:solidFill>
                <a:latin typeface="Segoe UI"/>
              </a:rPr>
              <a:t>Nhãn tự sinh từ metadata, </a:t>
            </a:r>
            <a:r>
              <a:rPr sz="1500" b="1">
                <a:solidFill>
                  <a:srgbClr val="152C3C"/>
                </a:solidFill>
                <a:latin typeface="Segoe UI"/>
              </a:rPr>
              <a:t>chưa người duyệt</a:t>
            </a:r>
          </a:p>
          <a:p>
            <a:pPr>
              <a:lnSpc>
                <a:spcPct val="108000"/>
              </a:lnSpc>
              <a:spcAft>
                <a:spcPts val="500"/>
              </a:spcAft>
            </a:pPr>
            <a:r>
              <a:rPr sz="1200">
                <a:solidFill>
                  <a:srgbClr val="086F69"/>
                </a:solidFill>
              </a:rPr>
              <a:t>▪  </a:t>
            </a:r>
            <a:r>
              <a:rPr sz="1500" b="0">
                <a:solidFill>
                  <a:srgbClr val="152C3C"/>
                </a:solidFill>
                <a:latin typeface="Segoe UI"/>
              </a:rPr>
              <a:t>Giá, tồn kho, chính sách là </a:t>
            </a:r>
            <a:r>
              <a:rPr sz="1500" b="1">
                <a:solidFill>
                  <a:srgbClr val="152C3C"/>
                </a:solidFill>
                <a:latin typeface="Segoe UI"/>
              </a:rPr>
              <a:t>dữ liệu tổng hợp</a:t>
            </a:r>
          </a:p>
          <a:p>
            <a:pPr>
              <a:lnSpc>
                <a:spcPct val="108000"/>
              </a:lnSpc>
              <a:spcAft>
                <a:spcPts val="500"/>
              </a:spcAft>
            </a:pPr>
            <a:r>
              <a:rPr sz="1200">
                <a:solidFill>
                  <a:srgbClr val="086F69"/>
                </a:solidFill>
              </a:rPr>
              <a:t>▪  </a:t>
            </a:r>
            <a:r>
              <a:rPr sz="1500" b="0">
                <a:solidFill>
                  <a:srgbClr val="152C3C"/>
                </a:solidFill>
                <a:latin typeface="Segoe UI"/>
              </a:rPr>
              <a:t>Giấy phép: áp dụng cách hiểu CC BY-NC 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KIẾN TRÚC</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Cửa hàng và trang quản trị trên cùng một lõi</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4</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pic>
        <p:nvPicPr>
          <p:cNvPr id="7" name="Picture 6" descr="architecture.png"/>
          <p:cNvPicPr>
            <a:picLocks noChangeAspect="1"/>
          </p:cNvPicPr>
          <p:nvPr/>
        </p:nvPicPr>
        <p:blipFill>
          <a:blip r:embed="rId3"/>
          <a:stretch>
            <a:fillRect/>
          </a:stretch>
        </p:blipFill>
        <p:spPr>
          <a:xfrm>
            <a:off x="548640" y="1733730"/>
            <a:ext cx="7315200" cy="4396380"/>
          </a:xfrm>
          <a:prstGeom prst="rect">
            <a:avLst/>
          </a:prstGeom>
        </p:spPr>
      </p:pic>
      <p:sp>
        <p:nvSpPr>
          <p:cNvPr id="8" name="TextBox 7"/>
          <p:cNvSpPr txBox="1"/>
          <p:nvPr/>
        </p:nvSpPr>
        <p:spPr>
          <a:xfrm>
            <a:off x="8138160" y="1737360"/>
            <a:ext cx="3566160" cy="4572000"/>
          </a:xfrm>
          <a:prstGeom prst="rect">
            <a:avLst/>
          </a:prstGeom>
          <a:noFill/>
        </p:spPr>
        <p:txBody>
          <a:bodyPr wrap="square">
            <a:spAutoFit/>
          </a:bodyPr>
          <a:lstStyle/>
          <a:p>
            <a:pPr>
              <a:lnSpc>
                <a:spcPct val="108000"/>
              </a:lnSpc>
              <a:spcAft>
                <a:spcPts val="800"/>
              </a:spcAft>
            </a:pPr>
            <a:r>
              <a:rPr sz="1300">
                <a:solidFill>
                  <a:srgbClr val="086F69"/>
                </a:solidFill>
              </a:rPr>
              <a:t>▪  </a:t>
            </a:r>
            <a:r>
              <a:rPr sz="1600" b="1">
                <a:solidFill>
                  <a:srgbClr val="152C3C"/>
                </a:solidFill>
                <a:latin typeface="Segoe UI"/>
              </a:rPr>
              <a:t>FastAPI</a:t>
            </a:r>
            <a:r>
              <a:rPr sz="1600" b="0">
                <a:solidFill>
                  <a:srgbClr val="152C3C"/>
                </a:solidFill>
                <a:latin typeface="Segoe UI"/>
              </a:rPr>
              <a:t> + </a:t>
            </a:r>
            <a:r>
              <a:rPr sz="1600" b="1">
                <a:solidFill>
                  <a:srgbClr val="152C3C"/>
                </a:solidFill>
                <a:latin typeface="Segoe UI"/>
              </a:rPr>
              <a:t>React/Vite</a:t>
            </a:r>
            <a:r>
              <a:rPr sz="1600" b="0">
                <a:solidFill>
                  <a:srgbClr val="152C3C"/>
                </a:solidFill>
                <a:latin typeface="Segoe UI"/>
              </a:rPr>
              <a:t>, một monorepo</a:t>
            </a:r>
          </a:p>
          <a:p>
            <a:pPr>
              <a:lnSpc>
                <a:spcPct val="108000"/>
              </a:lnSpc>
              <a:spcAft>
                <a:spcPts val="800"/>
              </a:spcAft>
            </a:pPr>
            <a:r>
              <a:rPr sz="1300">
                <a:solidFill>
                  <a:srgbClr val="086F69"/>
                </a:solidFill>
              </a:rPr>
              <a:t>▪  </a:t>
            </a:r>
            <a:r>
              <a:rPr sz="1600" b="1">
                <a:solidFill>
                  <a:srgbClr val="152C3C"/>
                </a:solidFill>
                <a:latin typeface="Segoe UI"/>
              </a:rPr>
              <a:t>Elasticsearch</a:t>
            </a:r>
            <a:r>
              <a:rPr sz="1600" b="0">
                <a:solidFill>
                  <a:srgbClr val="152C3C"/>
                </a:solidFill>
                <a:latin typeface="Segoe UI"/>
              </a:rPr>
              <a:t> cho BM25 + kNN; </a:t>
            </a:r>
            <a:r>
              <a:rPr sz="1600" b="1">
                <a:solidFill>
                  <a:srgbClr val="152C3C"/>
                </a:solidFill>
                <a:latin typeface="Segoe UI"/>
              </a:rPr>
              <a:t>Postgres/SQLite</a:t>
            </a:r>
            <a:r>
              <a:rPr sz="1600" b="0">
                <a:solidFill>
                  <a:srgbClr val="152C3C"/>
                </a:solidFill>
                <a:latin typeface="Segoe UI"/>
              </a:rPr>
              <a:t> cho phần còn lại</a:t>
            </a:r>
          </a:p>
          <a:p>
            <a:pPr>
              <a:lnSpc>
                <a:spcPct val="108000"/>
              </a:lnSpc>
              <a:spcAft>
                <a:spcPts val="800"/>
              </a:spcAft>
            </a:pPr>
            <a:r>
              <a:rPr sz="1300">
                <a:solidFill>
                  <a:srgbClr val="086F69"/>
                </a:solidFill>
              </a:rPr>
              <a:t>▪  </a:t>
            </a:r>
            <a:r>
              <a:rPr sz="1600" b="0">
                <a:solidFill>
                  <a:srgbClr val="152C3C"/>
                </a:solidFill>
                <a:latin typeface="Segoe UI"/>
              </a:rPr>
              <a:t>Mô hình, thuật toán, prompt, từ điển: </a:t>
            </a:r>
            <a:r>
              <a:rPr sz="1600" b="1">
                <a:solidFill>
                  <a:srgbClr val="152C3C"/>
                </a:solidFill>
                <a:latin typeface="Segoe UI"/>
              </a:rPr>
              <a:t>YAML</a:t>
            </a:r>
          </a:p>
          <a:p>
            <a:pPr>
              <a:lnSpc>
                <a:spcPct val="108000"/>
              </a:lnSpc>
              <a:spcAft>
                <a:spcPts val="800"/>
              </a:spcAft>
            </a:pPr>
            <a:r>
              <a:rPr sz="1300">
                <a:solidFill>
                  <a:srgbClr val="086F69"/>
                </a:solidFill>
              </a:rPr>
              <a:t>▪  </a:t>
            </a:r>
            <a:r>
              <a:rPr sz="1600" b="0">
                <a:solidFill>
                  <a:srgbClr val="152C3C"/>
                </a:solidFill>
                <a:latin typeface="Segoe UI"/>
              </a:rPr>
              <a:t>Khách không thấy thuật toán; </a:t>
            </a:r>
            <a:r>
              <a:rPr sz="1600" b="1">
                <a:solidFill>
                  <a:srgbClr val="152C3C"/>
                </a:solidFill>
                <a:latin typeface="Segoe UI"/>
              </a:rPr>
              <a:t>admin chọn</a:t>
            </a:r>
            <a:r>
              <a:rPr sz="1600" b="0">
                <a:solidFill>
                  <a:srgbClr val="152C3C"/>
                </a:solidFill>
                <a:latin typeface="Segoe UI"/>
              </a:rPr>
              <a:t> pipeline mặc định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PIPELINE ENGINE</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Mỗi thuật toán là vài dòng YAML — mỗi bước để lại trace</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5</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pic>
        <p:nvPicPr>
          <p:cNvPr id="7" name="Picture 6" descr="search_pipeline.png"/>
          <p:cNvPicPr>
            <a:picLocks noChangeAspect="1"/>
          </p:cNvPicPr>
          <p:nvPr/>
        </p:nvPicPr>
        <p:blipFill>
          <a:blip r:embed="rId3"/>
          <a:stretch>
            <a:fillRect/>
          </a:stretch>
        </p:blipFill>
        <p:spPr>
          <a:xfrm>
            <a:off x="1175645" y="1645920"/>
            <a:ext cx="9810229" cy="2834640"/>
          </a:xfrm>
          <a:prstGeom prst="rect">
            <a:avLst/>
          </a:prstGeom>
        </p:spPr>
      </p:pic>
      <p:sp>
        <p:nvSpPr>
          <p:cNvPr id="8" name="Rectangle 7"/>
          <p:cNvSpPr/>
          <p:nvPr/>
        </p:nvSpPr>
        <p:spPr>
          <a:xfrm>
            <a:off x="548640" y="4663440"/>
            <a:ext cx="5852160" cy="1554480"/>
          </a:xfrm>
          <a:prstGeom prst="rect">
            <a:avLst/>
          </a:prstGeom>
          <a:solidFill>
            <a:srgbClr val="152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754880"/>
            <a:ext cx="5577840" cy="1371600"/>
          </a:xfrm>
          <a:prstGeom prst="rect">
            <a:avLst/>
          </a:prstGeom>
          <a:noFill/>
        </p:spPr>
        <p:txBody>
          <a:bodyPr wrap="square" anchor="t" lIns="45720" rIns="45720" tIns="27432" bIns="27432">
            <a:spAutoFit/>
          </a:bodyPr>
          <a:lstStyle/>
          <a:p>
            <a:pPr algn="l">
              <a:lnSpc>
                <a:spcPct val="100000"/>
              </a:lnSpc>
            </a:pPr>
            <a:r>
              <a:rPr sz="1200" b="0">
                <a:solidFill>
                  <a:srgbClr val="FFFFFF"/>
                </a:solidFill>
                <a:latin typeface="Consolas"/>
              </a:rPr>
              <a:t>search.hybrid_linear:</a:t>
            </a:r>
          </a:p>
          <a:p>
            <a:pPr algn="l">
              <a:lnSpc>
                <a:spcPct val="100000"/>
              </a:lnSpc>
            </a:pPr>
            <a:r>
              <a:rPr sz="1200" b="0">
                <a:solidFill>
                  <a:srgbClr val="FFFFFF"/>
                </a:solidFill>
                <a:latin typeface="Consolas"/>
              </a:rPr>
              <a:t>  - { step: query_understanding, impl: rules }</a:t>
            </a:r>
          </a:p>
          <a:p>
            <a:pPr algn="l">
              <a:lnSpc>
                <a:spcPct val="100000"/>
              </a:lnSpc>
            </a:pPr>
            <a:r>
              <a:rPr sz="1200" b="0">
                <a:solidFill>
                  <a:srgbClr val="FFFFFF"/>
                </a:solidFill>
                <a:latin typeface="Consolas"/>
              </a:rPr>
              <a:t>  - { step: retrieve, impl: bm25 }</a:t>
            </a:r>
          </a:p>
          <a:p>
            <a:pPr algn="l">
              <a:lnSpc>
                <a:spcPct val="100000"/>
              </a:lnSpc>
            </a:pPr>
            <a:r>
              <a:rPr sz="1200" b="0">
                <a:solidFill>
                  <a:srgbClr val="FFFFFF"/>
                </a:solidFill>
                <a:latin typeface="Consolas"/>
              </a:rPr>
              <a:t>  - { step: retrieve, impl: dense, field: text_vector }</a:t>
            </a:r>
          </a:p>
          <a:p>
            <a:pPr algn="l">
              <a:lnSpc>
                <a:spcPct val="100000"/>
              </a:lnSpc>
            </a:pPr>
            <a:r>
              <a:rPr sz="1200" b="0">
                <a:solidFill>
                  <a:srgbClr val="FFFFFF"/>
                </a:solidFill>
                <a:latin typeface="Consolas"/>
              </a:rPr>
              <a:t>  - { step: fuse, impl: linear, weights: [0.5, 0.5] }</a:t>
            </a:r>
          </a:p>
        </p:txBody>
      </p:sp>
      <p:sp>
        <p:nvSpPr>
          <p:cNvPr id="10" name="TextBox 9"/>
          <p:cNvSpPr txBox="1"/>
          <p:nvPr/>
        </p:nvSpPr>
        <p:spPr>
          <a:xfrm>
            <a:off x="6675120" y="4709160"/>
            <a:ext cx="4937760" cy="1554480"/>
          </a:xfrm>
          <a:prstGeom prst="rect">
            <a:avLst/>
          </a:prstGeom>
          <a:noFill/>
        </p:spPr>
        <p:txBody>
          <a:bodyPr wrap="square">
            <a:spAutoFit/>
          </a:bodyPr>
          <a:lstStyle/>
          <a:p>
            <a:pPr>
              <a:lnSpc>
                <a:spcPct val="108000"/>
              </a:lnSpc>
              <a:spcAft>
                <a:spcPts val="400"/>
              </a:spcAft>
            </a:pPr>
            <a:r>
              <a:rPr sz="1200">
                <a:solidFill>
                  <a:srgbClr val="086F69"/>
                </a:solidFill>
              </a:rPr>
              <a:t>▪  </a:t>
            </a:r>
            <a:r>
              <a:rPr sz="1500" b="0">
                <a:solidFill>
                  <a:srgbClr val="152C3C"/>
                </a:solidFill>
                <a:latin typeface="Segoe UI"/>
              </a:rPr>
              <a:t>Trace: đầu vào, đầu ra, điểm, thời gian, lý do</a:t>
            </a:r>
          </a:p>
          <a:p>
            <a:pPr>
              <a:lnSpc>
                <a:spcPct val="108000"/>
              </a:lnSpc>
              <a:spcAft>
                <a:spcPts val="400"/>
              </a:spcAft>
            </a:pPr>
            <a:r>
              <a:rPr sz="1200">
                <a:solidFill>
                  <a:srgbClr val="086F69"/>
                </a:solidFill>
              </a:rPr>
              <a:t>▪  </a:t>
            </a:r>
            <a:r>
              <a:rPr sz="1500" b="0">
                <a:solidFill>
                  <a:srgbClr val="152C3C"/>
                </a:solidFill>
                <a:latin typeface="Segoe UI"/>
              </a:rPr>
              <a:t>Không lưu vector/ảnh — chỉ {dims, norm}</a:t>
            </a:r>
          </a:p>
          <a:p>
            <a:pPr>
              <a:lnSpc>
                <a:spcPct val="108000"/>
              </a:lnSpc>
              <a:spcAft>
                <a:spcPts val="400"/>
              </a:spcAft>
            </a:pPr>
            <a:r>
              <a:rPr sz="1200">
                <a:solidFill>
                  <a:srgbClr val="086F69"/>
                </a:solidFill>
              </a:rPr>
              <a:t>▪  </a:t>
            </a:r>
            <a:r>
              <a:rPr sz="1500" b="0">
                <a:solidFill>
                  <a:srgbClr val="152C3C"/>
                </a:solidFill>
                <a:latin typeface="Segoe UI"/>
              </a:rPr>
              <a:t>Cấu hình nóng có kiểm tra và quay lại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KẾT QUẢ CHÍNH</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Một bộ embedding chữ riêng đổi hẳn bức tranh</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6</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sp>
        <p:nvSpPr>
          <p:cNvPr id="7" name="Rounded Rectangle 6"/>
          <p:cNvSpPr/>
          <p:nvPr/>
        </p:nvSpPr>
        <p:spPr>
          <a:xfrm>
            <a:off x="548640" y="1783080"/>
            <a:ext cx="265176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92808"/>
            <a:ext cx="2651760" cy="731520"/>
          </a:xfrm>
          <a:prstGeom prst="rect">
            <a:avLst/>
          </a:prstGeom>
          <a:noFill/>
        </p:spPr>
        <p:txBody>
          <a:bodyPr wrap="square" anchor="t" lIns="45720" rIns="45720" tIns="27432" bIns="27432">
            <a:spAutoFit/>
          </a:bodyPr>
          <a:lstStyle/>
          <a:p>
            <a:pPr algn="ctr">
              <a:lnSpc>
                <a:spcPct val="110000"/>
              </a:lnSpc>
            </a:pPr>
            <a:r>
              <a:rPr sz="3400" b="0">
                <a:solidFill>
                  <a:srgbClr val="B44B34"/>
                </a:solidFill>
                <a:latin typeface="Georgia"/>
              </a:rPr>
              <a:t>0,0375</a:t>
            </a:r>
          </a:p>
        </p:txBody>
      </p:sp>
      <p:sp>
        <p:nvSpPr>
          <p:cNvPr id="9" name="TextBox 8"/>
          <p:cNvSpPr txBox="1"/>
          <p:nvPr/>
        </p:nvSpPr>
        <p:spPr>
          <a:xfrm>
            <a:off x="685800" y="2606040"/>
            <a:ext cx="237744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Recall@10 dense SigLIP2 chữ (cũ)</a:t>
            </a:r>
          </a:p>
        </p:txBody>
      </p:sp>
      <p:sp>
        <p:nvSpPr>
          <p:cNvPr id="10" name="Rounded Rectangle 9"/>
          <p:cNvSpPr/>
          <p:nvPr/>
        </p:nvSpPr>
        <p:spPr>
          <a:xfrm>
            <a:off x="548640" y="3383280"/>
            <a:ext cx="265176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93008"/>
            <a:ext cx="2651760" cy="731520"/>
          </a:xfrm>
          <a:prstGeom prst="rect">
            <a:avLst/>
          </a:prstGeom>
          <a:noFill/>
        </p:spPr>
        <p:txBody>
          <a:bodyPr wrap="square" anchor="t" lIns="45720" rIns="45720" tIns="27432" bIns="27432">
            <a:spAutoFit/>
          </a:bodyPr>
          <a:lstStyle/>
          <a:p>
            <a:pPr algn="ctr">
              <a:lnSpc>
                <a:spcPct val="110000"/>
              </a:lnSpc>
            </a:pPr>
            <a:r>
              <a:rPr sz="3400" b="0">
                <a:solidFill>
                  <a:srgbClr val="086F69"/>
                </a:solidFill>
                <a:latin typeface="Georgia"/>
              </a:rPr>
              <a:t>0,55</a:t>
            </a:r>
          </a:p>
        </p:txBody>
      </p:sp>
      <p:sp>
        <p:nvSpPr>
          <p:cNvPr id="12" name="TextBox 11"/>
          <p:cNvSpPr txBox="1"/>
          <p:nvPr/>
        </p:nvSpPr>
        <p:spPr>
          <a:xfrm>
            <a:off x="685800" y="4206240"/>
            <a:ext cx="237744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Recall@10 dense E5 (mới)</a:t>
            </a:r>
          </a:p>
        </p:txBody>
      </p:sp>
      <p:sp>
        <p:nvSpPr>
          <p:cNvPr id="13" name="Rounded Rectangle 12"/>
          <p:cNvSpPr/>
          <p:nvPr/>
        </p:nvSpPr>
        <p:spPr>
          <a:xfrm>
            <a:off x="548640" y="4983480"/>
            <a:ext cx="265176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093208"/>
            <a:ext cx="2651760" cy="731520"/>
          </a:xfrm>
          <a:prstGeom prst="rect">
            <a:avLst/>
          </a:prstGeom>
          <a:noFill/>
        </p:spPr>
        <p:txBody>
          <a:bodyPr wrap="square" anchor="t" lIns="45720" rIns="45720" tIns="27432" bIns="27432">
            <a:spAutoFit/>
          </a:bodyPr>
          <a:lstStyle/>
          <a:p>
            <a:pPr algn="ctr">
              <a:lnSpc>
                <a:spcPct val="110000"/>
              </a:lnSpc>
            </a:pPr>
            <a:r>
              <a:rPr sz="3400" b="0">
                <a:solidFill>
                  <a:srgbClr val="086F69"/>
                </a:solidFill>
                <a:latin typeface="Georgia"/>
              </a:rPr>
              <a:t>0,5875</a:t>
            </a:r>
          </a:p>
        </p:txBody>
      </p:sp>
      <p:sp>
        <p:nvSpPr>
          <p:cNvPr id="15" name="TextBox 14"/>
          <p:cNvSpPr txBox="1"/>
          <p:nvPr/>
        </p:nvSpPr>
        <p:spPr>
          <a:xfrm>
            <a:off x="685800" y="5806440"/>
            <a:ext cx="237744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Recall@10 hybrid linear (BM25: 0,4875)</a:t>
            </a:r>
          </a:p>
        </p:txBody>
      </p:sp>
      <p:pic>
        <p:nvPicPr>
          <p:cNvPr id="16" name="Picture 15" descr="dense_before_after.png"/>
          <p:cNvPicPr>
            <a:picLocks noChangeAspect="1"/>
          </p:cNvPicPr>
          <p:nvPr/>
        </p:nvPicPr>
        <p:blipFill>
          <a:blip r:embed="rId3"/>
          <a:stretch>
            <a:fillRect/>
          </a:stretch>
        </p:blipFill>
        <p:spPr>
          <a:xfrm>
            <a:off x="3566160" y="1823552"/>
            <a:ext cx="8046720" cy="3028016"/>
          </a:xfrm>
          <a:prstGeom prst="rect">
            <a:avLst/>
          </a:prstGeom>
        </p:spPr>
      </p:pic>
      <p:sp>
        <p:nvSpPr>
          <p:cNvPr id="17" name="TextBox 16"/>
          <p:cNvSpPr txBox="1"/>
          <p:nvPr/>
        </p:nvSpPr>
        <p:spPr>
          <a:xfrm>
            <a:off x="3566160" y="5029200"/>
            <a:ext cx="8046720" cy="1280160"/>
          </a:xfrm>
          <a:prstGeom prst="rect">
            <a:avLst/>
          </a:prstGeom>
          <a:noFill/>
        </p:spPr>
        <p:txBody>
          <a:bodyPr wrap="square">
            <a:spAutoFit/>
          </a:bodyPr>
          <a:lstStyle/>
          <a:p>
            <a:pPr>
              <a:lnSpc>
                <a:spcPct val="108000"/>
              </a:lnSpc>
              <a:spcAft>
                <a:spcPts val="400"/>
              </a:spcAft>
            </a:pPr>
            <a:r>
              <a:rPr sz="1300">
                <a:solidFill>
                  <a:srgbClr val="086F69"/>
                </a:solidFill>
              </a:rPr>
              <a:t>▪  </a:t>
            </a:r>
            <a:r>
              <a:rPr sz="1600" b="0">
                <a:solidFill>
                  <a:srgbClr val="152C3C"/>
                </a:solidFill>
                <a:latin typeface="Segoe UI"/>
              </a:rPr>
              <a:t>Truy vấn ngữ nghĩa: dense </a:t>
            </a:r>
            <a:r>
              <a:rPr sz="1600" b="1">
                <a:solidFill>
                  <a:srgbClr val="152C3C"/>
                </a:solidFill>
                <a:latin typeface="Segoe UI"/>
              </a:rPr>
              <a:t>0,4857</a:t>
            </a:r>
            <a:r>
              <a:rPr sz="1600" b="0">
                <a:solidFill>
                  <a:srgbClr val="152C3C"/>
                </a:solidFill>
                <a:latin typeface="Segoe UI"/>
              </a:rPr>
              <a:t> &gt; BM25 0,4571 — đạt tiêu chí kế hoạch</a:t>
            </a:r>
          </a:p>
          <a:p>
            <a:pPr>
              <a:lnSpc>
                <a:spcPct val="108000"/>
              </a:lnSpc>
              <a:spcAft>
                <a:spcPts val="400"/>
              </a:spcAft>
            </a:pPr>
            <a:r>
              <a:rPr sz="1300">
                <a:solidFill>
                  <a:srgbClr val="086F69"/>
                </a:solidFill>
              </a:rPr>
              <a:t>▪  </a:t>
            </a:r>
            <a:r>
              <a:rPr sz="1600" b="0">
                <a:solidFill>
                  <a:srgbClr val="152C3C"/>
                </a:solidFill>
                <a:latin typeface="Segoe UI"/>
              </a:rPr>
              <a:t>Mọi cấu hình hybrid đều </a:t>
            </a:r>
            <a:r>
              <a:rPr sz="1600" b="1">
                <a:solidFill>
                  <a:srgbClr val="152C3C"/>
                </a:solidFill>
                <a:latin typeface="Segoe UI"/>
              </a:rPr>
              <a:t>≥ BM25</a:t>
            </a:r>
            <a:r>
              <a:rPr sz="1600" b="0">
                <a:solidFill>
                  <a:srgbClr val="152C3C"/>
                </a:solidFill>
                <a:latin typeface="Segoe UI"/>
              </a:rPr>
              <a:t> (benchmark A1, 80 truy vấn chữ)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ABLATION A1</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So sánh có kiểm soát 10 cấu hình truy hồi</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7</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pic>
        <p:nvPicPr>
          <p:cNvPr id="7" name="Picture 6" descr="a1_recall.png"/>
          <p:cNvPicPr>
            <a:picLocks noChangeAspect="1"/>
          </p:cNvPicPr>
          <p:nvPr/>
        </p:nvPicPr>
        <p:blipFill>
          <a:blip r:embed="rId3"/>
          <a:stretch>
            <a:fillRect/>
          </a:stretch>
        </p:blipFill>
        <p:spPr>
          <a:xfrm>
            <a:off x="548640" y="1845839"/>
            <a:ext cx="6949440" cy="4172162"/>
          </a:xfrm>
          <a:prstGeom prst="rect">
            <a:avLst/>
          </a:prstGeom>
        </p:spPr>
      </p:pic>
      <p:sp>
        <p:nvSpPr>
          <p:cNvPr id="8" name="Rounded Rectangle 7"/>
          <p:cNvSpPr/>
          <p:nvPr/>
        </p:nvSpPr>
        <p:spPr>
          <a:xfrm>
            <a:off x="7772400" y="1737360"/>
            <a:ext cx="3886200" cy="4434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901952"/>
            <a:ext cx="3429000" cy="411480"/>
          </a:xfrm>
          <a:prstGeom prst="rect">
            <a:avLst/>
          </a:prstGeom>
          <a:noFill/>
        </p:spPr>
        <p:txBody>
          <a:bodyPr wrap="square" anchor="t" lIns="45720" rIns="45720" tIns="27432" bIns="27432">
            <a:spAutoFit/>
          </a:bodyPr>
          <a:lstStyle/>
          <a:p>
            <a:pPr algn="l">
              <a:lnSpc>
                <a:spcPct val="110000"/>
              </a:lnSpc>
            </a:pPr>
            <a:r>
              <a:rPr sz="1700" b="0">
                <a:solidFill>
                  <a:srgbClr val="086F69"/>
                </a:solidFill>
                <a:latin typeface="Georgia"/>
              </a:rPr>
              <a:t>Đọc biểu đồ</a:t>
            </a:r>
          </a:p>
        </p:txBody>
      </p:sp>
      <p:sp>
        <p:nvSpPr>
          <p:cNvPr id="10" name="TextBox 9"/>
          <p:cNvSpPr txBox="1"/>
          <p:nvPr/>
        </p:nvSpPr>
        <p:spPr>
          <a:xfrm>
            <a:off x="7955280" y="2377440"/>
            <a:ext cx="3520440" cy="3703320"/>
          </a:xfrm>
          <a:prstGeom prst="rect">
            <a:avLst/>
          </a:prstGeom>
          <a:noFill/>
        </p:spPr>
        <p:txBody>
          <a:bodyPr wrap="square">
            <a:spAutoFit/>
          </a:bodyPr>
          <a:lstStyle/>
          <a:p>
            <a:pPr>
              <a:lnSpc>
                <a:spcPct val="108000"/>
              </a:lnSpc>
              <a:spcAft>
                <a:spcPts val="500"/>
              </a:spcAft>
            </a:pPr>
            <a:r>
              <a:rPr sz="1200">
                <a:solidFill>
                  <a:srgbClr val="086F69"/>
                </a:solidFill>
              </a:rPr>
              <a:t>▪  </a:t>
            </a:r>
            <a:r>
              <a:rPr sz="1500" b="1">
                <a:solidFill>
                  <a:srgbClr val="152C3C"/>
                </a:solidFill>
                <a:latin typeface="Segoe UI"/>
              </a:rPr>
              <a:t>Linear min-max</a:t>
            </a:r>
            <a:r>
              <a:rPr sz="1500" b="0">
                <a:solidFill>
                  <a:srgbClr val="152C3C"/>
                </a:solidFill>
                <a:latin typeface="Segoe UI"/>
              </a:rPr>
              <a:t> tốt nhất Recall@10: 0,5875</a:t>
            </a:r>
          </a:p>
          <a:p>
            <a:pPr>
              <a:lnSpc>
                <a:spcPct val="108000"/>
              </a:lnSpc>
              <a:spcAft>
                <a:spcPts val="500"/>
              </a:spcAft>
            </a:pPr>
            <a:r>
              <a:rPr sz="1200">
                <a:solidFill>
                  <a:srgbClr val="086F69"/>
                </a:solidFill>
              </a:rPr>
              <a:t>▪  </a:t>
            </a:r>
            <a:r>
              <a:rPr sz="1500" b="1">
                <a:solidFill>
                  <a:srgbClr val="152C3C"/>
                </a:solidFill>
                <a:latin typeface="Segoe UI"/>
              </a:rPr>
              <a:t>Adaptive</a:t>
            </a:r>
            <a:r>
              <a:rPr sz="1500" b="0">
                <a:solidFill>
                  <a:srgbClr val="152C3C"/>
                </a:solidFill>
                <a:latin typeface="Segoe UI"/>
              </a:rPr>
              <a:t> tốt nhất nDCG@10: 0,4517</a:t>
            </a:r>
          </a:p>
          <a:p>
            <a:pPr>
              <a:lnSpc>
                <a:spcPct val="108000"/>
              </a:lnSpc>
              <a:spcAft>
                <a:spcPts val="500"/>
              </a:spcAft>
            </a:pPr>
            <a:r>
              <a:rPr sz="1200">
                <a:solidFill>
                  <a:srgbClr val="086F69"/>
                </a:solidFill>
              </a:rPr>
              <a:t>▪  </a:t>
            </a:r>
            <a:r>
              <a:rPr sz="1500" b="0">
                <a:solidFill>
                  <a:srgbClr val="152C3C"/>
                </a:solidFill>
                <a:latin typeface="Segoe UI"/>
              </a:rPr>
              <a:t>Lexical-preserving (production cũ) = BM25</a:t>
            </a:r>
          </a:p>
          <a:p>
            <a:pPr>
              <a:lnSpc>
                <a:spcPct val="108000"/>
              </a:lnSpc>
              <a:spcAft>
                <a:spcPts val="500"/>
              </a:spcAft>
            </a:pPr>
            <a:r>
              <a:rPr sz="1200">
                <a:solidFill>
                  <a:srgbClr val="086F69"/>
                </a:solidFill>
              </a:rPr>
              <a:t>▪  </a:t>
            </a:r>
            <a:r>
              <a:rPr sz="1500" b="0">
                <a:solidFill>
                  <a:srgbClr val="152C3C"/>
                </a:solidFill>
                <a:latin typeface="Segoe UI"/>
              </a:rPr>
              <a:t>Tiếng Việt vẫn yếu: tốt nhất 0,3143</a:t>
            </a:r>
          </a:p>
          <a:p>
            <a:pPr>
              <a:lnSpc>
                <a:spcPct val="108000"/>
              </a:lnSpc>
              <a:spcAft>
                <a:spcPts val="500"/>
              </a:spcAft>
            </a:pPr>
            <a:r>
              <a:rPr sz="1200">
                <a:solidFill>
                  <a:srgbClr val="086F69"/>
                </a:solidFill>
              </a:rPr>
              <a:t>▪  </a:t>
            </a:r>
            <a:r>
              <a:rPr sz="1500" b="0">
                <a:solidFill>
                  <a:srgbClr val="152C3C"/>
                </a:solidFill>
                <a:latin typeface="Segoe UI"/>
              </a:rPr>
              <a:t>Rerank: cài rồi, </a:t>
            </a:r>
            <a:r>
              <a:rPr sz="1500" b="1">
                <a:solidFill>
                  <a:srgbClr val="152C3C"/>
                </a:solidFill>
                <a:latin typeface="Segoe UI"/>
              </a:rPr>
              <a:t>chưa đo</a:t>
            </a:r>
            <a:r>
              <a:rPr sz="1500" b="0">
                <a:solidFill>
                  <a:srgbClr val="152C3C"/>
                </a:solidFill>
                <a:latin typeface="Segoe UI"/>
              </a:rPr>
              <a:t> (CPU)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CHỌN CẤU HÌNH</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Chọn trên DEV, chỉ đọc holdout — không “chọn theo đề thi”</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8</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pic>
        <p:nvPicPr>
          <p:cNvPr id="7" name="Picture 6" descr="accuracy_v2.png"/>
          <p:cNvPicPr>
            <a:picLocks noChangeAspect="1"/>
          </p:cNvPicPr>
          <p:nvPr/>
        </p:nvPicPr>
        <p:blipFill>
          <a:blip r:embed="rId3"/>
          <a:stretch>
            <a:fillRect/>
          </a:stretch>
        </p:blipFill>
        <p:spPr>
          <a:xfrm>
            <a:off x="562769" y="1600200"/>
            <a:ext cx="7286942" cy="3840480"/>
          </a:xfrm>
          <a:prstGeom prst="rect">
            <a:avLst/>
          </a:prstGeom>
        </p:spPr>
      </p:pic>
      <p:sp>
        <p:nvSpPr>
          <p:cNvPr id="8" name="Rounded Rectangle 7"/>
          <p:cNvSpPr/>
          <p:nvPr/>
        </p:nvSpPr>
        <p:spPr>
          <a:xfrm>
            <a:off x="8229600" y="1783080"/>
            <a:ext cx="342900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92808"/>
            <a:ext cx="3429000" cy="731520"/>
          </a:xfrm>
          <a:prstGeom prst="rect">
            <a:avLst/>
          </a:prstGeom>
          <a:noFill/>
        </p:spPr>
        <p:txBody>
          <a:bodyPr wrap="square" anchor="t" lIns="45720" rIns="45720" tIns="27432" bIns="27432">
            <a:spAutoFit/>
          </a:bodyPr>
          <a:lstStyle/>
          <a:p>
            <a:pPr algn="ctr">
              <a:lnSpc>
                <a:spcPct val="110000"/>
              </a:lnSpc>
            </a:pPr>
            <a:r>
              <a:rPr sz="3400" b="0">
                <a:solidFill>
                  <a:srgbClr val="086F69"/>
                </a:solidFill>
                <a:latin typeface="Georgia"/>
              </a:rPr>
              <a:t>0,7773</a:t>
            </a:r>
          </a:p>
        </p:txBody>
      </p:sp>
      <p:sp>
        <p:nvSpPr>
          <p:cNvPr id="10" name="TextBox 9"/>
          <p:cNvSpPr txBox="1"/>
          <p:nvPr/>
        </p:nvSpPr>
        <p:spPr>
          <a:xfrm>
            <a:off x="8366760" y="2606040"/>
            <a:ext cx="315468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nDCG@10 DEV của hybrid linear — cao nhất → được chọn</a:t>
            </a:r>
          </a:p>
        </p:txBody>
      </p:sp>
      <p:sp>
        <p:nvSpPr>
          <p:cNvPr id="11" name="Rounded Rectangle 10"/>
          <p:cNvSpPr/>
          <p:nvPr/>
        </p:nvSpPr>
        <p:spPr>
          <a:xfrm>
            <a:off x="8229600" y="3383280"/>
            <a:ext cx="342900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3493008"/>
            <a:ext cx="3429000" cy="731520"/>
          </a:xfrm>
          <a:prstGeom prst="rect">
            <a:avLst/>
          </a:prstGeom>
          <a:noFill/>
        </p:spPr>
        <p:txBody>
          <a:bodyPr wrap="square" anchor="t" lIns="45720" rIns="45720" tIns="27432" bIns="27432">
            <a:spAutoFit/>
          </a:bodyPr>
          <a:lstStyle/>
          <a:p>
            <a:pPr algn="ctr">
              <a:lnSpc>
                <a:spcPct val="110000"/>
              </a:lnSpc>
            </a:pPr>
            <a:r>
              <a:rPr sz="3400" b="0">
                <a:solidFill>
                  <a:srgbClr val="086F69"/>
                </a:solidFill>
                <a:latin typeface="Georgia"/>
              </a:rPr>
              <a:t>+0,0886</a:t>
            </a:r>
          </a:p>
        </p:txBody>
      </p:sp>
      <p:sp>
        <p:nvSpPr>
          <p:cNvPr id="13" name="TextBox 12"/>
          <p:cNvSpPr txBox="1"/>
          <p:nvPr/>
        </p:nvSpPr>
        <p:spPr>
          <a:xfrm>
            <a:off x="8366760" y="4206240"/>
            <a:ext cx="315468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holdout so với production cũ (0,6961 vs 0,6075)</a:t>
            </a:r>
          </a:p>
        </p:txBody>
      </p:sp>
      <p:sp>
        <p:nvSpPr>
          <p:cNvPr id="14" name="Rounded Rectangle 13"/>
          <p:cNvSpPr/>
          <p:nvPr/>
        </p:nvSpPr>
        <p:spPr>
          <a:xfrm>
            <a:off x="8229600" y="4983480"/>
            <a:ext cx="342900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5093208"/>
            <a:ext cx="3429000" cy="731520"/>
          </a:xfrm>
          <a:prstGeom prst="rect">
            <a:avLst/>
          </a:prstGeom>
          <a:noFill/>
        </p:spPr>
        <p:txBody>
          <a:bodyPr wrap="square" anchor="t" lIns="45720" rIns="45720" tIns="27432" bIns="27432">
            <a:spAutoFit/>
          </a:bodyPr>
          <a:lstStyle/>
          <a:p>
            <a:pPr algn="ctr">
              <a:lnSpc>
                <a:spcPct val="110000"/>
              </a:lnSpc>
            </a:pPr>
            <a:r>
              <a:rPr sz="3400" b="0">
                <a:solidFill>
                  <a:srgbClr val="086F69"/>
                </a:solidFill>
                <a:latin typeface="Georgia"/>
              </a:rPr>
              <a:t>0,7381</a:t>
            </a:r>
          </a:p>
        </p:txBody>
      </p:sp>
      <p:sp>
        <p:nvSpPr>
          <p:cNvPr id="16" name="TextBox 15"/>
          <p:cNvSpPr txBox="1"/>
          <p:nvPr/>
        </p:nvSpPr>
        <p:spPr>
          <a:xfrm>
            <a:off x="8366760" y="5806440"/>
            <a:ext cx="315468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holdout sau khi mở rộng từ điển (DEV không đổi)</a:t>
            </a:r>
          </a:p>
        </p:txBody>
      </p:sp>
      <p:sp>
        <p:nvSpPr>
          <p:cNvPr id="17" name="TextBox 16"/>
          <p:cNvSpPr txBox="1"/>
          <p:nvPr/>
        </p:nvSpPr>
        <p:spPr>
          <a:xfrm>
            <a:off x="548640" y="5577840"/>
            <a:ext cx="7315200" cy="640080"/>
          </a:xfrm>
          <a:prstGeom prst="rect">
            <a:avLst/>
          </a:prstGeom>
          <a:noFill/>
        </p:spPr>
        <p:txBody>
          <a:bodyPr wrap="square" anchor="t" lIns="45720" rIns="45720" tIns="27432" bIns="27432">
            <a:spAutoFit/>
          </a:bodyPr>
          <a:lstStyle/>
          <a:p>
            <a:pPr algn="l">
              <a:lnSpc>
                <a:spcPct val="110000"/>
              </a:lnSpc>
            </a:pPr>
            <a:r>
              <a:rPr sz="1400" b="0">
                <a:solidFill>
                  <a:srgbClr val="536774"/>
                </a:solidFill>
                <a:latin typeface="Segoe UI"/>
              </a:rPr>
              <a:t>accuracy_v2: 130 truy vấn DEV, 30 holdout với danh mục tách biệt; nhãn là vị từ metadata.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F1 · ẢNH + CHỮ</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“Giống ảnh này nhưng màu đen”</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9</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pic>
        <p:nvPicPr>
          <p:cNvPr id="7" name="Picture 6" descr="f1_compose.png"/>
          <p:cNvPicPr>
            <a:picLocks noChangeAspect="1"/>
          </p:cNvPicPr>
          <p:nvPr/>
        </p:nvPicPr>
        <p:blipFill>
          <a:blip r:embed="rId3"/>
          <a:stretch>
            <a:fillRect/>
          </a:stretch>
        </p:blipFill>
        <p:spPr>
          <a:xfrm>
            <a:off x="548640" y="1890710"/>
            <a:ext cx="5852160" cy="2710819"/>
          </a:xfrm>
          <a:prstGeom prst="rect">
            <a:avLst/>
          </a:prstGeom>
        </p:spPr>
      </p:pic>
      <p:pic>
        <p:nvPicPr>
          <p:cNvPr id="8" name="Picture 7" descr="compose.png"/>
          <p:cNvPicPr>
            <a:picLocks noChangeAspect="1"/>
          </p:cNvPicPr>
          <p:nvPr/>
        </p:nvPicPr>
        <p:blipFill>
          <a:blip r:embed="rId4"/>
          <a:stretch>
            <a:fillRect/>
          </a:stretch>
        </p:blipFill>
        <p:spPr>
          <a:xfrm>
            <a:off x="6675120" y="2374582"/>
            <a:ext cx="4983480" cy="3114675"/>
          </a:xfrm>
          <a:prstGeom prst="rect">
            <a:avLst/>
          </a:prstGeom>
          <a:ln w="9525">
            <a:solidFill>
              <a:srgbClr val="C9D3CE"/>
            </a:solidFill>
          </a:ln>
        </p:spPr>
      </p:pic>
      <p:sp>
        <p:nvSpPr>
          <p:cNvPr id="9" name="TextBox 8"/>
          <p:cNvSpPr txBox="1"/>
          <p:nvPr/>
        </p:nvSpPr>
        <p:spPr>
          <a:xfrm>
            <a:off x="548640" y="5029200"/>
            <a:ext cx="5852160" cy="1280160"/>
          </a:xfrm>
          <a:prstGeom prst="rect">
            <a:avLst/>
          </a:prstGeom>
          <a:noFill/>
        </p:spPr>
        <p:txBody>
          <a:bodyPr wrap="square">
            <a:spAutoFit/>
          </a:bodyPr>
          <a:lstStyle/>
          <a:p>
            <a:pPr>
              <a:lnSpc>
                <a:spcPct val="108000"/>
              </a:lnSpc>
              <a:spcAft>
                <a:spcPts val="400"/>
              </a:spcAft>
            </a:pPr>
            <a:r>
              <a:rPr sz="1300">
                <a:solidFill>
                  <a:srgbClr val="086F69"/>
                </a:solidFill>
              </a:rPr>
              <a:t>▪  </a:t>
            </a:r>
            <a:r>
              <a:rPr sz="1600" b="0">
                <a:solidFill>
                  <a:srgbClr val="152C3C"/>
                </a:solidFill>
                <a:latin typeface="Segoe UI"/>
              </a:rPr>
              <a:t>nDCG@10: </a:t>
            </a:r>
            <a:r>
              <a:rPr sz="1600" b="1">
                <a:solidFill>
                  <a:srgbClr val="152C3C"/>
                </a:solidFill>
                <a:latin typeface="Segoe UI"/>
              </a:rPr>
              <a:t>0,536</a:t>
            </a:r>
            <a:r>
              <a:rPr sz="1600" b="0">
                <a:solidFill>
                  <a:srgbClr val="152C3C"/>
                </a:solidFill>
                <a:latin typeface="Segoe UI"/>
              </a:rPr>
              <a:t> so với 0,107 (chỉ ảnh), 0,148 (chỉ chữ)</a:t>
            </a:r>
          </a:p>
          <a:p>
            <a:pPr>
              <a:lnSpc>
                <a:spcPct val="108000"/>
              </a:lnSpc>
              <a:spcAft>
                <a:spcPts val="400"/>
              </a:spcAft>
            </a:pPr>
            <a:r>
              <a:rPr sz="1300">
                <a:solidFill>
                  <a:srgbClr val="086F69"/>
                </a:solidFill>
              </a:rPr>
              <a:t>▪  </a:t>
            </a:r>
            <a:r>
              <a:rPr sz="1600" b="0">
                <a:solidFill>
                  <a:srgbClr val="152C3C"/>
                </a:solidFill>
                <a:latin typeface="Segoe UI"/>
              </a:rPr>
              <a:t>Mặc định α = 0,5 (không chọn theo tập đánh giá)</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F2 · TRỢ LÝ MUA SẮM</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Hiểu ý định trước, chỉ gọi LLM khi thật cần</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10</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pic>
        <p:nvPicPr>
          <p:cNvPr id="7" name="Picture 6" descr="chat.png"/>
          <p:cNvPicPr>
            <a:picLocks noChangeAspect="1"/>
          </p:cNvPicPr>
          <p:nvPr/>
        </p:nvPicPr>
        <p:blipFill>
          <a:blip r:embed="rId3"/>
          <a:stretch>
            <a:fillRect/>
          </a:stretch>
        </p:blipFill>
        <p:spPr>
          <a:xfrm>
            <a:off x="548640" y="2217420"/>
            <a:ext cx="5486400" cy="3429000"/>
          </a:xfrm>
          <a:prstGeom prst="rect">
            <a:avLst/>
          </a:prstGeom>
          <a:ln w="9525">
            <a:solidFill>
              <a:srgbClr val="C9D3CE"/>
            </a:solidFill>
          </a:ln>
        </p:spPr>
      </p:pic>
      <p:sp>
        <p:nvSpPr>
          <p:cNvPr id="8" name="Rounded Rectangle 7"/>
          <p:cNvSpPr/>
          <p:nvPr/>
        </p:nvSpPr>
        <p:spPr>
          <a:xfrm>
            <a:off x="6309360" y="1737360"/>
            <a:ext cx="5349240" cy="2194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901952"/>
            <a:ext cx="4892040" cy="411480"/>
          </a:xfrm>
          <a:prstGeom prst="rect">
            <a:avLst/>
          </a:prstGeom>
          <a:noFill/>
        </p:spPr>
        <p:txBody>
          <a:bodyPr wrap="square" anchor="t" lIns="45720" rIns="45720" tIns="27432" bIns="27432">
            <a:spAutoFit/>
          </a:bodyPr>
          <a:lstStyle/>
          <a:p>
            <a:pPr algn="l">
              <a:lnSpc>
                <a:spcPct val="110000"/>
              </a:lnSpc>
            </a:pPr>
            <a:r>
              <a:rPr sz="1700" b="0">
                <a:solidFill>
                  <a:srgbClr val="086F69"/>
                </a:solidFill>
                <a:latin typeface="Georgia"/>
              </a:rPr>
              <a:t>6 ý định</a:t>
            </a:r>
          </a:p>
        </p:txBody>
      </p:sp>
      <p:sp>
        <p:nvSpPr>
          <p:cNvPr id="10" name="TextBox 9"/>
          <p:cNvSpPr txBox="1"/>
          <p:nvPr/>
        </p:nvSpPr>
        <p:spPr>
          <a:xfrm>
            <a:off x="6492240" y="2377440"/>
            <a:ext cx="4983480" cy="1463040"/>
          </a:xfrm>
          <a:prstGeom prst="rect">
            <a:avLst/>
          </a:prstGeom>
          <a:noFill/>
        </p:spPr>
        <p:txBody>
          <a:bodyPr wrap="square">
            <a:spAutoFit/>
          </a:bodyPr>
          <a:lstStyle/>
          <a:p>
            <a:pPr>
              <a:lnSpc>
                <a:spcPct val="108000"/>
              </a:lnSpc>
              <a:spcAft>
                <a:spcPts val="500"/>
              </a:spcAft>
            </a:pPr>
            <a:r>
              <a:rPr sz="1200">
                <a:solidFill>
                  <a:srgbClr val="086F69"/>
                </a:solidFill>
              </a:rPr>
              <a:t>▪  </a:t>
            </a:r>
            <a:r>
              <a:rPr sz="1500" b="0">
                <a:solidFill>
                  <a:srgbClr val="152C3C"/>
                </a:solidFill>
                <a:latin typeface="Segoe UI"/>
              </a:rPr>
              <a:t>chào hỏi · tìm sản phẩm · hỏi sản phẩm</a:t>
            </a:r>
          </a:p>
          <a:p>
            <a:pPr>
              <a:lnSpc>
                <a:spcPct val="108000"/>
              </a:lnSpc>
              <a:spcAft>
                <a:spcPts val="500"/>
              </a:spcAft>
            </a:pPr>
            <a:r>
              <a:rPr sz="1200">
                <a:solidFill>
                  <a:srgbClr val="086F69"/>
                </a:solidFill>
              </a:rPr>
              <a:t>▪  </a:t>
            </a:r>
            <a:r>
              <a:rPr sz="1500" b="0">
                <a:solidFill>
                  <a:srgbClr val="152C3C"/>
                </a:solidFill>
                <a:latin typeface="Segoe UI"/>
              </a:rPr>
              <a:t>hỏi chính sách · so sánh · lên kế hoạch</a:t>
            </a:r>
          </a:p>
        </p:txBody>
      </p:sp>
      <p:pic>
        <p:nvPicPr>
          <p:cNvPr id="11" name="Picture 10" descr="rag_flow.png"/>
          <p:cNvPicPr>
            <a:picLocks noChangeAspect="1"/>
          </p:cNvPicPr>
          <p:nvPr/>
        </p:nvPicPr>
        <p:blipFill>
          <a:blip r:embed="rId4"/>
          <a:stretch>
            <a:fillRect/>
          </a:stretch>
        </p:blipFill>
        <p:spPr>
          <a:xfrm>
            <a:off x="6550681" y="4069080"/>
            <a:ext cx="4866597" cy="21945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F3 · SO SÁNH CÓ TRÍCH DẪN</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Bảng từ dữ liệu, nhận xét từ RAG — mỗi ý đều có nguồn</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11</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pic>
        <p:nvPicPr>
          <p:cNvPr id="7" name="Picture 6" descr="compare.png"/>
          <p:cNvPicPr>
            <a:picLocks noChangeAspect="1"/>
          </p:cNvPicPr>
          <p:nvPr/>
        </p:nvPicPr>
        <p:blipFill>
          <a:blip r:embed="rId3"/>
          <a:stretch>
            <a:fillRect/>
          </a:stretch>
        </p:blipFill>
        <p:spPr>
          <a:xfrm>
            <a:off x="548640" y="1760220"/>
            <a:ext cx="6949440" cy="4343400"/>
          </a:xfrm>
          <a:prstGeom prst="rect">
            <a:avLst/>
          </a:prstGeom>
          <a:ln w="9525">
            <a:solidFill>
              <a:srgbClr val="C9D3CE"/>
            </a:solidFill>
          </a:ln>
        </p:spPr>
      </p:pic>
      <p:sp>
        <p:nvSpPr>
          <p:cNvPr id="8" name="Rounded Rectangle 7"/>
          <p:cNvSpPr/>
          <p:nvPr/>
        </p:nvSpPr>
        <p:spPr>
          <a:xfrm>
            <a:off x="7772400" y="1737360"/>
            <a:ext cx="3886200" cy="4434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901952"/>
            <a:ext cx="3429000" cy="411480"/>
          </a:xfrm>
          <a:prstGeom prst="rect">
            <a:avLst/>
          </a:prstGeom>
          <a:noFill/>
        </p:spPr>
        <p:txBody>
          <a:bodyPr wrap="square" anchor="t" lIns="45720" rIns="45720" tIns="27432" bIns="27432">
            <a:spAutoFit/>
          </a:bodyPr>
          <a:lstStyle/>
          <a:p>
            <a:pPr algn="l">
              <a:lnSpc>
                <a:spcPct val="110000"/>
              </a:lnSpc>
            </a:pPr>
            <a:r>
              <a:rPr sz="1700" b="0">
                <a:solidFill>
                  <a:srgbClr val="086F69"/>
                </a:solidFill>
                <a:latin typeface="Georgia"/>
              </a:rPr>
              <a:t>Chống “bịa”</a:t>
            </a:r>
          </a:p>
        </p:txBody>
      </p:sp>
      <p:sp>
        <p:nvSpPr>
          <p:cNvPr id="10" name="TextBox 9"/>
          <p:cNvSpPr txBox="1"/>
          <p:nvPr/>
        </p:nvSpPr>
        <p:spPr>
          <a:xfrm>
            <a:off x="7955280" y="2377440"/>
            <a:ext cx="3520440" cy="3703320"/>
          </a:xfrm>
          <a:prstGeom prst="rect">
            <a:avLst/>
          </a:prstGeom>
          <a:noFill/>
        </p:spPr>
        <p:txBody>
          <a:bodyPr wrap="square">
            <a:spAutoFit/>
          </a:bodyPr>
          <a:lstStyle/>
          <a:p>
            <a:pPr>
              <a:lnSpc>
                <a:spcPct val="108000"/>
              </a:lnSpc>
              <a:spcAft>
                <a:spcPts val="500"/>
              </a:spcAft>
            </a:pPr>
            <a:r>
              <a:rPr sz="1200">
                <a:solidFill>
                  <a:srgbClr val="086F69"/>
                </a:solidFill>
              </a:rPr>
              <a:t>▪  </a:t>
            </a:r>
            <a:r>
              <a:rPr sz="1500" b="0">
                <a:solidFill>
                  <a:srgbClr val="152C3C"/>
                </a:solidFill>
                <a:latin typeface="Segoe UI"/>
              </a:rPr>
              <a:t>Đầu ra JSON schema: câu trả lời + ID trích dẫn</a:t>
            </a:r>
          </a:p>
          <a:p>
            <a:pPr>
              <a:lnSpc>
                <a:spcPct val="108000"/>
              </a:lnSpc>
              <a:spcAft>
                <a:spcPts val="500"/>
              </a:spcAft>
            </a:pPr>
            <a:r>
              <a:rPr sz="1200">
                <a:solidFill>
                  <a:srgbClr val="086F69"/>
                </a:solidFill>
              </a:rPr>
              <a:t>▪  </a:t>
            </a:r>
            <a:r>
              <a:rPr sz="1500" b="0">
                <a:solidFill>
                  <a:srgbClr val="152C3C"/>
                </a:solidFill>
                <a:latin typeface="Segoe UI"/>
              </a:rPr>
              <a:t>ID ngoài ngữ cảnh → </a:t>
            </a:r>
            <a:r>
              <a:rPr sz="1500" b="1">
                <a:solidFill>
                  <a:srgbClr val="152C3C"/>
                </a:solidFill>
                <a:latin typeface="Segoe UI"/>
              </a:rPr>
              <a:t>từ chối, sinh lại 1 lần</a:t>
            </a:r>
          </a:p>
          <a:p>
            <a:pPr>
              <a:lnSpc>
                <a:spcPct val="108000"/>
              </a:lnSpc>
              <a:spcAft>
                <a:spcPts val="500"/>
              </a:spcAft>
            </a:pPr>
            <a:r>
              <a:rPr sz="1200">
                <a:solidFill>
                  <a:srgbClr val="086F69"/>
                </a:solidFill>
              </a:rPr>
              <a:t>▪  </a:t>
            </a:r>
            <a:r>
              <a:rPr sz="1500" b="0">
                <a:solidFill>
                  <a:srgbClr val="152C3C"/>
                </a:solidFill>
                <a:latin typeface="Segoe UI"/>
              </a:rPr>
              <a:t>Thiếu bằng chứng → </a:t>
            </a:r>
            <a:r>
              <a:rPr sz="1500" b="1">
                <a:solidFill>
                  <a:srgbClr val="152C3C"/>
                </a:solidFill>
                <a:latin typeface="Segoe UI"/>
              </a:rPr>
              <a:t>insufficient_evidence</a:t>
            </a:r>
          </a:p>
          <a:p>
            <a:pPr>
              <a:lnSpc>
                <a:spcPct val="108000"/>
              </a:lnSpc>
              <a:spcAft>
                <a:spcPts val="500"/>
              </a:spcAft>
            </a:pPr>
            <a:r>
              <a:rPr sz="1200">
                <a:solidFill>
                  <a:srgbClr val="086F69"/>
                </a:solidFill>
              </a:rPr>
              <a:t>▪  </a:t>
            </a:r>
            <a:r>
              <a:rPr sz="1500" b="0">
                <a:solidFill>
                  <a:srgbClr val="152C3C"/>
                </a:solidFill>
                <a:latin typeface="Segoe UI"/>
              </a:rPr>
              <a:t>Bằng chứng là dữ liệu, không phải mệnh lệnh (chống prompt injection)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F6 · LÊN KẾ HOẠCH MUA SẮM</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“Mình mới chuyển vào studio, ngân sách 800 đô”</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12</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pic>
        <p:nvPicPr>
          <p:cNvPr id="7" name="Picture 6" descr="planner_flow.png"/>
          <p:cNvPicPr>
            <a:picLocks noChangeAspect="1"/>
          </p:cNvPicPr>
          <p:nvPr/>
        </p:nvPicPr>
        <p:blipFill>
          <a:blip r:embed="rId3"/>
          <a:stretch>
            <a:fillRect/>
          </a:stretch>
        </p:blipFill>
        <p:spPr>
          <a:xfrm>
            <a:off x="3155912" y="1554480"/>
            <a:ext cx="5849696" cy="1828800"/>
          </a:xfrm>
          <a:prstGeom prst="rect">
            <a:avLst/>
          </a:prstGeom>
        </p:spPr>
      </p:pic>
      <p:pic>
        <p:nvPicPr>
          <p:cNvPr id="8" name="Picture 7" descr="planner.png"/>
          <p:cNvPicPr>
            <a:picLocks noChangeAspect="1"/>
          </p:cNvPicPr>
          <p:nvPr/>
        </p:nvPicPr>
        <p:blipFill>
          <a:blip r:embed="rId4"/>
          <a:stretch>
            <a:fillRect/>
          </a:stretch>
        </p:blipFill>
        <p:spPr>
          <a:xfrm>
            <a:off x="1371600" y="3520440"/>
            <a:ext cx="4389120" cy="2743200"/>
          </a:xfrm>
          <a:prstGeom prst="rect">
            <a:avLst/>
          </a:prstGeom>
          <a:ln w="9525">
            <a:solidFill>
              <a:srgbClr val="C9D3CE"/>
            </a:solidFill>
          </a:ln>
        </p:spPr>
      </p:pic>
      <p:sp>
        <p:nvSpPr>
          <p:cNvPr id="9" name="TextBox 8"/>
          <p:cNvSpPr txBox="1"/>
          <p:nvPr/>
        </p:nvSpPr>
        <p:spPr>
          <a:xfrm>
            <a:off x="6858000" y="3566160"/>
            <a:ext cx="4800600" cy="2743200"/>
          </a:xfrm>
          <a:prstGeom prst="rect">
            <a:avLst/>
          </a:prstGeom>
          <a:noFill/>
        </p:spPr>
        <p:txBody>
          <a:bodyPr wrap="square">
            <a:spAutoFit/>
          </a:bodyPr>
          <a:lstStyle/>
          <a:p>
            <a:pPr>
              <a:lnSpc>
                <a:spcPct val="108000"/>
              </a:lnSpc>
              <a:spcAft>
                <a:spcPts val="400"/>
              </a:spcAft>
            </a:pPr>
            <a:r>
              <a:rPr sz="1200">
                <a:solidFill>
                  <a:srgbClr val="086F69"/>
                </a:solidFill>
              </a:rPr>
              <a:t>▪  </a:t>
            </a:r>
            <a:r>
              <a:rPr sz="1500" b="0">
                <a:solidFill>
                  <a:srgbClr val="152C3C"/>
                </a:solidFill>
                <a:latin typeface="Segoe UI"/>
              </a:rPr>
              <a:t>Đọc ngân sách: “800 đô”, “$1,234.50”, “2 triệu”; bỏ qua “khoảng 5 ngày”</a:t>
            </a:r>
          </a:p>
          <a:p>
            <a:pPr>
              <a:lnSpc>
                <a:spcPct val="108000"/>
              </a:lnSpc>
              <a:spcAft>
                <a:spcPts val="400"/>
              </a:spcAft>
            </a:pPr>
            <a:r>
              <a:rPr sz="1200">
                <a:solidFill>
                  <a:srgbClr val="086F69"/>
                </a:solidFill>
              </a:rPr>
              <a:t>▪  </a:t>
            </a:r>
            <a:r>
              <a:rPr sz="1500" b="0">
                <a:solidFill>
                  <a:srgbClr val="152C3C"/>
                </a:solidFill>
                <a:latin typeface="Segoe UI"/>
              </a:rPr>
              <a:t>Cái túi nhiều lựa chọn: </a:t>
            </a:r>
            <a:r>
              <a:rPr sz="1500" b="1">
                <a:solidFill>
                  <a:srgbClr val="152C3C"/>
                </a:solidFill>
                <a:latin typeface="Segoe UI"/>
              </a:rPr>
              <a:t>quy hoạch động, đúng tối ưu</a:t>
            </a:r>
          </a:p>
          <a:p>
            <a:pPr>
              <a:lnSpc>
                <a:spcPct val="108000"/>
              </a:lnSpc>
              <a:spcAft>
                <a:spcPts val="400"/>
              </a:spcAft>
            </a:pPr>
            <a:r>
              <a:rPr sz="1200">
                <a:solidFill>
                  <a:srgbClr val="086F69"/>
                </a:solidFill>
              </a:rPr>
              <a:t>▪  </a:t>
            </a:r>
            <a:r>
              <a:rPr sz="1500" b="0">
                <a:solidFill>
                  <a:srgbClr val="152C3C"/>
                </a:solidFill>
                <a:latin typeface="Segoe UI"/>
              </a:rPr>
              <a:t>Lý do + mẹo đổi trả có </a:t>
            </a:r>
            <a:r>
              <a:rPr sz="1500" b="1">
                <a:solidFill>
                  <a:srgbClr val="152C3C"/>
                </a:solidFill>
                <a:latin typeface="Segoe UI"/>
              </a:rPr>
              <a:t>trích dẫn</a:t>
            </a:r>
          </a:p>
          <a:p>
            <a:pPr>
              <a:lnSpc>
                <a:spcPct val="108000"/>
              </a:lnSpc>
              <a:spcAft>
                <a:spcPts val="400"/>
              </a:spcAft>
            </a:pPr>
            <a:r>
              <a:rPr sz="1200">
                <a:solidFill>
                  <a:srgbClr val="086F69"/>
                </a:solidFill>
              </a:rPr>
              <a:t>▪  </a:t>
            </a:r>
            <a:r>
              <a:rPr sz="1500" b="0">
                <a:solidFill>
                  <a:srgbClr val="152C3C"/>
                </a:solidFill>
                <a:latin typeface="Segoe UI"/>
              </a:rPr>
              <a:t>Không có LLM: template tình huống + lý do trích xuất</a:t>
            </a:r>
          </a:p>
          <a:p>
            <a:pPr>
              <a:lnSpc>
                <a:spcPct val="108000"/>
              </a:lnSpc>
              <a:spcAft>
                <a:spcPts val="400"/>
              </a:spcAft>
            </a:pPr>
            <a:r>
              <a:rPr sz="1200">
                <a:solidFill>
                  <a:srgbClr val="086F69"/>
                </a:solidFill>
              </a:rPr>
              <a:t>▪  </a:t>
            </a:r>
            <a:r>
              <a:rPr sz="1500" b="0">
                <a:solidFill>
                  <a:srgbClr val="152C3C"/>
                </a:solidFill>
                <a:latin typeface="Segoe UI"/>
              </a:rPr>
              <a:t>Độ trễ: 614 → </a:t>
            </a:r>
            <a:r>
              <a:rPr sz="1500" b="1">
                <a:solidFill>
                  <a:srgbClr val="152C3C"/>
                </a:solidFill>
                <a:latin typeface="Segoe UI"/>
              </a:rPr>
              <a:t>213 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QUẢN TRỊ &amp; GLASS-BOX</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Admin chọn thuật toán, xem từng bước, so sánh pipeline</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13</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pic>
        <p:nvPicPr>
          <p:cNvPr id="7" name="Picture 6" descr="admin_config.png"/>
          <p:cNvPicPr>
            <a:picLocks noChangeAspect="1"/>
          </p:cNvPicPr>
          <p:nvPr/>
        </p:nvPicPr>
        <p:blipFill>
          <a:blip r:embed="rId3"/>
          <a:stretch>
            <a:fillRect/>
          </a:stretch>
        </p:blipFill>
        <p:spPr>
          <a:xfrm>
            <a:off x="548640" y="2217420"/>
            <a:ext cx="5486400" cy="3429000"/>
          </a:xfrm>
          <a:prstGeom prst="rect">
            <a:avLst/>
          </a:prstGeom>
          <a:ln w="9525">
            <a:solidFill>
              <a:srgbClr val="C9D3CE"/>
            </a:solidFill>
          </a:ln>
        </p:spPr>
      </p:pic>
      <p:pic>
        <p:nvPicPr>
          <p:cNvPr id="8" name="Picture 7" descr="inspector_ranking.png"/>
          <p:cNvPicPr>
            <a:picLocks noChangeAspect="1"/>
          </p:cNvPicPr>
          <p:nvPr/>
        </p:nvPicPr>
        <p:blipFill>
          <a:blip r:embed="rId4"/>
          <a:stretch>
            <a:fillRect/>
          </a:stretch>
        </p:blipFill>
        <p:spPr>
          <a:xfrm>
            <a:off x="6263640" y="2245995"/>
            <a:ext cx="5394960" cy="3371850"/>
          </a:xfrm>
          <a:prstGeom prst="rect">
            <a:avLst/>
          </a:prstGeom>
          <a:ln w="9525">
            <a:solidFill>
              <a:srgbClr val="C9D3CE"/>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HIỆU NĂNG</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Nhanh hơn mà kết quả không đổi</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14</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pic>
        <p:nvPicPr>
          <p:cNvPr id="7" name="Picture 6" descr="latency.png"/>
          <p:cNvPicPr>
            <a:picLocks noChangeAspect="1"/>
          </p:cNvPicPr>
          <p:nvPr/>
        </p:nvPicPr>
        <p:blipFill>
          <a:blip r:embed="rId3"/>
          <a:stretch>
            <a:fillRect/>
          </a:stretch>
        </p:blipFill>
        <p:spPr>
          <a:xfrm>
            <a:off x="548640" y="2108463"/>
            <a:ext cx="7315200" cy="3006834"/>
          </a:xfrm>
          <a:prstGeom prst="rect">
            <a:avLst/>
          </a:prstGeom>
        </p:spPr>
      </p:pic>
      <p:sp>
        <p:nvSpPr>
          <p:cNvPr id="8" name="Rounded Rectangle 7"/>
          <p:cNvSpPr/>
          <p:nvPr/>
        </p:nvSpPr>
        <p:spPr>
          <a:xfrm>
            <a:off x="8138160" y="1737360"/>
            <a:ext cx="3520440" cy="4434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1901952"/>
            <a:ext cx="3063240" cy="411480"/>
          </a:xfrm>
          <a:prstGeom prst="rect">
            <a:avLst/>
          </a:prstGeom>
          <a:noFill/>
        </p:spPr>
        <p:txBody>
          <a:bodyPr wrap="square" anchor="t" lIns="45720" rIns="45720" tIns="27432" bIns="27432">
            <a:spAutoFit/>
          </a:bodyPr>
          <a:lstStyle/>
          <a:p>
            <a:pPr algn="l">
              <a:lnSpc>
                <a:spcPct val="110000"/>
              </a:lnSpc>
            </a:pPr>
            <a:r>
              <a:rPr sz="1700" b="0">
                <a:solidFill>
                  <a:srgbClr val="086F69"/>
                </a:solidFill>
                <a:latin typeface="Georgia"/>
              </a:rPr>
              <a:t>Đã làm</a:t>
            </a:r>
          </a:p>
        </p:txBody>
      </p:sp>
      <p:sp>
        <p:nvSpPr>
          <p:cNvPr id="10" name="TextBox 9"/>
          <p:cNvSpPr txBox="1"/>
          <p:nvPr/>
        </p:nvSpPr>
        <p:spPr>
          <a:xfrm>
            <a:off x="8321040" y="2377440"/>
            <a:ext cx="3154680" cy="3703320"/>
          </a:xfrm>
          <a:prstGeom prst="rect">
            <a:avLst/>
          </a:prstGeom>
          <a:noFill/>
        </p:spPr>
        <p:txBody>
          <a:bodyPr wrap="square">
            <a:spAutoFit/>
          </a:bodyPr>
          <a:lstStyle/>
          <a:p>
            <a:pPr>
              <a:lnSpc>
                <a:spcPct val="108000"/>
              </a:lnSpc>
              <a:spcAft>
                <a:spcPts val="500"/>
              </a:spcAft>
            </a:pPr>
            <a:r>
              <a:rPr sz="1200">
                <a:solidFill>
                  <a:srgbClr val="086F69"/>
                </a:solidFill>
              </a:rPr>
              <a:t>▪  </a:t>
            </a:r>
            <a:r>
              <a:rPr sz="1500" b="0">
                <a:solidFill>
                  <a:srgbClr val="152C3C"/>
                </a:solidFill>
                <a:latin typeface="Segoe UI"/>
              </a:rPr>
              <a:t>Cache LRU embedding chữ và ảnh</a:t>
            </a:r>
          </a:p>
          <a:p>
            <a:pPr>
              <a:lnSpc>
                <a:spcPct val="108000"/>
              </a:lnSpc>
              <a:spcAft>
                <a:spcPts val="500"/>
              </a:spcAft>
            </a:pPr>
            <a:r>
              <a:rPr sz="1200">
                <a:solidFill>
                  <a:srgbClr val="086F69"/>
                </a:solidFill>
              </a:rPr>
              <a:t>▪  </a:t>
            </a:r>
            <a:r>
              <a:rPr sz="1500" b="0">
                <a:solidFill>
                  <a:srgbClr val="152C3C"/>
                </a:solidFill>
                <a:latin typeface="Segoe UI"/>
              </a:rPr>
              <a:t>Cache bộ lọc, mapping chỉ mục</a:t>
            </a:r>
          </a:p>
          <a:p>
            <a:pPr>
              <a:lnSpc>
                <a:spcPct val="108000"/>
              </a:lnSpc>
              <a:spcAft>
                <a:spcPts val="500"/>
              </a:spcAft>
            </a:pPr>
            <a:r>
              <a:rPr sz="1200">
                <a:solidFill>
                  <a:srgbClr val="086F69"/>
                </a:solidFill>
              </a:rPr>
              <a:t>▪  </a:t>
            </a:r>
            <a:r>
              <a:rPr sz="1500" b="0">
                <a:solidFill>
                  <a:srgbClr val="152C3C"/>
                </a:solidFill>
                <a:latin typeface="Segoe UI"/>
              </a:rPr>
              <a:t>BM25 ‖ dense chạy song song</a:t>
            </a:r>
          </a:p>
          <a:p>
            <a:pPr>
              <a:lnSpc>
                <a:spcPct val="108000"/>
              </a:lnSpc>
              <a:spcAft>
                <a:spcPts val="500"/>
              </a:spcAft>
            </a:pPr>
            <a:r>
              <a:rPr sz="1200">
                <a:solidFill>
                  <a:srgbClr val="086F69"/>
                </a:solidFill>
              </a:rPr>
              <a:t>▪  </a:t>
            </a:r>
            <a:r>
              <a:rPr sz="1500" b="0">
                <a:solidFill>
                  <a:srgbClr val="152C3C"/>
                </a:solidFill>
                <a:latin typeface="Segoe UI"/>
              </a:rPr>
              <a:t>Ảnh xử lý ngoài event loop</a:t>
            </a:r>
          </a:p>
        </p:txBody>
      </p:sp>
      <p:sp>
        <p:nvSpPr>
          <p:cNvPr id="11" name="TextBox 10"/>
          <p:cNvSpPr txBox="1"/>
          <p:nvPr/>
        </p:nvSpPr>
        <p:spPr>
          <a:xfrm>
            <a:off x="548640" y="5715000"/>
            <a:ext cx="7315200" cy="457200"/>
          </a:xfrm>
          <a:prstGeom prst="rect">
            <a:avLst/>
          </a:prstGeom>
          <a:noFill/>
        </p:spPr>
        <p:txBody>
          <a:bodyPr wrap="square" anchor="t" lIns="45720" rIns="45720" tIns="27432" bIns="27432">
            <a:spAutoFit/>
          </a:bodyPr>
          <a:lstStyle/>
          <a:p>
            <a:pPr algn="l">
              <a:lnSpc>
                <a:spcPct val="110000"/>
              </a:lnSpc>
            </a:pPr>
            <a:r>
              <a:rPr sz="1300" b="0">
                <a:solidFill>
                  <a:srgbClr val="536774"/>
                </a:solidFill>
                <a:latin typeface="Segoe UI"/>
              </a:rPr>
              <a:t>Trung vị trên laptop CPU, Elasticsearch cùng máy.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CHẤT LƯỢNG</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Kiểm thử, rà soát và smoke test trên hệ thống thật</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15</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sp>
        <p:nvSpPr>
          <p:cNvPr id="7" name="Rounded Rectangle 6"/>
          <p:cNvSpPr/>
          <p:nvPr/>
        </p:nvSpPr>
        <p:spPr>
          <a:xfrm>
            <a:off x="548640" y="1783080"/>
            <a:ext cx="265176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92808"/>
            <a:ext cx="2651760" cy="731520"/>
          </a:xfrm>
          <a:prstGeom prst="rect">
            <a:avLst/>
          </a:prstGeom>
          <a:noFill/>
        </p:spPr>
        <p:txBody>
          <a:bodyPr wrap="square" anchor="t" lIns="45720" rIns="45720" tIns="27432" bIns="27432">
            <a:spAutoFit/>
          </a:bodyPr>
          <a:lstStyle/>
          <a:p>
            <a:pPr algn="ctr">
              <a:lnSpc>
                <a:spcPct val="110000"/>
              </a:lnSpc>
            </a:pPr>
            <a:r>
              <a:rPr sz="3400" b="0">
                <a:solidFill>
                  <a:srgbClr val="086F69"/>
                </a:solidFill>
                <a:latin typeface="Georgia"/>
              </a:rPr>
              <a:t>523</a:t>
            </a:r>
          </a:p>
        </p:txBody>
      </p:sp>
      <p:sp>
        <p:nvSpPr>
          <p:cNvPr id="9" name="TextBox 8"/>
          <p:cNvSpPr txBox="1"/>
          <p:nvPr/>
        </p:nvSpPr>
        <p:spPr>
          <a:xfrm>
            <a:off x="685800" y="2606040"/>
            <a:ext cx="237744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kiểm thử backend đạt</a:t>
            </a:r>
          </a:p>
        </p:txBody>
      </p:sp>
      <p:sp>
        <p:nvSpPr>
          <p:cNvPr id="10" name="Rounded Rectangle 9"/>
          <p:cNvSpPr/>
          <p:nvPr/>
        </p:nvSpPr>
        <p:spPr>
          <a:xfrm>
            <a:off x="3429000" y="1783080"/>
            <a:ext cx="265176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1892808"/>
            <a:ext cx="2651760" cy="731520"/>
          </a:xfrm>
          <a:prstGeom prst="rect">
            <a:avLst/>
          </a:prstGeom>
          <a:noFill/>
        </p:spPr>
        <p:txBody>
          <a:bodyPr wrap="square" anchor="t" lIns="45720" rIns="45720" tIns="27432" bIns="27432">
            <a:spAutoFit/>
          </a:bodyPr>
          <a:lstStyle/>
          <a:p>
            <a:pPr algn="ctr">
              <a:lnSpc>
                <a:spcPct val="110000"/>
              </a:lnSpc>
            </a:pPr>
            <a:r>
              <a:rPr sz="3400" b="0">
                <a:solidFill>
                  <a:srgbClr val="086F69"/>
                </a:solidFill>
                <a:latin typeface="Georgia"/>
              </a:rPr>
              <a:t>235</a:t>
            </a:r>
          </a:p>
        </p:txBody>
      </p:sp>
      <p:sp>
        <p:nvSpPr>
          <p:cNvPr id="12" name="TextBox 11"/>
          <p:cNvSpPr txBox="1"/>
          <p:nvPr/>
        </p:nvSpPr>
        <p:spPr>
          <a:xfrm>
            <a:off x="3566160" y="2606040"/>
            <a:ext cx="237744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kiểm thử logic giao diện đạt</a:t>
            </a:r>
          </a:p>
        </p:txBody>
      </p:sp>
      <p:sp>
        <p:nvSpPr>
          <p:cNvPr id="13" name="Rounded Rectangle 12"/>
          <p:cNvSpPr/>
          <p:nvPr/>
        </p:nvSpPr>
        <p:spPr>
          <a:xfrm>
            <a:off x="6309360" y="1783080"/>
            <a:ext cx="265176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892808"/>
            <a:ext cx="2651760" cy="731520"/>
          </a:xfrm>
          <a:prstGeom prst="rect">
            <a:avLst/>
          </a:prstGeom>
          <a:noFill/>
        </p:spPr>
        <p:txBody>
          <a:bodyPr wrap="square" anchor="t" lIns="45720" rIns="45720" tIns="27432" bIns="27432">
            <a:spAutoFit/>
          </a:bodyPr>
          <a:lstStyle/>
          <a:p>
            <a:pPr algn="ctr">
              <a:lnSpc>
                <a:spcPct val="110000"/>
              </a:lnSpc>
            </a:pPr>
            <a:r>
              <a:rPr sz="3400" b="0">
                <a:solidFill>
                  <a:srgbClr val="086F69"/>
                </a:solidFill>
                <a:latin typeface="Georgia"/>
              </a:rPr>
              <a:t>14 / 14</a:t>
            </a:r>
          </a:p>
        </p:txBody>
      </p:sp>
      <p:sp>
        <p:nvSpPr>
          <p:cNvPr id="15" name="TextBox 14"/>
          <p:cNvSpPr txBox="1"/>
          <p:nvPr/>
        </p:nvSpPr>
        <p:spPr>
          <a:xfrm>
            <a:off x="6446520" y="2606040"/>
            <a:ext cx="237744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lỗi từ rà soát độc lập đã sửa</a:t>
            </a:r>
          </a:p>
        </p:txBody>
      </p:sp>
      <p:sp>
        <p:nvSpPr>
          <p:cNvPr id="16" name="Rounded Rectangle 15"/>
          <p:cNvSpPr/>
          <p:nvPr/>
        </p:nvSpPr>
        <p:spPr>
          <a:xfrm>
            <a:off x="9189720" y="1783080"/>
            <a:ext cx="2468880" cy="1417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20" y="1892808"/>
            <a:ext cx="2468880" cy="731520"/>
          </a:xfrm>
          <a:prstGeom prst="rect">
            <a:avLst/>
          </a:prstGeom>
          <a:noFill/>
        </p:spPr>
        <p:txBody>
          <a:bodyPr wrap="square" anchor="t" lIns="45720" rIns="45720" tIns="27432" bIns="27432">
            <a:spAutoFit/>
          </a:bodyPr>
          <a:lstStyle/>
          <a:p>
            <a:pPr algn="ctr">
              <a:lnSpc>
                <a:spcPct val="110000"/>
              </a:lnSpc>
            </a:pPr>
            <a:r>
              <a:rPr sz="3400" b="0">
                <a:solidFill>
                  <a:srgbClr val="086F69"/>
                </a:solidFill>
                <a:latin typeface="Georgia"/>
              </a:rPr>
              <a:t>45 + 42</a:t>
            </a:r>
          </a:p>
        </p:txBody>
      </p:sp>
      <p:sp>
        <p:nvSpPr>
          <p:cNvPr id="18" name="TextBox 17"/>
          <p:cNvSpPr txBox="1"/>
          <p:nvPr/>
        </p:nvSpPr>
        <p:spPr>
          <a:xfrm>
            <a:off x="9326880" y="2606040"/>
            <a:ext cx="2194560" cy="548640"/>
          </a:xfrm>
          <a:prstGeom prst="rect">
            <a:avLst/>
          </a:prstGeom>
          <a:noFill/>
        </p:spPr>
        <p:txBody>
          <a:bodyPr wrap="square" anchor="t" lIns="45720" rIns="45720" tIns="27432" bIns="27432">
            <a:spAutoFit/>
          </a:bodyPr>
          <a:lstStyle/>
          <a:p>
            <a:pPr algn="ctr">
              <a:lnSpc>
                <a:spcPct val="110000"/>
              </a:lnSpc>
            </a:pPr>
            <a:r>
              <a:rPr sz="1300" b="0">
                <a:solidFill>
                  <a:srgbClr val="536774"/>
                </a:solidFill>
                <a:latin typeface="Segoe UI"/>
              </a:rPr>
              <a:t>bước smoke API + giao diện</a:t>
            </a:r>
          </a:p>
        </p:txBody>
      </p:sp>
      <p:sp>
        <p:nvSpPr>
          <p:cNvPr id="19" name="Rounded Rectangle 18"/>
          <p:cNvSpPr/>
          <p:nvPr/>
        </p:nvSpPr>
        <p:spPr>
          <a:xfrm>
            <a:off x="548640" y="3520440"/>
            <a:ext cx="11109960" cy="26517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685032"/>
            <a:ext cx="10652760" cy="411480"/>
          </a:xfrm>
          <a:prstGeom prst="rect">
            <a:avLst/>
          </a:prstGeom>
          <a:noFill/>
        </p:spPr>
        <p:txBody>
          <a:bodyPr wrap="square" anchor="t" lIns="45720" rIns="45720" tIns="27432" bIns="27432">
            <a:spAutoFit/>
          </a:bodyPr>
          <a:lstStyle/>
          <a:p>
            <a:pPr algn="l">
              <a:lnSpc>
                <a:spcPct val="110000"/>
              </a:lnSpc>
            </a:pPr>
            <a:r>
              <a:rPr sz="1700" b="0">
                <a:solidFill>
                  <a:srgbClr val="086F69"/>
                </a:solidFill>
                <a:latin typeface="Georgia"/>
              </a:rPr>
              <a:t>Ví dụ lỗi tìm được và đã sửa</a:t>
            </a:r>
          </a:p>
        </p:txBody>
      </p:sp>
      <p:sp>
        <p:nvSpPr>
          <p:cNvPr id="21" name="TextBox 20"/>
          <p:cNvSpPr txBox="1"/>
          <p:nvPr/>
        </p:nvSpPr>
        <p:spPr>
          <a:xfrm>
            <a:off x="731520" y="4160520"/>
            <a:ext cx="10744200" cy="1920240"/>
          </a:xfrm>
          <a:prstGeom prst="rect">
            <a:avLst/>
          </a:prstGeom>
          <a:noFill/>
        </p:spPr>
        <p:txBody>
          <a:bodyPr wrap="square">
            <a:spAutoFit/>
          </a:bodyPr>
          <a:lstStyle/>
          <a:p>
            <a:pPr>
              <a:lnSpc>
                <a:spcPct val="108000"/>
              </a:lnSpc>
              <a:spcAft>
                <a:spcPts val="500"/>
              </a:spcAft>
            </a:pPr>
            <a:r>
              <a:rPr sz="1200">
                <a:solidFill>
                  <a:srgbClr val="086F69"/>
                </a:solidFill>
              </a:rPr>
              <a:t>▪  </a:t>
            </a:r>
            <a:r>
              <a:rPr sz="1500" b="0">
                <a:solidFill>
                  <a:srgbClr val="152C3C"/>
                </a:solidFill>
                <a:latin typeface="Segoe UI"/>
              </a:rPr>
              <a:t>Đọc sai ngân sách “$1,234.50” và “khoảng 5 ngày” → bộ đọc ngân sách mới, kiểm thử tham số hoá</a:t>
            </a:r>
          </a:p>
          <a:p>
            <a:pPr>
              <a:lnSpc>
                <a:spcPct val="108000"/>
              </a:lnSpc>
              <a:spcAft>
                <a:spcPts val="500"/>
              </a:spcAft>
            </a:pPr>
            <a:r>
              <a:rPr sz="1200">
                <a:solidFill>
                  <a:srgbClr val="086F69"/>
                </a:solidFill>
              </a:rPr>
              <a:t>▪  </a:t>
            </a:r>
            <a:r>
              <a:rPr sz="1500" b="0">
                <a:solidFill>
                  <a:srgbClr val="152C3C"/>
                </a:solidFill>
                <a:latin typeface="Segoe UI"/>
              </a:rPr>
              <a:t>Ảnh “bom giải nén” 48 MP → giới hạn số điểm ảnh, thu nhỏ trước khi mã hoá</a:t>
            </a:r>
          </a:p>
          <a:p>
            <a:pPr>
              <a:lnSpc>
                <a:spcPct val="108000"/>
              </a:lnSpc>
              <a:spcAft>
                <a:spcPts val="500"/>
              </a:spcAft>
            </a:pPr>
            <a:r>
              <a:rPr sz="1200">
                <a:solidFill>
                  <a:srgbClr val="086F69"/>
                </a:solidFill>
              </a:rPr>
              <a:t>▪  </a:t>
            </a:r>
            <a:r>
              <a:rPr sz="1500" b="0">
                <a:solidFill>
                  <a:srgbClr val="152C3C"/>
                </a:solidFill>
                <a:latin typeface="Segoe UI"/>
              </a:rPr>
              <a:t>Chỉ mục bị ghim sau khi đổi alias → luôn đi theo alias, kiểm tra danh tính embedding</a:t>
            </a:r>
          </a:p>
          <a:p>
            <a:pPr>
              <a:lnSpc>
                <a:spcPct val="108000"/>
              </a:lnSpc>
              <a:spcAft>
                <a:spcPts val="500"/>
              </a:spcAft>
            </a:pPr>
            <a:r>
              <a:rPr sz="1200">
                <a:solidFill>
                  <a:srgbClr val="086F69"/>
                </a:solidFill>
              </a:rPr>
              <a:t>▪  </a:t>
            </a:r>
            <a:r>
              <a:rPr sz="1500" b="0">
                <a:solidFill>
                  <a:srgbClr val="152C3C"/>
                </a:solidFill>
                <a:latin typeface="Segoe UI"/>
              </a:rPr>
              <a:t>Khách gọi được pipeline ẩn; lỗi 500 không đúng định dạng JSON → đã chặn và thống nhất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GIỚI HẠN &amp; HƯỚNG PHÁT TRIỂN</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Những gì chưa đo được thì không báo cáo</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16</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sp>
        <p:nvSpPr>
          <p:cNvPr id="7" name="Rounded Rectangle 6"/>
          <p:cNvSpPr/>
          <p:nvPr/>
        </p:nvSpPr>
        <p:spPr>
          <a:xfrm>
            <a:off x="548640" y="1737360"/>
            <a:ext cx="5394960" cy="4434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01952"/>
            <a:ext cx="4937760" cy="411480"/>
          </a:xfrm>
          <a:prstGeom prst="rect">
            <a:avLst/>
          </a:prstGeom>
          <a:noFill/>
        </p:spPr>
        <p:txBody>
          <a:bodyPr wrap="square" anchor="t" lIns="45720" rIns="45720" tIns="27432" bIns="27432">
            <a:spAutoFit/>
          </a:bodyPr>
          <a:lstStyle/>
          <a:p>
            <a:pPr algn="l">
              <a:lnSpc>
                <a:spcPct val="110000"/>
              </a:lnSpc>
            </a:pPr>
            <a:r>
              <a:rPr sz="1700" b="0">
                <a:solidFill>
                  <a:srgbClr val="086F69"/>
                </a:solidFill>
                <a:latin typeface="Georgia"/>
              </a:rPr>
              <a:t>Giới hạn</a:t>
            </a:r>
          </a:p>
        </p:txBody>
      </p:sp>
      <p:sp>
        <p:nvSpPr>
          <p:cNvPr id="9" name="TextBox 8"/>
          <p:cNvSpPr txBox="1"/>
          <p:nvPr/>
        </p:nvSpPr>
        <p:spPr>
          <a:xfrm>
            <a:off x="731520" y="2377440"/>
            <a:ext cx="5029200" cy="3703320"/>
          </a:xfrm>
          <a:prstGeom prst="rect">
            <a:avLst/>
          </a:prstGeom>
          <a:noFill/>
        </p:spPr>
        <p:txBody>
          <a:bodyPr wrap="square">
            <a:spAutoFit/>
          </a:bodyPr>
          <a:lstStyle/>
          <a:p>
            <a:pPr>
              <a:lnSpc>
                <a:spcPct val="108000"/>
              </a:lnSpc>
              <a:spcAft>
                <a:spcPts val="500"/>
              </a:spcAft>
            </a:pPr>
            <a:r>
              <a:rPr sz="1300">
                <a:solidFill>
                  <a:srgbClr val="086F69"/>
                </a:solidFill>
              </a:rPr>
              <a:t>▪  </a:t>
            </a:r>
            <a:r>
              <a:rPr sz="1600" b="0">
                <a:solidFill>
                  <a:srgbClr val="152C3C"/>
                </a:solidFill>
                <a:latin typeface="Segoe UI"/>
              </a:rPr>
              <a:t>Nhãn </a:t>
            </a:r>
            <a:r>
              <a:rPr sz="1600" b="1">
                <a:solidFill>
                  <a:srgbClr val="152C3C"/>
                </a:solidFill>
                <a:latin typeface="Segoe UI"/>
              </a:rPr>
              <a:t>chưa người duyệt</a:t>
            </a:r>
            <a:r>
              <a:rPr sz="1600" b="0">
                <a:solidFill>
                  <a:srgbClr val="152C3C"/>
                </a:solidFill>
                <a:latin typeface="Segoe UI"/>
              </a:rPr>
              <a:t>, chưa kiểm định thống kê</a:t>
            </a:r>
          </a:p>
          <a:p>
            <a:pPr>
              <a:lnSpc>
                <a:spcPct val="108000"/>
              </a:lnSpc>
              <a:spcAft>
                <a:spcPts val="500"/>
              </a:spcAft>
            </a:pPr>
            <a:r>
              <a:rPr sz="1300">
                <a:solidFill>
                  <a:srgbClr val="086F69"/>
                </a:solidFill>
              </a:rPr>
              <a:t>▪  </a:t>
            </a:r>
            <a:r>
              <a:rPr sz="1600" b="0">
                <a:solidFill>
                  <a:srgbClr val="152C3C"/>
                </a:solidFill>
                <a:latin typeface="Segoe UI"/>
              </a:rPr>
              <a:t>Chất lượng câu trả lời LLM </a:t>
            </a:r>
            <a:r>
              <a:rPr sz="1600" b="1">
                <a:solidFill>
                  <a:srgbClr val="152C3C"/>
                </a:solidFill>
                <a:latin typeface="Segoe UI"/>
              </a:rPr>
              <a:t>chưa đo</a:t>
            </a:r>
            <a:r>
              <a:rPr sz="1600" b="0">
                <a:solidFill>
                  <a:srgbClr val="152C3C"/>
                </a:solidFill>
                <a:latin typeface="Segoe UI"/>
              </a:rPr>
              <a:t> (không có khoá API)</a:t>
            </a:r>
          </a:p>
          <a:p>
            <a:pPr>
              <a:lnSpc>
                <a:spcPct val="108000"/>
              </a:lnSpc>
              <a:spcAft>
                <a:spcPts val="500"/>
              </a:spcAft>
            </a:pPr>
            <a:r>
              <a:rPr sz="1300">
                <a:solidFill>
                  <a:srgbClr val="086F69"/>
                </a:solidFill>
              </a:rPr>
              <a:t>▪  </a:t>
            </a:r>
            <a:r>
              <a:rPr sz="1600" b="0">
                <a:solidFill>
                  <a:srgbClr val="152C3C"/>
                </a:solidFill>
                <a:latin typeface="Segoe UI"/>
              </a:rPr>
              <a:t>Cross-encoder </a:t>
            </a:r>
            <a:r>
              <a:rPr sz="1600" b="1">
                <a:solidFill>
                  <a:srgbClr val="152C3C"/>
                </a:solidFill>
                <a:latin typeface="Segoe UI"/>
              </a:rPr>
              <a:t>chưa có số đo</a:t>
            </a:r>
            <a:r>
              <a:rPr sz="1600" b="0">
                <a:solidFill>
                  <a:srgbClr val="152C3C"/>
                </a:solidFill>
                <a:latin typeface="Segoe UI"/>
              </a:rPr>
              <a:t> (CPU)</a:t>
            </a:r>
          </a:p>
          <a:p>
            <a:pPr>
              <a:lnSpc>
                <a:spcPct val="108000"/>
              </a:lnSpc>
              <a:spcAft>
                <a:spcPts val="500"/>
              </a:spcAft>
            </a:pPr>
            <a:r>
              <a:rPr sz="1300">
                <a:solidFill>
                  <a:srgbClr val="086F69"/>
                </a:solidFill>
              </a:rPr>
              <a:t>▪  </a:t>
            </a:r>
            <a:r>
              <a:rPr sz="1600" b="0">
                <a:solidFill>
                  <a:srgbClr val="152C3C"/>
                </a:solidFill>
                <a:latin typeface="Segoe UI"/>
              </a:rPr>
              <a:t>Tiếng Việt vẫn yếu; dữ liệu thương mại là tổng hợp</a:t>
            </a:r>
          </a:p>
        </p:txBody>
      </p:sp>
      <p:sp>
        <p:nvSpPr>
          <p:cNvPr id="10" name="Rounded Rectangle 9"/>
          <p:cNvSpPr/>
          <p:nvPr/>
        </p:nvSpPr>
        <p:spPr>
          <a:xfrm>
            <a:off x="6217920" y="1737360"/>
            <a:ext cx="5440680" cy="4434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01952"/>
            <a:ext cx="4983480" cy="411480"/>
          </a:xfrm>
          <a:prstGeom prst="rect">
            <a:avLst/>
          </a:prstGeom>
          <a:noFill/>
        </p:spPr>
        <p:txBody>
          <a:bodyPr wrap="square" anchor="t" lIns="45720" rIns="45720" tIns="27432" bIns="27432">
            <a:spAutoFit/>
          </a:bodyPr>
          <a:lstStyle/>
          <a:p>
            <a:pPr algn="l">
              <a:lnSpc>
                <a:spcPct val="110000"/>
              </a:lnSpc>
            </a:pPr>
            <a:r>
              <a:rPr sz="1700" b="0">
                <a:solidFill>
                  <a:srgbClr val="086F69"/>
                </a:solidFill>
                <a:latin typeface="Georgia"/>
              </a:rPr>
              <a:t>Hướng phát triển</a:t>
            </a:r>
          </a:p>
        </p:txBody>
      </p:sp>
      <p:sp>
        <p:nvSpPr>
          <p:cNvPr id="12" name="TextBox 11"/>
          <p:cNvSpPr txBox="1"/>
          <p:nvPr/>
        </p:nvSpPr>
        <p:spPr>
          <a:xfrm>
            <a:off x="6400800" y="2377440"/>
            <a:ext cx="5074920" cy="3703320"/>
          </a:xfrm>
          <a:prstGeom prst="rect">
            <a:avLst/>
          </a:prstGeom>
          <a:noFill/>
        </p:spPr>
        <p:txBody>
          <a:bodyPr wrap="square">
            <a:spAutoFit/>
          </a:bodyPr>
          <a:lstStyle/>
          <a:p>
            <a:pPr>
              <a:lnSpc>
                <a:spcPct val="108000"/>
              </a:lnSpc>
              <a:spcAft>
                <a:spcPts val="500"/>
              </a:spcAft>
            </a:pPr>
            <a:r>
              <a:rPr sz="1300">
                <a:solidFill>
                  <a:srgbClr val="086F69"/>
                </a:solidFill>
              </a:rPr>
              <a:t>▪  </a:t>
            </a:r>
            <a:r>
              <a:rPr sz="1600" b="0">
                <a:solidFill>
                  <a:srgbClr val="152C3C"/>
                </a:solidFill>
                <a:latin typeface="Segoe UI"/>
              </a:rPr>
              <a:t>Gán nhãn bằng trang Annotation + Cohen’s kappa</a:t>
            </a:r>
          </a:p>
          <a:p>
            <a:pPr>
              <a:lnSpc>
                <a:spcPct val="108000"/>
              </a:lnSpc>
              <a:spcAft>
                <a:spcPts val="500"/>
              </a:spcAft>
            </a:pPr>
            <a:r>
              <a:rPr sz="1300">
                <a:solidFill>
                  <a:srgbClr val="086F69"/>
                </a:solidFill>
              </a:rPr>
              <a:t>▪  </a:t>
            </a:r>
            <a:r>
              <a:rPr sz="1600" b="0">
                <a:solidFill>
                  <a:srgbClr val="152C3C"/>
                </a:solidFill>
                <a:latin typeface="Segoe UI"/>
              </a:rPr>
              <a:t>LLM-as-judge (mô hình chấm ≠ mô hình sinh) + 30 câu người chấm</a:t>
            </a:r>
          </a:p>
          <a:p>
            <a:pPr>
              <a:lnSpc>
                <a:spcPct val="108000"/>
              </a:lnSpc>
              <a:spcAft>
                <a:spcPts val="500"/>
              </a:spcAft>
            </a:pPr>
            <a:r>
              <a:rPr sz="1300">
                <a:solidFill>
                  <a:srgbClr val="086F69"/>
                </a:solidFill>
              </a:rPr>
              <a:t>▪  </a:t>
            </a:r>
            <a:r>
              <a:rPr sz="1600" b="0">
                <a:solidFill>
                  <a:srgbClr val="152C3C"/>
                </a:solidFill>
                <a:latin typeface="Segoe UI"/>
              </a:rPr>
              <a:t>Rerank trên GPU / mô hình nhỏ hơn; học trọng số hợp nhất</a:t>
            </a:r>
          </a:p>
          <a:p>
            <a:pPr>
              <a:lnSpc>
                <a:spcPct val="108000"/>
              </a:lnSpc>
              <a:spcAft>
                <a:spcPts val="500"/>
              </a:spcAft>
            </a:pPr>
            <a:r>
              <a:rPr sz="1300">
                <a:solidFill>
                  <a:srgbClr val="086F69"/>
                </a:solidFill>
              </a:rPr>
              <a:t>▪  </a:t>
            </a:r>
            <a:r>
              <a:rPr sz="1600" b="0">
                <a:solidFill>
                  <a:srgbClr val="152C3C"/>
                </a:solidFill>
                <a:latin typeface="Segoe UI"/>
              </a:rPr>
              <a:t>Embedding mạnh hơn cho tiếng Việt (BGE-M3)</a:t>
            </a:r>
          </a:p>
          <a:p>
            <a:pPr>
              <a:lnSpc>
                <a:spcPct val="108000"/>
              </a:lnSpc>
              <a:spcAft>
                <a:spcPts val="500"/>
              </a:spcAft>
            </a:pPr>
            <a:r>
              <a:rPr sz="1300">
                <a:solidFill>
                  <a:srgbClr val="086F69"/>
                </a:solidFill>
              </a:rPr>
              <a:t>▪  </a:t>
            </a:r>
            <a:r>
              <a:rPr sz="1600" b="0">
                <a:solidFill>
                  <a:srgbClr val="152C3C"/>
                </a:solidFill>
                <a:latin typeface="Segoe UI"/>
              </a:rPr>
              <a:t>TypeScript + client sinh từ OpenAPI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Rectangle 1"/>
          <p:cNvSpPr/>
          <p:nvPr/>
        </p:nvSpPr>
        <p:spPr>
          <a:xfrm>
            <a:off x="548640" y="502920"/>
            <a:ext cx="73152" cy="868680"/>
          </a:xfrm>
          <a:prstGeom prst="rect">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058400" cy="365760"/>
          </a:xfrm>
          <a:prstGeom prst="rect">
            <a:avLst/>
          </a:prstGeom>
          <a:noFill/>
        </p:spPr>
        <p:txBody>
          <a:bodyPr wrap="square" anchor="t" lIns="45720" rIns="45720" tIns="27432" bIns="27432">
            <a:spAutoFit/>
          </a:bodyPr>
          <a:lstStyle/>
          <a:p>
            <a:pPr algn="l">
              <a:lnSpc>
                <a:spcPct val="110000"/>
              </a:lnSpc>
            </a:pPr>
            <a:r>
              <a:rPr sz="1200" b="1">
                <a:solidFill>
                  <a:srgbClr val="086F69"/>
                </a:solidFill>
                <a:latin typeface="Segoe UI"/>
              </a:rPr>
              <a:t>DEMO</a:t>
            </a:r>
          </a:p>
        </p:txBody>
      </p:sp>
      <p:sp>
        <p:nvSpPr>
          <p:cNvPr id="4" name="TextBox 3"/>
          <p:cNvSpPr txBox="1"/>
          <p:nvPr/>
        </p:nvSpPr>
        <p:spPr>
          <a:xfrm>
            <a:off x="777240" y="713232"/>
            <a:ext cx="10789920" cy="731520"/>
          </a:xfrm>
          <a:prstGeom prst="rect">
            <a:avLst/>
          </a:prstGeom>
          <a:noFill/>
        </p:spPr>
        <p:txBody>
          <a:bodyPr wrap="square" anchor="t" lIns="45720" rIns="45720" tIns="27432" bIns="27432">
            <a:spAutoFit/>
          </a:bodyPr>
          <a:lstStyle/>
          <a:p>
            <a:pPr algn="l">
              <a:lnSpc>
                <a:spcPct val="110000"/>
              </a:lnSpc>
            </a:pPr>
            <a:r>
              <a:rPr sz="3000" b="0">
                <a:solidFill>
                  <a:srgbClr val="152C3C"/>
                </a:solidFill>
                <a:latin typeface="Georgia"/>
              </a:rPr>
              <a:t>Kịch bản demo 7 phút</a:t>
            </a:r>
          </a:p>
        </p:txBody>
      </p:sp>
      <p:sp>
        <p:nvSpPr>
          <p:cNvPr id="5" name="TextBox 4"/>
          <p:cNvSpPr txBox="1"/>
          <p:nvPr/>
        </p:nvSpPr>
        <p:spPr>
          <a:xfrm>
            <a:off x="10881360" y="6400800"/>
            <a:ext cx="914400" cy="274320"/>
          </a:xfrm>
          <a:prstGeom prst="rect">
            <a:avLst/>
          </a:prstGeom>
          <a:noFill/>
        </p:spPr>
        <p:txBody>
          <a:bodyPr wrap="square" anchor="t" lIns="45720" rIns="45720" tIns="27432" bIns="27432">
            <a:spAutoFit/>
          </a:bodyPr>
          <a:lstStyle/>
          <a:p>
            <a:pPr algn="r">
              <a:lnSpc>
                <a:spcPct val="110000"/>
              </a:lnSpc>
            </a:pPr>
            <a:r>
              <a:rPr sz="1100" b="0">
                <a:solidFill>
                  <a:srgbClr val="536774"/>
                </a:solidFill>
                <a:latin typeface="Segoe UI"/>
              </a:rPr>
              <a:t>17</a:t>
            </a:r>
          </a:p>
        </p:txBody>
      </p:sp>
      <p:sp>
        <p:nvSpPr>
          <p:cNvPr id="6" name="TextBox 5"/>
          <p:cNvSpPr txBox="1"/>
          <p:nvPr/>
        </p:nvSpPr>
        <p:spPr>
          <a:xfrm>
            <a:off x="548640" y="6400800"/>
            <a:ext cx="7315200" cy="274320"/>
          </a:xfrm>
          <a:prstGeom prst="rect">
            <a:avLst/>
          </a:prstGeom>
          <a:noFill/>
        </p:spPr>
        <p:txBody>
          <a:bodyPr wrap="square" anchor="t" lIns="45720" rIns="45720" tIns="27432" bIns="27432">
            <a:spAutoFit/>
          </a:bodyPr>
          <a:lstStyle/>
          <a:p>
            <a:pPr algn="l">
              <a:lnSpc>
                <a:spcPct val="110000"/>
              </a:lnSpc>
            </a:pPr>
            <a:r>
              <a:rPr sz="1100" b="0">
                <a:solidFill>
                  <a:srgbClr val="536774"/>
                </a:solidFill>
                <a:latin typeface="Segoe UI"/>
              </a:rPr>
              <a:t>ShopMind · Nhóm 4 · Tìm kiếm thông minh</a:t>
            </a:r>
          </a:p>
        </p:txBody>
      </p:sp>
      <p:sp>
        <p:nvSpPr>
          <p:cNvPr id="7" name="Rounded Rectangle 6"/>
          <p:cNvSpPr/>
          <p:nvPr/>
        </p:nvSpPr>
        <p:spPr>
          <a:xfrm>
            <a:off x="548640" y="1783080"/>
            <a:ext cx="544068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130552"/>
            <a:ext cx="566928" cy="566928"/>
          </a:xfrm>
          <a:prstGeom prst="ellipse">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30552"/>
            <a:ext cx="566928" cy="566928"/>
          </a:xfrm>
          <a:prstGeom prst="rect">
            <a:avLst/>
          </a:prstGeom>
          <a:noFill/>
        </p:spPr>
        <p:txBody>
          <a:bodyPr wrap="square" anchor="ctr" lIns="45720" rIns="45720" tIns="27432" bIns="27432">
            <a:spAutoFit/>
          </a:bodyPr>
          <a:lstStyle/>
          <a:p>
            <a:pPr algn="ctr">
              <a:lnSpc>
                <a:spcPct val="110000"/>
              </a:lnSpc>
            </a:pPr>
            <a:r>
              <a:rPr sz="1800" b="1">
                <a:solidFill>
                  <a:srgbClr val="FFFFFF"/>
                </a:solidFill>
                <a:latin typeface="Segoe UI"/>
              </a:rPr>
              <a:t>1</a:t>
            </a:r>
          </a:p>
        </p:txBody>
      </p:sp>
      <p:sp>
        <p:nvSpPr>
          <p:cNvPr id="10" name="TextBox 9"/>
          <p:cNvSpPr txBox="1"/>
          <p:nvPr/>
        </p:nvSpPr>
        <p:spPr>
          <a:xfrm>
            <a:off x="1554480" y="1965960"/>
            <a:ext cx="4297680" cy="411480"/>
          </a:xfrm>
          <a:prstGeom prst="rect">
            <a:avLst/>
          </a:prstGeom>
          <a:noFill/>
        </p:spPr>
        <p:txBody>
          <a:bodyPr wrap="square" anchor="t" lIns="45720" rIns="45720" tIns="27432" bIns="27432">
            <a:spAutoFit/>
          </a:bodyPr>
          <a:lstStyle/>
          <a:p>
            <a:pPr algn="l">
              <a:lnSpc>
                <a:spcPct val="110000"/>
              </a:lnSpc>
            </a:pPr>
            <a:r>
              <a:rPr sz="1800" b="0">
                <a:solidFill>
                  <a:srgbClr val="152C3C"/>
                </a:solidFill>
                <a:latin typeface="Georgia"/>
              </a:rPr>
              <a:t>Tìm bằng chữ</a:t>
            </a:r>
          </a:p>
        </p:txBody>
      </p:sp>
      <p:sp>
        <p:nvSpPr>
          <p:cNvPr id="11" name="TextBox 10"/>
          <p:cNvSpPr txBox="1"/>
          <p:nvPr/>
        </p:nvSpPr>
        <p:spPr>
          <a:xfrm>
            <a:off x="1554480" y="2423160"/>
            <a:ext cx="4297680" cy="548640"/>
          </a:xfrm>
          <a:prstGeom prst="rect">
            <a:avLst/>
          </a:prstGeom>
          <a:noFill/>
        </p:spPr>
        <p:txBody>
          <a:bodyPr wrap="square" anchor="t" lIns="45720" rIns="45720" tIns="27432" bIns="27432">
            <a:spAutoFit/>
          </a:bodyPr>
          <a:lstStyle/>
          <a:p>
            <a:pPr algn="l">
              <a:lnSpc>
                <a:spcPct val="110000"/>
              </a:lnSpc>
            </a:pPr>
            <a:r>
              <a:rPr sz="1400" b="0">
                <a:solidFill>
                  <a:srgbClr val="536774"/>
                </a:solidFill>
                <a:latin typeface="Segoe UI"/>
              </a:rPr>
              <a:t>“giày bốt da màu nâu” → bộ lọc, gợi ý “Hệ thống hiểu”</a:t>
            </a:r>
          </a:p>
        </p:txBody>
      </p:sp>
      <p:sp>
        <p:nvSpPr>
          <p:cNvPr id="12" name="Rounded Rectangle 11"/>
          <p:cNvSpPr/>
          <p:nvPr/>
        </p:nvSpPr>
        <p:spPr>
          <a:xfrm>
            <a:off x="6172200" y="1783080"/>
            <a:ext cx="544068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00800" y="2130552"/>
            <a:ext cx="566928" cy="566928"/>
          </a:xfrm>
          <a:prstGeom prst="ellipse">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130552"/>
            <a:ext cx="566928" cy="566928"/>
          </a:xfrm>
          <a:prstGeom prst="rect">
            <a:avLst/>
          </a:prstGeom>
          <a:noFill/>
        </p:spPr>
        <p:txBody>
          <a:bodyPr wrap="square" anchor="ctr" lIns="45720" rIns="45720" tIns="27432" bIns="27432">
            <a:spAutoFit/>
          </a:bodyPr>
          <a:lstStyle/>
          <a:p>
            <a:pPr algn="ctr">
              <a:lnSpc>
                <a:spcPct val="110000"/>
              </a:lnSpc>
            </a:pPr>
            <a:r>
              <a:rPr sz="1800" b="1">
                <a:solidFill>
                  <a:srgbClr val="FFFFFF"/>
                </a:solidFill>
                <a:latin typeface="Segoe UI"/>
              </a:rPr>
              <a:t>2</a:t>
            </a:r>
          </a:p>
        </p:txBody>
      </p:sp>
      <p:sp>
        <p:nvSpPr>
          <p:cNvPr id="15" name="TextBox 14"/>
          <p:cNvSpPr txBox="1"/>
          <p:nvPr/>
        </p:nvSpPr>
        <p:spPr>
          <a:xfrm>
            <a:off x="7178040" y="1965960"/>
            <a:ext cx="4297680" cy="411480"/>
          </a:xfrm>
          <a:prstGeom prst="rect">
            <a:avLst/>
          </a:prstGeom>
          <a:noFill/>
        </p:spPr>
        <p:txBody>
          <a:bodyPr wrap="square" anchor="t" lIns="45720" rIns="45720" tIns="27432" bIns="27432">
            <a:spAutoFit/>
          </a:bodyPr>
          <a:lstStyle/>
          <a:p>
            <a:pPr algn="l">
              <a:lnSpc>
                <a:spcPct val="110000"/>
              </a:lnSpc>
            </a:pPr>
            <a:r>
              <a:rPr sz="1800" b="0">
                <a:solidFill>
                  <a:srgbClr val="152C3C"/>
                </a:solidFill>
                <a:latin typeface="Georgia"/>
              </a:rPr>
              <a:t>Ảnh + chữ</a:t>
            </a:r>
          </a:p>
        </p:txBody>
      </p:sp>
      <p:sp>
        <p:nvSpPr>
          <p:cNvPr id="16" name="TextBox 15"/>
          <p:cNvSpPr txBox="1"/>
          <p:nvPr/>
        </p:nvSpPr>
        <p:spPr>
          <a:xfrm>
            <a:off x="7178040" y="2423160"/>
            <a:ext cx="4297680" cy="548640"/>
          </a:xfrm>
          <a:prstGeom prst="rect">
            <a:avLst/>
          </a:prstGeom>
          <a:noFill/>
        </p:spPr>
        <p:txBody>
          <a:bodyPr wrap="square" anchor="t" lIns="45720" rIns="45720" tIns="27432" bIns="27432">
            <a:spAutoFit/>
          </a:bodyPr>
          <a:lstStyle/>
          <a:p>
            <a:pPr algn="l">
              <a:lnSpc>
                <a:spcPct val="110000"/>
              </a:lnSpc>
            </a:pPr>
            <a:r>
              <a:rPr sz="1400" b="0">
                <a:solidFill>
                  <a:srgbClr val="536774"/>
                </a:solidFill>
                <a:latin typeface="Segoe UI"/>
              </a:rPr>
              <a:t>Tải ảnh, gõ “màu đen”, kéo thanh α</a:t>
            </a:r>
          </a:p>
        </p:txBody>
      </p:sp>
      <p:sp>
        <p:nvSpPr>
          <p:cNvPr id="17" name="Rounded Rectangle 16"/>
          <p:cNvSpPr/>
          <p:nvPr/>
        </p:nvSpPr>
        <p:spPr>
          <a:xfrm>
            <a:off x="548640" y="3246120"/>
            <a:ext cx="544068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7240" y="3593592"/>
            <a:ext cx="566928" cy="566928"/>
          </a:xfrm>
          <a:prstGeom prst="ellipse">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593592"/>
            <a:ext cx="566928" cy="566928"/>
          </a:xfrm>
          <a:prstGeom prst="rect">
            <a:avLst/>
          </a:prstGeom>
          <a:noFill/>
        </p:spPr>
        <p:txBody>
          <a:bodyPr wrap="square" anchor="ctr" lIns="45720" rIns="45720" tIns="27432" bIns="27432">
            <a:spAutoFit/>
          </a:bodyPr>
          <a:lstStyle/>
          <a:p>
            <a:pPr algn="ctr">
              <a:lnSpc>
                <a:spcPct val="110000"/>
              </a:lnSpc>
            </a:pPr>
            <a:r>
              <a:rPr sz="1800" b="1">
                <a:solidFill>
                  <a:srgbClr val="FFFFFF"/>
                </a:solidFill>
                <a:latin typeface="Segoe UI"/>
              </a:rPr>
              <a:t>3</a:t>
            </a:r>
          </a:p>
        </p:txBody>
      </p:sp>
      <p:sp>
        <p:nvSpPr>
          <p:cNvPr id="20" name="TextBox 19"/>
          <p:cNvSpPr txBox="1"/>
          <p:nvPr/>
        </p:nvSpPr>
        <p:spPr>
          <a:xfrm>
            <a:off x="1554480" y="3429000"/>
            <a:ext cx="4297680" cy="411480"/>
          </a:xfrm>
          <a:prstGeom prst="rect">
            <a:avLst/>
          </a:prstGeom>
          <a:noFill/>
        </p:spPr>
        <p:txBody>
          <a:bodyPr wrap="square" anchor="t" lIns="45720" rIns="45720" tIns="27432" bIns="27432">
            <a:spAutoFit/>
          </a:bodyPr>
          <a:lstStyle/>
          <a:p>
            <a:pPr algn="l">
              <a:lnSpc>
                <a:spcPct val="110000"/>
              </a:lnSpc>
            </a:pPr>
            <a:r>
              <a:rPr sz="1800" b="0">
                <a:solidFill>
                  <a:srgbClr val="152C3C"/>
                </a:solidFill>
                <a:latin typeface="Georgia"/>
              </a:rPr>
              <a:t>Trợ lý</a:t>
            </a:r>
          </a:p>
        </p:txBody>
      </p:sp>
      <p:sp>
        <p:nvSpPr>
          <p:cNvPr id="21" name="TextBox 20"/>
          <p:cNvSpPr txBox="1"/>
          <p:nvPr/>
        </p:nvSpPr>
        <p:spPr>
          <a:xfrm>
            <a:off x="1554480" y="3886200"/>
            <a:ext cx="4297680" cy="548640"/>
          </a:xfrm>
          <a:prstGeom prst="rect">
            <a:avLst/>
          </a:prstGeom>
          <a:noFill/>
        </p:spPr>
        <p:txBody>
          <a:bodyPr wrap="square" anchor="t" lIns="45720" rIns="45720" tIns="27432" bIns="27432">
            <a:spAutoFit/>
          </a:bodyPr>
          <a:lstStyle/>
          <a:p>
            <a:pPr algn="l">
              <a:lnSpc>
                <a:spcPct val="110000"/>
              </a:lnSpc>
            </a:pPr>
            <a:r>
              <a:rPr sz="1400" b="0">
                <a:solidFill>
                  <a:srgbClr val="536774"/>
                </a:solidFill>
                <a:latin typeface="Segoe UI"/>
              </a:rPr>
              <a:t>Hỏi chính sách đổi trả, hỏi tìm sản phẩm</a:t>
            </a:r>
          </a:p>
        </p:txBody>
      </p:sp>
      <p:sp>
        <p:nvSpPr>
          <p:cNvPr id="22" name="Rounded Rectangle 21"/>
          <p:cNvSpPr/>
          <p:nvPr/>
        </p:nvSpPr>
        <p:spPr>
          <a:xfrm>
            <a:off x="6172200" y="3246120"/>
            <a:ext cx="544068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0" y="3593592"/>
            <a:ext cx="566928" cy="566928"/>
          </a:xfrm>
          <a:prstGeom prst="ellipse">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593592"/>
            <a:ext cx="566928" cy="566928"/>
          </a:xfrm>
          <a:prstGeom prst="rect">
            <a:avLst/>
          </a:prstGeom>
          <a:noFill/>
        </p:spPr>
        <p:txBody>
          <a:bodyPr wrap="square" anchor="ctr" lIns="45720" rIns="45720" tIns="27432" bIns="27432">
            <a:spAutoFit/>
          </a:bodyPr>
          <a:lstStyle/>
          <a:p>
            <a:pPr algn="ctr">
              <a:lnSpc>
                <a:spcPct val="110000"/>
              </a:lnSpc>
            </a:pPr>
            <a:r>
              <a:rPr sz="1800" b="1">
                <a:solidFill>
                  <a:srgbClr val="FFFFFF"/>
                </a:solidFill>
                <a:latin typeface="Segoe UI"/>
              </a:rPr>
              <a:t>4</a:t>
            </a:r>
          </a:p>
        </p:txBody>
      </p:sp>
      <p:sp>
        <p:nvSpPr>
          <p:cNvPr id="25" name="TextBox 24"/>
          <p:cNvSpPr txBox="1"/>
          <p:nvPr/>
        </p:nvSpPr>
        <p:spPr>
          <a:xfrm>
            <a:off x="7178040" y="3429000"/>
            <a:ext cx="4297680" cy="411480"/>
          </a:xfrm>
          <a:prstGeom prst="rect">
            <a:avLst/>
          </a:prstGeom>
          <a:noFill/>
        </p:spPr>
        <p:txBody>
          <a:bodyPr wrap="square" anchor="t" lIns="45720" rIns="45720" tIns="27432" bIns="27432">
            <a:spAutoFit/>
          </a:bodyPr>
          <a:lstStyle/>
          <a:p>
            <a:pPr algn="l">
              <a:lnSpc>
                <a:spcPct val="110000"/>
              </a:lnSpc>
            </a:pPr>
            <a:r>
              <a:rPr sz="1800" b="0">
                <a:solidFill>
                  <a:srgbClr val="152C3C"/>
                </a:solidFill>
                <a:latin typeface="Georgia"/>
              </a:rPr>
              <a:t>So sánh</a:t>
            </a:r>
          </a:p>
        </p:txBody>
      </p:sp>
      <p:sp>
        <p:nvSpPr>
          <p:cNvPr id="26" name="TextBox 25"/>
          <p:cNvSpPr txBox="1"/>
          <p:nvPr/>
        </p:nvSpPr>
        <p:spPr>
          <a:xfrm>
            <a:off x="7178040" y="3886200"/>
            <a:ext cx="4297680" cy="548640"/>
          </a:xfrm>
          <a:prstGeom prst="rect">
            <a:avLst/>
          </a:prstGeom>
          <a:noFill/>
        </p:spPr>
        <p:txBody>
          <a:bodyPr wrap="square" anchor="t" lIns="45720" rIns="45720" tIns="27432" bIns="27432">
            <a:spAutoFit/>
          </a:bodyPr>
          <a:lstStyle/>
          <a:p>
            <a:pPr algn="l">
              <a:lnSpc>
                <a:spcPct val="110000"/>
              </a:lnSpc>
            </a:pPr>
            <a:r>
              <a:rPr sz="1400" b="0">
                <a:solidFill>
                  <a:srgbClr val="536774"/>
                </a:solidFill>
                <a:latin typeface="Segoe UI"/>
              </a:rPr>
              <a:t>Chọn 2–3 sản phẩm, xem bảng và trích dẫn</a:t>
            </a:r>
          </a:p>
        </p:txBody>
      </p:sp>
      <p:sp>
        <p:nvSpPr>
          <p:cNvPr id="27" name="Rounded Rectangle 26"/>
          <p:cNvSpPr/>
          <p:nvPr/>
        </p:nvSpPr>
        <p:spPr>
          <a:xfrm>
            <a:off x="548640" y="4709160"/>
            <a:ext cx="544068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7240" y="5056632"/>
            <a:ext cx="566928" cy="566928"/>
          </a:xfrm>
          <a:prstGeom prst="ellipse">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056632"/>
            <a:ext cx="566928" cy="566928"/>
          </a:xfrm>
          <a:prstGeom prst="rect">
            <a:avLst/>
          </a:prstGeom>
          <a:noFill/>
        </p:spPr>
        <p:txBody>
          <a:bodyPr wrap="square" anchor="ctr" lIns="45720" rIns="45720" tIns="27432" bIns="27432">
            <a:spAutoFit/>
          </a:bodyPr>
          <a:lstStyle/>
          <a:p>
            <a:pPr algn="ctr">
              <a:lnSpc>
                <a:spcPct val="110000"/>
              </a:lnSpc>
            </a:pPr>
            <a:r>
              <a:rPr sz="1800" b="1">
                <a:solidFill>
                  <a:srgbClr val="FFFFFF"/>
                </a:solidFill>
                <a:latin typeface="Segoe UI"/>
              </a:rPr>
              <a:t>5</a:t>
            </a:r>
          </a:p>
        </p:txBody>
      </p:sp>
      <p:sp>
        <p:nvSpPr>
          <p:cNvPr id="30" name="TextBox 29"/>
          <p:cNvSpPr txBox="1"/>
          <p:nvPr/>
        </p:nvSpPr>
        <p:spPr>
          <a:xfrm>
            <a:off x="1554480" y="4892040"/>
            <a:ext cx="4297680" cy="411480"/>
          </a:xfrm>
          <a:prstGeom prst="rect">
            <a:avLst/>
          </a:prstGeom>
          <a:noFill/>
        </p:spPr>
        <p:txBody>
          <a:bodyPr wrap="square" anchor="t" lIns="45720" rIns="45720" tIns="27432" bIns="27432">
            <a:spAutoFit/>
          </a:bodyPr>
          <a:lstStyle/>
          <a:p>
            <a:pPr algn="l">
              <a:lnSpc>
                <a:spcPct val="110000"/>
              </a:lnSpc>
            </a:pPr>
            <a:r>
              <a:rPr sz="1800" b="0">
                <a:solidFill>
                  <a:srgbClr val="152C3C"/>
                </a:solidFill>
                <a:latin typeface="Georgia"/>
              </a:rPr>
              <a:t>Lên kế hoạch</a:t>
            </a:r>
          </a:p>
        </p:txBody>
      </p:sp>
      <p:sp>
        <p:nvSpPr>
          <p:cNvPr id="31" name="TextBox 30"/>
          <p:cNvSpPr txBox="1"/>
          <p:nvPr/>
        </p:nvSpPr>
        <p:spPr>
          <a:xfrm>
            <a:off x="1554480" y="5349240"/>
            <a:ext cx="4297680" cy="548640"/>
          </a:xfrm>
          <a:prstGeom prst="rect">
            <a:avLst/>
          </a:prstGeom>
          <a:noFill/>
        </p:spPr>
        <p:txBody>
          <a:bodyPr wrap="square" anchor="t" lIns="45720" rIns="45720" tIns="27432" bIns="27432">
            <a:spAutoFit/>
          </a:bodyPr>
          <a:lstStyle/>
          <a:p>
            <a:pPr algn="l">
              <a:lnSpc>
                <a:spcPct val="110000"/>
              </a:lnSpc>
            </a:pPr>
            <a:r>
              <a:rPr sz="1400" b="0">
                <a:solidFill>
                  <a:srgbClr val="536774"/>
                </a:solidFill>
                <a:latin typeface="Segoe UI"/>
              </a:rPr>
              <a:t>“Chuyển vào studio, ngân sách 800 đô”</a:t>
            </a:r>
          </a:p>
        </p:txBody>
      </p:sp>
      <p:sp>
        <p:nvSpPr>
          <p:cNvPr id="32" name="Rounded Rectangle 31"/>
          <p:cNvSpPr/>
          <p:nvPr/>
        </p:nvSpPr>
        <p:spPr>
          <a:xfrm>
            <a:off x="6172200" y="4709160"/>
            <a:ext cx="544068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00800" y="5056632"/>
            <a:ext cx="566928" cy="566928"/>
          </a:xfrm>
          <a:prstGeom prst="ellipse">
            <a:avLst/>
          </a:prstGeom>
          <a:solidFill>
            <a:srgbClr val="086F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5056632"/>
            <a:ext cx="566928" cy="566928"/>
          </a:xfrm>
          <a:prstGeom prst="rect">
            <a:avLst/>
          </a:prstGeom>
          <a:noFill/>
        </p:spPr>
        <p:txBody>
          <a:bodyPr wrap="square" anchor="ctr" lIns="45720" rIns="45720" tIns="27432" bIns="27432">
            <a:spAutoFit/>
          </a:bodyPr>
          <a:lstStyle/>
          <a:p>
            <a:pPr algn="ctr">
              <a:lnSpc>
                <a:spcPct val="110000"/>
              </a:lnSpc>
            </a:pPr>
            <a:r>
              <a:rPr sz="1800" b="1">
                <a:solidFill>
                  <a:srgbClr val="FFFFFF"/>
                </a:solidFill>
                <a:latin typeface="Segoe UI"/>
              </a:rPr>
              <a:t>6</a:t>
            </a:r>
          </a:p>
        </p:txBody>
      </p:sp>
      <p:sp>
        <p:nvSpPr>
          <p:cNvPr id="35" name="TextBox 34"/>
          <p:cNvSpPr txBox="1"/>
          <p:nvPr/>
        </p:nvSpPr>
        <p:spPr>
          <a:xfrm>
            <a:off x="7178040" y="4892040"/>
            <a:ext cx="4297680" cy="411480"/>
          </a:xfrm>
          <a:prstGeom prst="rect">
            <a:avLst/>
          </a:prstGeom>
          <a:noFill/>
        </p:spPr>
        <p:txBody>
          <a:bodyPr wrap="square" anchor="t" lIns="45720" rIns="45720" tIns="27432" bIns="27432">
            <a:spAutoFit/>
          </a:bodyPr>
          <a:lstStyle/>
          <a:p>
            <a:pPr algn="l">
              <a:lnSpc>
                <a:spcPct val="110000"/>
              </a:lnSpc>
            </a:pPr>
            <a:r>
              <a:rPr sz="1800" b="0">
                <a:solidFill>
                  <a:srgbClr val="152C3C"/>
                </a:solidFill>
                <a:latin typeface="Georgia"/>
              </a:rPr>
              <a:t>Quản trị</a:t>
            </a:r>
          </a:p>
        </p:txBody>
      </p:sp>
      <p:sp>
        <p:nvSpPr>
          <p:cNvPr id="36" name="TextBox 35"/>
          <p:cNvSpPr txBox="1"/>
          <p:nvPr/>
        </p:nvSpPr>
        <p:spPr>
          <a:xfrm>
            <a:off x="7178040" y="5349240"/>
            <a:ext cx="4297680" cy="548640"/>
          </a:xfrm>
          <a:prstGeom prst="rect">
            <a:avLst/>
          </a:prstGeom>
          <a:noFill/>
        </p:spPr>
        <p:txBody>
          <a:bodyPr wrap="square" anchor="t" lIns="45720" rIns="45720" tIns="27432" bIns="27432">
            <a:spAutoFit/>
          </a:bodyPr>
          <a:lstStyle/>
          <a:p>
            <a:pPr algn="l">
              <a:lnSpc>
                <a:spcPct val="110000"/>
              </a:lnSpc>
            </a:pPr>
            <a:r>
              <a:rPr sz="1400" b="0">
                <a:solidFill>
                  <a:srgbClr val="536774"/>
                </a:solidFill>
                <a:latin typeface="Segoe UI"/>
              </a:rPr>
              <a:t>Đổi thuật toán, mở Inspector, Playground, trace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52C3C"/>
        </a:solidFill>
        <a:effectLst/>
      </p:bgPr>
    </p:bg>
    <p:spTree>
      <p:nvGrpSpPr>
        <p:cNvPr id="1" name=""/>
        <p:cNvGrpSpPr/>
        <p:nvPr/>
      </p:nvGrpSpPr>
      <p:grpSpPr/>
      <p:sp>
        <p:nvSpPr>
          <p:cNvPr id="2" name="TextBox 1"/>
          <p:cNvSpPr txBox="1"/>
          <p:nvPr/>
        </p:nvSpPr>
        <p:spPr>
          <a:xfrm>
            <a:off x="822960" y="2103120"/>
            <a:ext cx="10515600" cy="1097280"/>
          </a:xfrm>
          <a:prstGeom prst="rect">
            <a:avLst/>
          </a:prstGeom>
          <a:noFill/>
        </p:spPr>
        <p:txBody>
          <a:bodyPr wrap="square" anchor="t" lIns="45720" rIns="45720" tIns="27432" bIns="27432">
            <a:spAutoFit/>
          </a:bodyPr>
          <a:lstStyle/>
          <a:p>
            <a:pPr algn="l">
              <a:lnSpc>
                <a:spcPct val="110000"/>
              </a:lnSpc>
            </a:pPr>
            <a:r>
              <a:rPr sz="4000" b="0">
                <a:solidFill>
                  <a:srgbClr val="FFFFFF"/>
                </a:solidFill>
                <a:latin typeface="Georgia"/>
              </a:rPr>
              <a:t>Cảm ơn cô và các bạn đã lắng nghe</a:t>
            </a:r>
          </a:p>
        </p:txBody>
      </p:sp>
      <p:sp>
        <p:nvSpPr>
          <p:cNvPr id="3" name="TextBox 2"/>
          <p:cNvSpPr txBox="1"/>
          <p:nvPr/>
        </p:nvSpPr>
        <p:spPr>
          <a:xfrm>
            <a:off x="822960" y="3291840"/>
            <a:ext cx="10515600" cy="731520"/>
          </a:xfrm>
          <a:prstGeom prst="rect">
            <a:avLst/>
          </a:prstGeom>
          <a:noFill/>
        </p:spPr>
        <p:txBody>
          <a:bodyPr wrap="square" anchor="t" lIns="45720" rIns="45720" tIns="27432" bIns="27432">
            <a:spAutoFit/>
          </a:bodyPr>
          <a:lstStyle/>
          <a:p>
            <a:pPr algn="l">
              <a:lnSpc>
                <a:spcPct val="110000"/>
              </a:lnSpc>
            </a:pPr>
            <a:r>
              <a:rPr sz="2400" b="0">
                <a:solidFill>
                  <a:srgbClr val="9FC9C4"/>
                </a:solidFill>
                <a:latin typeface="Georgia"/>
              </a:rPr>
              <a:t>Hỏi &amp; đáp</a:t>
            </a:r>
          </a:p>
        </p:txBody>
      </p:sp>
      <p:sp>
        <p:nvSpPr>
          <p:cNvPr id="4" name="TextBox 3"/>
          <p:cNvSpPr txBox="1"/>
          <p:nvPr/>
        </p:nvSpPr>
        <p:spPr>
          <a:xfrm>
            <a:off x="822960" y="4846320"/>
            <a:ext cx="10515600" cy="1097280"/>
          </a:xfrm>
          <a:prstGeom prst="rect">
            <a:avLst/>
          </a:prstGeom>
          <a:noFill/>
        </p:spPr>
        <p:txBody>
          <a:bodyPr wrap="square" anchor="t" lIns="45720" rIns="45720" tIns="27432" bIns="27432">
            <a:spAutoFit/>
          </a:bodyPr>
          <a:lstStyle/>
          <a:p>
            <a:pPr algn="l">
              <a:lnSpc>
                <a:spcPct val="140000"/>
              </a:lnSpc>
            </a:pPr>
            <a:r>
              <a:rPr sz="1500" b="0">
                <a:solidFill>
                  <a:srgbClr val="DDE7E4"/>
                </a:solidFill>
                <a:latin typeface="Segoe UI"/>
              </a:rPr>
              <a:t>0,0375 → 0,55  Recall@10 dense  ·  0,7381  nDCG@10 holdout  ·  0,536  nDCG@10 ảnh + chữ</a:t>
            </a:r>
          </a:p>
          <a:p>
            <a:pPr algn="l">
              <a:lnSpc>
                <a:spcPct val="140000"/>
              </a:lnSpc>
            </a:pPr>
            <a:r>
              <a:rPr sz="1500" b="0">
                <a:solidFill>
                  <a:srgbClr val="DDE7E4"/>
                </a:solidFill>
                <a:latin typeface="Segoe UI"/>
              </a:rPr>
              <a:t>Mọi số liệu: api/reports/a1/RESULTS.md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ShopMind – Báo cáo cuối kỳ</dc:title>
  <dc:subject/>
  <dc:creator>Nhóm 4</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