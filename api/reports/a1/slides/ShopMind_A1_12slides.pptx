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9ee3e4d802448b" /><Relationship Type="http://schemas.openxmlformats.org/officeDocument/2006/relationships/extended-properties" Target="/docProps/app.xml" Id="Rda1a3cc2274641a5" /><Relationship Type="http://schemas.openxmlformats.org/officeDocument/2006/relationships/officeDocument" Target="/ppt/presentation.xml" Id="R3816627111044bad" /></Relationships>
</file>

<file path=ppt/presentation.xml><?xml version="1.0" encoding="utf-8"?>
<p:presentation xmlns:p="http://schemas.openxmlformats.org/presentationml/2006/main">
  <p:sldMasterIdLst>
    <p:sldMasterId xmlns:r="http://schemas.openxmlformats.org/officeDocument/2006/relationships" id="2147483648" r:id="R05a539a2a72b47e3"/>
  </p:sldMasterIdLst>
  <p:notesMasterIdLst>
    <p:notesMasterId xmlns:r="http://schemas.openxmlformats.org/officeDocument/2006/relationships" r:id="Rd23f538c41a44d73"/>
  </p:notesMasterIdLst>
  <p:sldIdLst>
    <p:sldId xmlns:r="http://schemas.openxmlformats.org/officeDocument/2006/relationships" id="256" r:id="R83744a0f43c8473e"/>
    <p:sldId xmlns:r="http://schemas.openxmlformats.org/officeDocument/2006/relationships" id="257" r:id="R2d424adb837442cb"/>
    <p:sldId xmlns:r="http://schemas.openxmlformats.org/officeDocument/2006/relationships" id="258" r:id="Ra8c5768bcec04863"/>
    <p:sldId xmlns:r="http://schemas.openxmlformats.org/officeDocument/2006/relationships" id="259" r:id="Rd31905ce36f24587"/>
    <p:sldId xmlns:r="http://schemas.openxmlformats.org/officeDocument/2006/relationships" id="260" r:id="R6c26efd7871e4a6c"/>
    <p:sldId xmlns:r="http://schemas.openxmlformats.org/officeDocument/2006/relationships" id="261" r:id="R44b2458d63524993"/>
    <p:sldId xmlns:r="http://schemas.openxmlformats.org/officeDocument/2006/relationships" id="262" r:id="Rb8a7d2b54bf444a2"/>
    <p:sldId xmlns:r="http://schemas.openxmlformats.org/officeDocument/2006/relationships" id="263" r:id="Rc58e8a18294a4216"/>
    <p:sldId xmlns:r="http://schemas.openxmlformats.org/officeDocument/2006/relationships" id="264" r:id="Rd1e48a7a94eb40ce"/>
    <p:sldId xmlns:r="http://schemas.openxmlformats.org/officeDocument/2006/relationships" id="265" r:id="Rcdab610cf3864f9b"/>
    <p:sldId xmlns:r="http://schemas.openxmlformats.org/officeDocument/2006/relationships" id="266" r:id="R0fd3dbbc5e0b4e77"/>
    <p:sldId xmlns:r="http://schemas.openxmlformats.org/officeDocument/2006/relationships" id="267" r:id="R6557c8fd3aae476c"/>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94268d6eb024b8a" /><Relationship Type="http://schemas.openxmlformats.org/officeDocument/2006/relationships/slideMaster" Target="/ppt/slideMasters/slideMaster1.xml" Id="R05a539a2a72b47e3" /><Relationship Type="http://schemas.openxmlformats.org/officeDocument/2006/relationships/notesMaster" Target="/ppt/notesMasters/notesMaster1.xml" Id="Rd23f538c41a44d73" /><Relationship Type="http://schemas.openxmlformats.org/officeDocument/2006/relationships/presProps" Target="/ppt/presProps.xml" Id="Rb54c953e091c4d76" /><Relationship Type="http://schemas.openxmlformats.org/officeDocument/2006/relationships/viewProps" Target="/ppt/viewProps.xml" Id="Rb9d93beb1a45451f" /><Relationship Type="http://schemas.openxmlformats.org/officeDocument/2006/relationships/tableStyles" Target="/ppt/tableStyles.xml" Id="R41eb8e91b30a4583" /><Relationship Type="http://schemas.openxmlformats.org/officeDocument/2006/relationships/slide" Target="/ppt/slides/slide1.xml" Id="R83744a0f43c8473e" /><Relationship Type="http://schemas.openxmlformats.org/officeDocument/2006/relationships/slide" Target="/ppt/slides/slide2.xml" Id="R2d424adb837442cb" /><Relationship Type="http://schemas.openxmlformats.org/officeDocument/2006/relationships/slide" Target="/ppt/slides/slide3.xml" Id="Ra8c5768bcec04863" /><Relationship Type="http://schemas.openxmlformats.org/officeDocument/2006/relationships/slide" Target="/ppt/slides/slide4.xml" Id="Rd31905ce36f24587" /><Relationship Type="http://schemas.openxmlformats.org/officeDocument/2006/relationships/slide" Target="/ppt/slides/slide5.xml" Id="R6c26efd7871e4a6c" /><Relationship Type="http://schemas.openxmlformats.org/officeDocument/2006/relationships/slide" Target="/ppt/slides/slide6.xml" Id="R44b2458d63524993" /><Relationship Type="http://schemas.openxmlformats.org/officeDocument/2006/relationships/slide" Target="/ppt/slides/slide7.xml" Id="Rb8a7d2b54bf444a2" /><Relationship Type="http://schemas.openxmlformats.org/officeDocument/2006/relationships/slide" Target="/ppt/slides/slide8.xml" Id="Rc58e8a18294a4216" /><Relationship Type="http://schemas.openxmlformats.org/officeDocument/2006/relationships/slide" Target="/ppt/slides/slide9.xml" Id="Rd1e48a7a94eb40ce" /><Relationship Type="http://schemas.openxmlformats.org/officeDocument/2006/relationships/slide" Target="/ppt/slides/slide10.xml" Id="Rcdab610cf3864f9b" /><Relationship Type="http://schemas.openxmlformats.org/officeDocument/2006/relationships/slide" Target="/ppt/slides/slide11.xml" Id="R0fd3dbbc5e0b4e77" /><Relationship Type="http://schemas.openxmlformats.org/officeDocument/2006/relationships/slide" Target="/ppt/slides/slide12.xml" Id="R6557c8fd3aae47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146a8a444045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2a54a8d0fe4439" /><Relationship Type="http://schemas.openxmlformats.org/officeDocument/2006/relationships/notesMaster" Target="/ppt/notesMasters/notesMaster1.xml" Id="Rfff460cd5c8b41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dc9ef35c4a46eb" /><Relationship Type="http://schemas.openxmlformats.org/officeDocument/2006/relationships/notesMaster" Target="/ppt/notesMasters/notesMaster1.xml" Id="R89eeca84c96d40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b40e4c429b46d0" /><Relationship Type="http://schemas.openxmlformats.org/officeDocument/2006/relationships/notesMaster" Target="/ppt/notesMasters/notesMaster1.xml" Id="R6fff6dfb2eb44c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c627279e7249a0" /><Relationship Type="http://schemas.openxmlformats.org/officeDocument/2006/relationships/notesMaster" Target="/ppt/notesMasters/notesMaster1.xml" Id="Rf906660de8b940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83adbed2324b34" /><Relationship Type="http://schemas.openxmlformats.org/officeDocument/2006/relationships/notesMaster" Target="/ppt/notesMasters/notesMaster1.xml" Id="Re40e21d3ea314e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1d098bcf3d4067" /><Relationship Type="http://schemas.openxmlformats.org/officeDocument/2006/relationships/notesMaster" Target="/ppt/notesMasters/notesMaster1.xml" Id="R88d62a742de749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c9f72981c54748" /><Relationship Type="http://schemas.openxmlformats.org/officeDocument/2006/relationships/notesMaster" Target="/ppt/notesMasters/notesMaster1.xml" Id="Rcab0aeb9623b4c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2c92fab1e94e97" /><Relationship Type="http://schemas.openxmlformats.org/officeDocument/2006/relationships/notesMaster" Target="/ppt/notesMasters/notesMaster1.xml" Id="R52f9fc9e40d8493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a7be8404fb84819" /><Relationship Type="http://schemas.openxmlformats.org/officeDocument/2006/relationships/notesMaster" Target="/ppt/notesMasters/notesMaster1.xml" Id="R215812f15ec749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91832e98114165" /><Relationship Type="http://schemas.openxmlformats.org/officeDocument/2006/relationships/notesMaster" Target="/ppt/notesMasters/notesMaster1.xml" Id="Re0449678d4024a8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536184213c4b40" /><Relationship Type="http://schemas.openxmlformats.org/officeDocument/2006/relationships/notesMaster" Target="/ppt/notesMasters/notesMaster1.xml" Id="R1e4cf2544888470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e217ec272b6434b" /><Relationship Type="http://schemas.openxmlformats.org/officeDocument/2006/relationships/notesMaster" Target="/ppt/notesMasters/notesMaster1.xml" Id="Rde70c72c6fc64b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Kính chào cô và các bạn. Nhóm 4 trình bày ShopMind A1 trong môn Tìm kiếm thông minh, Trường Đại học Công nghệ Thông tin, ĐHQG TP.HCM. GVHD: TS. Phạm Đỗ Kim Chi. Thành viên: Trần Văn Quang – 250104022; Nguyễn Minh Thái – 250201090; Trần Khoa – 250104010; Đinh Ngọc Phúc – 26848170. Báo cáo tháng 9/2026. Bài trình bày tập trung vào tầng truy hồi sản phẩm, kết quả thực nghiệm và giới hạn của benchmark.</a:t>
            </a:r>
          </a:p>
          <a:p xmlns:a="http://schemas.openxmlformats.org/drawingml/2006/main">
            <a:r>
              <a:t/>
            </a:r>
          </a:p>
          <a:p xmlns:a="http://schemas.openxmlformats.org/drawingml/2006/main">
            <a:r>
              <a:t>Nguồn: Nhom4_BaoCao-A1.pdf, trang PDF 1 (tính cả bìa/mục lục).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có thể tìm bằng mô tả văn bản hoặc ảnh. Hệ thống trả về một danh sách sản phẩm đã xếp hạng. A1 tập trung hoàn toàn vào retrieval, để đo được đóng góp của từng thành phần trước khi thêm RAG. Câu truy vấn trên slide lấy từ phần giới hạn của báo cáo, chỉ dùng để minh họa loại truy vấn; slide không gắn cho nó một kết quả thực nghiệm mới.</a:t>
            </a:r>
          </a:p>
          <a:p xmlns:a="http://schemas.openxmlformats.org/drawingml/2006/main">
            <a:r>
              <a:t/>
            </a:r>
          </a:p>
          <a:p xmlns:a="http://schemas.openxmlformats.org/drawingml/2006/main">
            <a:r>
              <a:t>Phần offline bắt đầu từ ABO, chuẩn hóa metadata và ảnh, sau đó tạo embedding SigLIP2 cho văn bản và ảnh. Các bản ghi và vector được đưa vào Elasticsearch. Ở phần online, truy vấn văn bản có thể đi qua BM25, kNN trên text vector hoặc kNN trên image vector; truy vấn ảnh đi qua image encoder và image vector. Hybrid trong A1 kết hợp BM25 với dense text bằng RRF. Các chế độ độc lập cũng trả kết quả qua API. Sơ đồ này tổng hợp kiến trúc mô tả trong báo cáo, không đưa phần A2/A3 vào A1.</a:t>
            </a:r>
          </a:p>
          <a:p xmlns:a="http://schemas.openxmlformats.org/drawingml/2006/main">
            <a:r>
              <a:t/>
            </a:r>
          </a:p>
          <a:p xmlns:a="http://schemas.openxmlformats.org/drawingml/2006/main">
            <a:r>
              <a:t>Nguồn: Nhom4_BaoCao-A1.pdf, trang PDF 3–4 (tính cả bìa/mục lục).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 gốc có 147.702 product listings và 398.212 catalog images theo công trình được trích trong báo cáo. A1 sử dụng một tập con 1.500 sản phẩm, 215 category để kiểm soát pipeline và tái lập thí nghiệm. Script loại dữ liệu thiếu các trường bắt buộc, lấy mẫu với seed 42, giới hạn theo category và tải dư ứng viên để thay ảnh lỗi. search_text ghép title, description, brand, category và attributes. Quy mô nhỏ hỗ trợ so sánh nội bộ, nhưng chưa cho phép suy rộng latency sang catalog thương mại lớn.</a:t>
            </a:r>
          </a:p>
          <a:p xmlns:a="http://schemas.openxmlformats.org/drawingml/2006/main">
            <a:r>
              <a:t/>
            </a:r>
          </a:p>
          <a:p xmlns:a="http://schemas.openxmlformats.org/drawingml/2006/main">
            <a:r>
              <a:t>Nguồn: Nhom4_BaoCao-A1.pdf, trang PDF 3–4 (tính cả bìa/mục lục).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Benchmark có 80 truy vấn text và 20 truy vấn ảnh. Các ảnh truy vấn đã được biến đổi nên không trùng byte với ảnh trong index, nhưng vẫn cùng vật thể và gần như cùng góc nhìn. Qrels có đúng 200 cặp: một positive grade 2 và một distractor grade 0 cho mỗi query. Đây là seed labels, chưa hoàn tất review độc lập bởi hai thành viên và adjudication. Các metric phù hợp để so sánh cấu hình trong cùng benchmark, chưa phải ground truth đã được con người xác nhận.</a:t>
            </a:r>
          </a:p>
          <a:p xmlns:a="http://schemas.openxmlformats.org/drawingml/2006/main">
            <a:r>
              <a:t/>
            </a:r>
          </a:p>
          <a:p xmlns:a="http://schemas.openxmlformats.org/drawingml/2006/main">
            <a:r>
              <a:t>Nguồn: Nhom4_BaoCao-A1.pdf, trang PDF 3–4 (tính cả bìa/mục lục).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BM25 truy hồi lexical trên title, brand, category, description, attributes và search_text. Title được boost cao nhất; phrase match và Product ID exact match cũng được ưu tiên. Dense text mã hóa query rồi tìm trên text_vector. Cross-modal dùng cùng query text nhưng tìm trên image_vector. Image dense mã hóa ảnh người dùng và tìm trên image_vector. SigLIP2 là vision-language encoder tổng quát; hiệu quả zero-shot phụ thuộc vào representation, domain và phân bố query.</a:t>
            </a:r>
          </a:p>
          <a:p xmlns:a="http://schemas.openxmlformats.org/drawingml/2006/main">
            <a:r>
              <a:t/>
            </a:r>
          </a:p>
          <a:p xmlns:a="http://schemas.openxmlformats.org/drawingml/2006/main">
            <a:r>
              <a:t>RRF cộng nghịch đảo của hằng số k cộng với rank, với k bằng 60 trong A1. Tài liệu vắng ở một danh sách không nhận đóng góp từ danh sách đó. Nhánh hybrid no RRF là cấu hình đối chứng trong đánh giá: giữ BM25 trước, rồi nối các dense candidate chưa có. Cách đối chứng này giúp phân biệt việc mở rộng tập ứng viên với việc thay đổi thứ hạng. Fusion cần tín hiệu thành phần có chất lượng hoặc bổ sung được lỗi cho nhau; kết quả A1 sẽ kiểm tra điều kiện đó.</a:t>
            </a:r>
          </a:p>
          <a:p xmlns:a="http://schemas.openxmlformats.org/drawingml/2006/main">
            <a:r>
              <a:t/>
            </a:r>
          </a:p>
          <a:p xmlns:a="http://schemas.openxmlformats.org/drawingml/2006/main">
            <a:r>
              <a:t>Nguồn: Nhom4_BaoCao-A1.pdf, trang PDF 4–5 (tính cả bìa/mục lục).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E0 đến E4 được chạy trên cùng 80 text query; E5 chạy riêng trên 20 image query. Giữ candidate_k và top_k, đồng thời tắt reranker để tập trung vào retrieval và fusion. Recall@10 đo tỷ lệ sản phẩm relevant được đưa vào top 10. Vì mỗi query hiện chỉ có một positive, Recall trung bình cũng là tỷ lệ query có target trong top 10. MRR là trung bình nghịch đảo rank của kết quả relevant đầu tiên, bằng 0 nếu không có trong top 10. nDCG dùng gain theo relevance và chiết khấu theo vị trí, chuẩn hóa theo xếp hạng lý tưởng. Latency dùng p50/p95.</a:t>
            </a:r>
          </a:p>
          <a:p xmlns:a="http://schemas.openxmlformats.org/drawingml/2006/main">
            <a:r>
              <a:t/>
            </a:r>
          </a:p>
          <a:p xmlns:a="http://schemas.openxmlformats.org/drawingml/2006/main">
            <a:r>
              <a:t>Nguồn: Nhom4_BaoCao-A1.pdf, trang PDF 5 (tính cả bìa/mục lục).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BM25 đạt Recall 0,4625, nDCG 0,3568 và MRR 0,3249. Dense text và text-to-image đều chỉ đạt Recall 0,0125. Hybrid no RRF giữ nguyên chất lượng BM25; hybrid RRF giảm ở cả ba metric. Các con số chỉ áp dụng cho benchmark hiện tại với qrels dạng seed. Không trộn dòng image dense vào bảng text vì nó dùng một tập truy vấn khác.</a:t>
            </a:r>
          </a:p>
          <a:p xmlns:a="http://schemas.openxmlformats.org/drawingml/2006/main">
            <a:r>
              <a:t/>
            </a:r>
          </a:p>
          <a:p xmlns:a="http://schemas.openxmlformats.org/drawingml/2006/main">
            <a:r>
              <a:t>Nguồn: Nhom4_BaoCao-A1.pdf, trang PDF 5–6 (tính cả bìa/mục lục).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hàng có hai thanh dùng chung trục bắt đầu từ 0: p50 màu teal và p95 màu xanh nhạt. BM25 có p50 25,86 ms và p95 44,82 ms, thấp nhất trong năm cấu hình. Hybrid no RRF mất 67,04/102,53 ms và không cải thiện chất lượng; hybrid RRF mất 65,44/93,54 ms và giảm chất lượng. Tỷ số 65,44 chia 25,86 xấp xỉ 2,53. Đây là latency ở quy mô tập con A1, không phải cam kết hiệu năng production.</a:t>
            </a:r>
          </a:p>
          <a:p xmlns:a="http://schemas.openxmlformats.org/drawingml/2006/main">
            <a:r>
              <a:t/>
            </a:r>
          </a:p>
          <a:p xmlns:a="http://schemas.openxmlformats.org/drawingml/2006/main">
            <a:r>
              <a:t>Nguồn: Nhom4_BaoCao-A1.pdf, trang PDF 5–6 (tính cả bìa/mục lục).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0,0125 nhân với 80 bằng 1 query có target trong top 10; BM25 là 37 query. Hai phép quy đổi trên slide được tính từ số liệu và cấu trúc qrels trong báo cáo, không phải kết quả chạy mới. So với BM25, Recall dense giảm xấp xỉ 97,3%. Báo cáo nêu bốn khả năng: chưa thích nghi domain, representation văn bản dài, tính nhất quán model/preprocessing và benchmark chỉ có một positive. Không kết luận lỗi embedding chỉ dựa vào metric; cần ablation và kiểm tra representation trước.</a:t>
            </a:r>
          </a:p>
          <a:p xmlns:a="http://schemas.openxmlformats.org/drawingml/2006/main">
            <a:r>
              <a:t/>
            </a:r>
          </a:p>
          <a:p xmlns:a="http://schemas.openxmlformats.org/drawingml/2006/main">
            <a:r>
              <a:t>E0 và E3 có cùng cả ba metric. Ở phần lớn query, BM25 đã lấp đầy top 10 nên thêm ứng viên phía sau ít có cơ hội ảnh hưởng. Khi RRF cho nhánh dense tác động lên rank, Recall giảm từ 0,4625 xuống 0,3250: giảm 0,1375 điểm tuyệt đối hoặc khoảng 29,7% tương đối. nDCG và MRR giảm khoảng 48,3% và 56,5%. Đây là bằng chứng trong cấu hình A1 rằng một nhánh dense yếu có thể làm nhiễu fusion; không phải kết luận tổng quát rằng RRF luôn kém.</a:t>
            </a:r>
          </a:p>
          <a:p xmlns:a="http://schemas.openxmlformats.org/drawingml/2006/main">
            <a:r>
              <a:t/>
            </a:r>
          </a:p>
          <a:p xmlns:a="http://schemas.openxmlformats.org/drawingml/2006/main">
            <a:r>
              <a:t>BM25 đạt Recall@10 0,6444 trên 45 query tiếng Anh và 0,2286 trên 35 query tiếng Việt. Đây là phân tích cùng benchmark chứ không phải hai nghiên cứu độc lập. Báo cáo nhắc rằng canonical metadata chủ yếu là tiếng Anh và query tiếng Việt dùng bảng ánh xạ category/màu tương đối nhỏ. Vì thế không nên quy toàn bộ khoảng cách cho thuật toán BM25. Kết luận thận trọng là pipeline hiện có độ tương thích lexical tốt hơn với tiếng Anh.</a:t>
            </a:r>
          </a:p>
          <a:p xmlns:a="http://schemas.openxmlformats.org/drawingml/2006/main">
            <a:r>
              <a:t/>
            </a:r>
          </a:p>
          <a:p xmlns:a="http://schemas.openxmlformats.org/drawingml/2006/main">
            <a:r>
              <a:t>Nguồn: Nhom4_BaoCao-A1.pdf, trang PDF 5–7 (tính cả bìa/mục lục).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Image dense đạt cả ba metric bằng 1 trên 20 ảnh truy vấn. MRR bằng 1 ở đây cũng cho thấy relevant đầu tiên ở rank 1 trong từng query theo qrels hiện có. Kết quả hỗ trợ nhận định pipeline embedding ảnh ổn định trước crop nhẹ, resize, thay contrast và nén JPEG. Query vẫn đến từ cùng ảnh catalog, gần như cùng góc nhìn và background. Vì vậy đây là thử nghiệm robustness trên transformed catalog images, chưa chứng minh kết quả tương đương trên ảnh điện thoại, nền phức tạp hay góc chụp khác. Không so sánh trực tiếp với bảng text như cùng một tập đo.</a:t>
            </a:r>
          </a:p>
          <a:p xmlns:a="http://schemas.openxmlformats.org/drawingml/2006/main">
            <a:r>
              <a:t/>
            </a:r>
          </a:p>
          <a:p xmlns:a="http://schemas.openxmlformats.org/drawingml/2006/main">
            <a:r>
              <a:t>Nguồn: Nhom4_BaoCao-A1.pdf, trang PDF 5–6 (tính cả bìa/mục lục).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Qrels là giới hạn lớn nhất. Với một truy vấn chung, nhiều sản phẩm có thể hợp lý nhưng không được gắn relevance, đặc biệt bất lợi cho semantic retrieval. Cần review độc lập, adjudication và bổ sung grade 1 khi phù hợp. Ablation runner xuất 20 query có nDCG thấp nhất, nhưng nhãn tự gợi ý và trường reviewer_note trống chỉ tạo danh sách để kiểm tra thủ công. Catalog nhỏ và ảnh truy vấn không độc lập cũng hạn chế độ đại diện. Không mô tả những việc còn thiếu trong báo cáo như đã được hoàn tất.</a:t>
            </a:r>
          </a:p>
          <a:p xmlns:a="http://schemas.openxmlformats.org/drawingml/2006/main">
            <a:r>
              <a:t/>
            </a:r>
          </a:p>
          <a:p xmlns:a="http://schemas.openxmlformats.org/drawingml/2006/main">
            <a:r>
              <a:t>Nguồn: Nhom4_BaoCao-A1.pdf, trang PDF 7 (tính cả bìa/mục lục).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Thông điệp kết luận có ba phần. Thứ nhất, A1 đã thiết lập pipeline retrieval end-to-end và khung đánh giá tách thành phần. Thứ hai, BM25 là text baseline tốt nhất ở benchmark hiện tại; dense yếu và RRF giảm chất lượng, trong khi image cần kiểm chứng bằng ảnh độc lập. Thứ ba, ưu tiên chất lượng benchmark và representation trước. Các ablation representation được báo cáo đề xuất gồm title-only, title + brand + category + attributes, và toàn bộ search_text. Sau khi pin model revision và kiểm tra encode đơn lẻ/batch, mới tiếp tục tối ưu candidate window, fusion và reranker. Những bước này là kế hoạch, chưa phải kết quả đã đo.</a:t>
            </a:r>
          </a:p>
          <a:p xmlns:a="http://schemas.openxmlformats.org/drawingml/2006/main">
            <a:r>
              <a:t/>
            </a:r>
          </a:p>
          <a:p xmlns:a="http://schemas.openxmlformats.org/drawingml/2006/main">
            <a:r>
              <a:t>Theo mục 8 của PDF, kiểm tra ngày 19/09/2026 lấy 100 Product ID đầu tiên với query chữ thường. Sau Product ID boost và matching không phân biệt hoa/thường, exact ID top-1 tăng từ 0/100 lên 100/100. Phải tách nó khỏi benchmark 80 text query vì cải thiện tìm định danh không tương đương cải thiện semantic retrieval; báo cáo cho biết các metric BM25 của benchmark không thay đổi.</a:t>
            </a:r>
          </a:p>
          <a:p xmlns:a="http://schemas.openxmlformats.org/drawingml/2006/main">
            <a:r>
              <a:t/>
            </a:r>
          </a:p>
          <a:p xmlns:a="http://schemas.openxmlformats.org/drawingml/2006/main">
            <a:r>
              <a:t>Nguồn chính: Nhom4_BaoCao-A1.pdf, Nhóm 4, tháng 9/2026. [1] Collins et al., ABO, CVPR 2022, DOI 10.1109/CVPR52688.2022.02045. [2] Robertson &amp; Zaragoza, The Probabilistic Relevance Framework: BM25 and Beyond, 2009, DOI 10.1561/1500000019. [3] Karpukhin et al., Dense Passage Retrieval for Open-Domain Question Answering, EMNLP 2020, DOI 10.18653/v1/2020.emnlp-main.550. [4] Zhai et al., Sigmoid Loss for Language Image Pre-Training, ICCV 2023. [5] Tschannen et al., SigLIP 2, arXiv:2502.14786, 2025. [6] Cormack et al., Reciprocal Rank Fusion, SIGIR 2009, DOI 10.1145/1571941.1572114. [7] Järvelin &amp; Kekäläinen, Cumulated Gain-Based Evaluation of IR Techniques, TOIS 2002, DOI 10.1145/582415.582418. [8] Thakur et al., BEIR, NeurIPS Datasets and Benchmarks 2021. [9] AWS Registry of Open Data, Amazon Berkeley Objects Dataset, ngày truy cập theo báo cáo: 29/09/2026. Xem phần ghi chú nguồn trong README; không dùng slide này để suy rộng trạng thái license.</a:t>
            </a:r>
          </a:p>
          <a:p xmlns:a="http://schemas.openxmlformats.org/drawingml/2006/main">
            <a:r>
              <a:t/>
            </a:r>
          </a:p>
          <a:p xmlns:a="http://schemas.openxmlformats.org/drawingml/2006/main">
            <a:r>
              <a:t>Nguồn: Nhom4_BaoCao-A1.pdf, trang PDF 7–9 (tính cả bìa/mục lục).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a6378ea83f497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474df61ed97485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ec04cc6f0a2472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ba0878c80184a4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f9eb29f33fb4ed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6f5abe7456642a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857870b6c4f490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edde7b4df2443a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b6a838f6794473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d3dd2865920449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8ab864df3174c32"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A9E1822-DEC1-449E-B43E-8DC550853566}"/>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1C20642F-C339-49F6-BF48-389D3A2AD62B}"/>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AC27482C-BBEE-4473-8ADF-05A183D336D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B08EBE97-EAF6-4F58-9138-8B377517814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3897165-24E5-455F-A104-E0026777047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DA24ABB-C422-4114-95C9-7F241F05793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BCD72BB-9765-41B0-837D-4EA5C0732F0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069764A-5936-4D4E-B1F5-216C7561EE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E67EDB3-E52D-494A-99BA-3BB72B3EA4E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8A87C75-980C-4139-912B-DFCA0C1CE5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BBDCA90-4978-4763-9B2C-B87B55B5F81C}"/>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2B7BFC7-63E0-4430-A8EE-D4BF68DF248B}"/>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66C7D0CC-8461-4355-BBB5-49E762137B2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26D5BAFA-8511-4630-8B42-548D11DA3AF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84F0516-2630-446D-BCC7-B0C5326B977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042D590-AFD3-45B4-92F5-8F5B44623B8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85A1C8F-E241-419A-B6CD-C14A7B35686F}"/>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6449A2A7-0CBF-483E-B6D8-3C4B1F84A4A2}"/>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CADBE2F2-E9FC-4581-A36B-B26A4AFC26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9AFC580-76FB-4D82-959C-BABEA93AF30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98C5CBD-64F6-467A-A378-9C7593541C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6ADA81-CF5B-42BD-97D9-EDB7045202F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39CE92E-69DB-438D-9F23-A9B6151A5103}"/>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13DA4E4F-C766-4CDD-9626-6F98EF47D42C}"/>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DFB2DC8B-3090-497B-BDC2-C088EA3CEDEA}"/>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093CFAD-CC0B-4AEB-A375-D549D7FF3E5D}"/>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C3768080-3D4A-4214-8CB6-3DA370BBD08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8BC1BE35-38A4-4E63-8FED-138172C67AB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56C3F737-1757-4411-8064-1848728DE37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862E370-9063-42CD-AFB5-837C3F9444B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0DA0F0B4-386F-4300-87C2-2DC2E61DC31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D2F7AAAF-C5E6-44F9-83B7-83BC97D145E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A58245C8-6E52-44BF-B13F-F59C73A90F2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BB5D2C0E-C629-4E58-AE0D-7B3121E9C99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56263FCE-4F19-4C90-8D98-62DFDC0867C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D370173-BFCC-41A1-A0EC-62DFF602581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3011F54-F7D3-4347-B240-C731D571F738}"/>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EDE6932E-9B2F-487A-BB68-8CDF61993D93}"/>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8ECF79FE-D5A1-4979-8722-908510513496}"/>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1B62151D-B874-48C1-B4C4-F385B30F98D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019384FF-E6EA-4A4B-BFD7-CF4B2B5F57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AAA917A-0DB7-4175-B82A-BDEC5E1D4C9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93499F9-134E-49A1-A2D5-6734C87561DA}"/>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C94550AF-0722-4790-A399-79848B8CFADD}"/>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33C1BF09-B94C-4B64-B0D6-49CD4C03DE89}"/>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F7ABA03-955B-4609-8B07-75A75039572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13F70A8D-FDC8-4DE6-A75A-2558ED3AD8B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6FB2044-35D0-4195-8AED-39660FF6BD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482597A-2B0E-440B-B4C0-3CECD5B1CF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7DA8ECFE-88E6-4759-9D87-B05305556E5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B53F7FA-436E-462B-8839-9A7F772804E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E669FB9-3927-4E6E-A02D-D0BCCBEF4F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CED44A4-72ED-4255-B3E7-698104254A6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6EF95368-F48E-4436-8497-1E1466FEA5DC}"/>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40CD3769-F1B4-41EB-A616-4A995D3658E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4EDF1FD-80EB-46E6-8A3E-9D06D93762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D2B27834-F75C-46BA-AC69-A24D7B42AFD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2372BFB-6FFC-49FF-9690-A836EFC1CD5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b6f75e20d24f03" /><Relationship Type="http://schemas.openxmlformats.org/officeDocument/2006/relationships/slideLayout" Target="/ppt/slideLayouts/slideLayout1.xml" Id="R82915103ea1c4f5c" /><Relationship Type="http://schemas.openxmlformats.org/officeDocument/2006/relationships/slideLayout" Target="/ppt/slideLayouts/slideLayout2.xml" Id="R31bff9854cd540d5" /><Relationship Type="http://schemas.openxmlformats.org/officeDocument/2006/relationships/slideLayout" Target="/ppt/slideLayouts/slideLayout3.xml" Id="Rb37b05543e254b89" /><Relationship Type="http://schemas.openxmlformats.org/officeDocument/2006/relationships/slideLayout" Target="/ppt/slideLayouts/slideLayout4.xml" Id="R4d8dbaf043c34e8d" /><Relationship Type="http://schemas.openxmlformats.org/officeDocument/2006/relationships/slideLayout" Target="/ppt/slideLayouts/slideLayout5.xml" Id="R2e428b7ea0b44443" /><Relationship Type="http://schemas.openxmlformats.org/officeDocument/2006/relationships/slideLayout" Target="/ppt/slideLayouts/slideLayout6.xml" Id="R6a1060bc3c584dc7" /><Relationship Type="http://schemas.openxmlformats.org/officeDocument/2006/relationships/slideLayout" Target="/ppt/slideLayouts/slideLayout7.xml" Id="R71a35cb460c543d8" /><Relationship Type="http://schemas.openxmlformats.org/officeDocument/2006/relationships/slideLayout" Target="/ppt/slideLayouts/slideLayout8.xml" Id="R8e4badaf90884a6f" /><Relationship Type="http://schemas.openxmlformats.org/officeDocument/2006/relationships/slideLayout" Target="/ppt/slideLayouts/slideLayout9.xml" Id="R1f9a8cf62fad4e1e" /><Relationship Type="http://schemas.openxmlformats.org/officeDocument/2006/relationships/slideLayout" Target="/ppt/slideLayouts/slideLayout10.xml" Id="R56a43f3b3b8b40a4" /><Relationship Type="http://schemas.openxmlformats.org/officeDocument/2006/relationships/slideLayout" Target="/ppt/slideLayouts/slideLayout11.xml" Id="R769770524c91424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1C6F30C1-6CE5-44B7-9F60-7D23E7EC033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BCD4D66-5FC2-412C-9317-05A311D9607E}"/>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D7FB727-5198-4E60-AAC6-11F2D4AB8F79}"/>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9BC1932-A046-4C6F-9DF6-1F6BF221567F}"/>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B7863E5-5C4E-47B4-9345-39E7DF7AF3AA}"/>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915103ea1c4f5c"/>
    <p:sldLayoutId xmlns:r="http://schemas.openxmlformats.org/officeDocument/2006/relationships" id="2147483650" r:id="R31bff9854cd540d5"/>
    <p:sldLayoutId xmlns:r="http://schemas.openxmlformats.org/officeDocument/2006/relationships" id="2147483651" r:id="Rb37b05543e254b89"/>
    <p:sldLayoutId xmlns:r="http://schemas.openxmlformats.org/officeDocument/2006/relationships" id="2147483652" r:id="R4d8dbaf043c34e8d"/>
    <p:sldLayoutId xmlns:r="http://schemas.openxmlformats.org/officeDocument/2006/relationships" id="2147483653" r:id="R2e428b7ea0b44443"/>
    <p:sldLayoutId xmlns:r="http://schemas.openxmlformats.org/officeDocument/2006/relationships" id="2147483654" r:id="R6a1060bc3c584dc7"/>
    <p:sldLayoutId xmlns:r="http://schemas.openxmlformats.org/officeDocument/2006/relationships" id="2147483655" r:id="R71a35cb460c543d8"/>
    <p:sldLayoutId xmlns:r="http://schemas.openxmlformats.org/officeDocument/2006/relationships" id="2147483656" r:id="R8e4badaf90884a6f"/>
    <p:sldLayoutId xmlns:r="http://schemas.openxmlformats.org/officeDocument/2006/relationships" id="2147483657" r:id="R1f9a8cf62fad4e1e"/>
    <p:sldLayoutId xmlns:r="http://schemas.openxmlformats.org/officeDocument/2006/relationships" id="2147483658" r:id="R56a43f3b3b8b40a4"/>
    <p:sldLayoutId xmlns:r="http://schemas.openxmlformats.org/officeDocument/2006/relationships" id="2147483659" r:id="R769770524c914245"/>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1ddf98730f8841be" /><Relationship Type="http://schemas.openxmlformats.org/officeDocument/2006/relationships/notesSlide" Target="/ppt/notesSlides/notesSlide1.xml" Id="Rb5f84ab9cf9b40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f19aa6edc4df434d" /><Relationship Type="http://schemas.openxmlformats.org/officeDocument/2006/relationships/notesSlide" Target="/ppt/notesSlides/notesSlide2.xml" Id="R96dfd423e36041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47e1f5e4dc6a490e" /><Relationship Type="http://schemas.openxmlformats.org/officeDocument/2006/relationships/notesSlide" Target="/ppt/notesSlides/notesSlide3.xml" Id="Rc0b5ca6a8bc743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6ea85d15ab184c2f" /><Relationship Type="http://schemas.openxmlformats.org/officeDocument/2006/relationships/notesSlide" Target="/ppt/notesSlides/notesSlide4.xml" Id="Rb2c8698197404c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2ab23267c5fc4c06" /><Relationship Type="http://schemas.openxmlformats.org/officeDocument/2006/relationships/notesSlide" Target="/ppt/notesSlides/notesSlide5.xml" Id="R4f3f02b03aee47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e74b821400514e72" /><Relationship Type="http://schemas.openxmlformats.org/officeDocument/2006/relationships/notesSlide" Target="/ppt/notesSlides/notesSlide6.xml" Id="Ra98a163097c5452e"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555e1180b8b44898" /><Relationship Type="http://schemas.openxmlformats.org/officeDocument/2006/relationships/notesSlide" Target="/ppt/notesSlides/notesSlide7.xml" Id="Rc04ed40bdd414c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40e153c3f82143ae" /><Relationship Type="http://schemas.openxmlformats.org/officeDocument/2006/relationships/notesSlide" Target="/ppt/notesSlides/notesSlide8.xml" Id="R6f2b3ec145b84a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1315d5b4b4e1419d" /><Relationship Type="http://schemas.openxmlformats.org/officeDocument/2006/relationships/notesSlide" Target="/ppt/notesSlides/notesSlide9.xml" Id="R7a4d17a98446451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9d185baafcaa41b8" /><Relationship Type="http://schemas.openxmlformats.org/officeDocument/2006/relationships/notesSlide" Target="/ppt/notesSlides/notesSlide10.xml" Id="Rf0f95115115d4fd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85ecec49be4e4e60" /><Relationship Type="http://schemas.openxmlformats.org/officeDocument/2006/relationships/notesSlide" Target="/ppt/notesSlides/notesSlide11.xml" Id="R7099ad76c5e249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916ca31e3eb34944" /><Relationship Type="http://schemas.openxmlformats.org/officeDocument/2006/relationships/notesSlide" Target="/ppt/notesSlides/notesSlide12.xml" Id="R0ce6367fb0f34d96" /></Relationships>
</file>

<file path=ppt/slides/slide1.xml><?xml version="1.0" encoding="utf-8"?>
<p:sld xmlns:p="http://schemas.openxmlformats.org/presentationml/2006/main">
  <p:cSld>
    <p:bg>
      <p:bgPr>
        <a:solidFill xmlns:a="http://schemas.openxmlformats.org/drawingml/2006/main">
          <a:srgbClr val="152C3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8ABF401-6C2A-48C3-B597-EF14C72B3353}"/>
              </a:ext>
            </a:extLst>
          </p:cNvPr>
          <p:cNvSpPr>
            <a:spLocks xmlns:a="http://schemas.openxmlformats.org/drawingml/2006/main" noGrp="1"/>
          </p:cNvSpPr>
          <p:nvPr/>
        </p:nvSpPr>
        <p:spPr>
          <a:xfrm xmlns:a="http://schemas.openxmlformats.org/drawingml/2006/main">
            <a:off x="621792" y="530352"/>
            <a:ext cx="10698480" cy="3200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200" b="1">
                <a:solidFill>
                  <a:srgbClr val="A9C8C5"/>
                </a:solidFill>
                <a:latin typeface="Verdana"/>
                <a:ea typeface="Verdana"/>
                <a:cs typeface="Verdana"/>
              </a:defRPr>
            </a:pPr>
            <a:r>
              <a:t>BÁO CÁO BÀI TẬP 1  /  NHÓM 4  /  THÁNG 9/2026</a:t>
            </a:r>
          </a:p>
        </p:txBody>
      </p:sp>
      <p:sp>
        <p:nvSpPr>
          <p:cNvPr id="3" name="Rectangle 2">
            <a:extLst xmlns:a="http://schemas.openxmlformats.org/drawingml/2006/main">
              <a:ext uri="{FF2B5EF4-FFF2-40B4-BE49-F238E27FC236}">
                <a16:creationId xmlns:a16="http://schemas.microsoft.com/office/drawing/2014/main" id="{B4D7B223-964A-4117-A5C5-4EF687C97388}"/>
              </a:ext>
            </a:extLst>
          </p:cNvPr>
          <p:cNvSpPr>
            <a:spLocks xmlns:a="http://schemas.openxmlformats.org/drawingml/2006/main" noGrp="1"/>
          </p:cNvSpPr>
          <p:nvPr/>
        </p:nvSpPr>
        <p:spPr>
          <a:xfrm xmlns:a="http://schemas.openxmlformats.org/drawingml/2006/main">
            <a:off x="621792" y="932688"/>
            <a:ext cx="10945368" cy="12801"/>
          </a:xfrm>
          <a:prstGeom xmlns:a="http://schemas.openxmlformats.org/drawingml/2006/main" prst="rect">
            <a:avLst/>
          </a:prstGeom>
          <a:solidFill xmlns:a="http://schemas.openxmlformats.org/drawingml/2006/main">
            <a:srgbClr val="53677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19660063-F81D-4EAE-9B34-24FC07EA849C}"/>
              </a:ext>
            </a:extLst>
          </p:cNvPr>
          <p:cNvSpPr>
            <a:spLocks xmlns:a="http://schemas.openxmlformats.org/drawingml/2006/main" noGrp="1"/>
          </p:cNvSpPr>
          <p:nvPr/>
        </p:nvSpPr>
        <p:spPr>
          <a:xfrm xmlns:a="http://schemas.openxmlformats.org/drawingml/2006/main">
            <a:off x="621792" y="1554480"/>
            <a:ext cx="10424160" cy="13716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8200" b="1">
                <a:solidFill>
                  <a:srgbClr val="F5F3ED"/>
                </a:solidFill>
                <a:latin typeface="Georgia"/>
                <a:ea typeface="Georgia"/>
                <a:cs typeface="Georgia"/>
              </a:defRPr>
            </a:pPr>
            <a:r>
              <a:t>ShopMind</a:t>
            </a:r>
          </a:p>
        </p:txBody>
      </p:sp>
      <p:sp>
        <p:nvSpPr>
          <p:cNvPr id="5" name="TextBox 4">
            <a:extLst xmlns:a="http://schemas.openxmlformats.org/drawingml/2006/main">
              <a:ext uri="{FF2B5EF4-FFF2-40B4-BE49-F238E27FC236}">
                <a16:creationId xmlns:a16="http://schemas.microsoft.com/office/drawing/2014/main" id="{2D6AB167-ED9E-42DB-BBF5-D78A3F3A5B7B}"/>
              </a:ext>
            </a:extLst>
          </p:cNvPr>
          <p:cNvSpPr>
            <a:spLocks xmlns:a="http://schemas.openxmlformats.org/drawingml/2006/main" noGrp="1"/>
          </p:cNvSpPr>
          <p:nvPr/>
        </p:nvSpPr>
        <p:spPr>
          <a:xfrm xmlns:a="http://schemas.openxmlformats.org/drawingml/2006/main">
            <a:off x="658368" y="3017520"/>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3000" b="0">
                <a:solidFill>
                  <a:srgbClr val="D7DFDA"/>
                </a:solidFill>
                <a:latin typeface="Verdana"/>
                <a:ea typeface="Verdana"/>
                <a:cs typeface="Verdana"/>
              </a:defRPr>
            </a:pPr>
            <a:r>
              <a:t>Tìm kiếm sản phẩm đa phương thức</a:t>
            </a:r>
          </a:p>
        </p:txBody>
      </p:sp>
      <p:sp>
        <p:nvSpPr>
          <p:cNvPr id="6" name="TextBox 5">
            <a:extLst xmlns:a="http://schemas.openxmlformats.org/drawingml/2006/main">
              <a:ext uri="{FF2B5EF4-FFF2-40B4-BE49-F238E27FC236}">
                <a16:creationId xmlns:a16="http://schemas.microsoft.com/office/drawing/2014/main" id="{1964DD03-B3D4-4F9D-9FC9-FC272E64781B}"/>
              </a:ext>
            </a:extLst>
          </p:cNvPr>
          <p:cNvSpPr>
            <a:spLocks xmlns:a="http://schemas.openxmlformats.org/drawingml/2006/main" noGrp="1"/>
          </p:cNvSpPr>
          <p:nvPr/>
        </p:nvSpPr>
        <p:spPr>
          <a:xfrm xmlns:a="http://schemas.openxmlformats.org/drawingml/2006/main">
            <a:off x="658368" y="4069080"/>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A9C8C5"/>
                </a:solidFill>
                <a:latin typeface="Verdana"/>
                <a:ea typeface="Verdana"/>
                <a:cs typeface="Verdana"/>
              </a:defRPr>
            </a:pPr>
            <a:r>
              <a:t>Môn: Tìm kiếm thông minh · UIT, ĐHQG TP.HCM</a:t>
            </a:r>
          </a:p>
          <a:p xmlns:a="http://schemas.openxmlformats.org/drawingml/2006/main">
            <a:pPr>
              <a:lnSpc>
                <a:spcPct val="120000"/>
              </a:lnSpc>
              <a:spcBef>
                <a:spcPts val="0"/>
              </a:spcBef>
              <a:spcAft>
                <a:spcPts val="500"/>
              </a:spcAft>
              <a:buNone/>
              <a:defRPr sz="1600" b="0">
                <a:solidFill>
                  <a:srgbClr val="A9C8C5"/>
                </a:solidFill>
                <a:latin typeface="Verdana"/>
                <a:ea typeface="Verdana"/>
                <a:cs typeface="Verdana"/>
              </a:defRPr>
            </a:pPr>
            <a:r>
              <a:t>GVHD: TS. Phạm Đỗ Kim Chi</a:t>
            </a:r>
          </a:p>
        </p:txBody>
      </p:sp>
      <p:sp>
        <p:nvSpPr>
          <p:cNvPr id="7" name="Rectangle 6">
            <a:extLst xmlns:a="http://schemas.openxmlformats.org/drawingml/2006/main">
              <a:ext uri="{FF2B5EF4-FFF2-40B4-BE49-F238E27FC236}">
                <a16:creationId xmlns:a16="http://schemas.microsoft.com/office/drawing/2014/main" id="{FF626EF0-C818-4178-9D9A-0C03008D2A42}"/>
              </a:ext>
            </a:extLst>
          </p:cNvPr>
          <p:cNvSpPr>
            <a:spLocks xmlns:a="http://schemas.openxmlformats.org/drawingml/2006/main" noGrp="1"/>
          </p:cNvSpPr>
          <p:nvPr/>
        </p:nvSpPr>
        <p:spPr>
          <a:xfrm xmlns:a="http://schemas.openxmlformats.org/drawingml/2006/main">
            <a:off x="658368" y="5138928"/>
            <a:ext cx="10881360" cy="12801"/>
          </a:xfrm>
          <a:prstGeom xmlns:a="http://schemas.openxmlformats.org/drawingml/2006/main" prst="rect">
            <a:avLst/>
          </a:prstGeom>
          <a:solidFill xmlns:a="http://schemas.openxmlformats.org/drawingml/2006/main">
            <a:srgbClr val="53677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752F51C1-E067-4AC9-BF3A-266F38F6531B}"/>
              </a:ext>
            </a:extLst>
          </p:cNvPr>
          <p:cNvSpPr>
            <a:spLocks xmlns:a="http://schemas.openxmlformats.org/drawingml/2006/main" noGrp="1"/>
          </p:cNvSpPr>
          <p:nvPr/>
        </p:nvSpPr>
        <p:spPr>
          <a:xfrm xmlns:a="http://schemas.openxmlformats.org/drawingml/2006/main">
            <a:off x="658368" y="5394960"/>
            <a:ext cx="2651760" cy="64008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300" b="0">
                <a:solidFill>
                  <a:srgbClr val="D7DFDA"/>
                </a:solidFill>
                <a:latin typeface="Verdana"/>
                <a:ea typeface="Verdana"/>
                <a:cs typeface="Verdana"/>
              </a:defRPr>
            </a:pPr>
            <a:r>
              <a:t>Trần Văn Quang</a:t>
            </a:r>
          </a:p>
          <a:p xmlns:a="http://schemas.openxmlformats.org/drawingml/2006/main">
            <a:pPr>
              <a:lnSpc>
                <a:spcPct val="120000"/>
              </a:lnSpc>
              <a:spcBef>
                <a:spcPts val="0"/>
              </a:spcBef>
              <a:spcAft>
                <a:spcPts val="500"/>
              </a:spcAft>
              <a:buNone/>
              <a:defRPr sz="1300" b="0">
                <a:solidFill>
                  <a:srgbClr val="D7DFDA"/>
                </a:solidFill>
                <a:latin typeface="Verdana"/>
                <a:ea typeface="Verdana"/>
                <a:cs typeface="Verdana"/>
              </a:defRPr>
            </a:pPr>
            <a:r>
              <a:t>250104022</a:t>
            </a:r>
          </a:p>
        </p:txBody>
      </p:sp>
      <p:sp>
        <p:nvSpPr>
          <p:cNvPr id="9" name="TextBox 8">
            <a:extLst xmlns:a="http://schemas.openxmlformats.org/drawingml/2006/main">
              <a:ext uri="{FF2B5EF4-FFF2-40B4-BE49-F238E27FC236}">
                <a16:creationId xmlns:a16="http://schemas.microsoft.com/office/drawing/2014/main" id="{B26786DB-5548-4DCE-BFA9-1CD92D3C4C63}"/>
              </a:ext>
            </a:extLst>
          </p:cNvPr>
          <p:cNvSpPr>
            <a:spLocks xmlns:a="http://schemas.openxmlformats.org/drawingml/2006/main" noGrp="1"/>
          </p:cNvSpPr>
          <p:nvPr/>
        </p:nvSpPr>
        <p:spPr>
          <a:xfrm xmlns:a="http://schemas.openxmlformats.org/drawingml/2006/main">
            <a:off x="3401568" y="5394960"/>
            <a:ext cx="2651760" cy="64008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300" b="0">
                <a:solidFill>
                  <a:srgbClr val="D7DFDA"/>
                </a:solidFill>
                <a:latin typeface="Verdana"/>
                <a:ea typeface="Verdana"/>
                <a:cs typeface="Verdana"/>
              </a:defRPr>
            </a:pPr>
            <a:r>
              <a:t>Nguyễn Minh Thái</a:t>
            </a:r>
          </a:p>
          <a:p xmlns:a="http://schemas.openxmlformats.org/drawingml/2006/main">
            <a:pPr>
              <a:lnSpc>
                <a:spcPct val="120000"/>
              </a:lnSpc>
              <a:spcBef>
                <a:spcPts val="0"/>
              </a:spcBef>
              <a:spcAft>
                <a:spcPts val="500"/>
              </a:spcAft>
              <a:buNone/>
              <a:defRPr sz="1300" b="0">
                <a:solidFill>
                  <a:srgbClr val="D7DFDA"/>
                </a:solidFill>
                <a:latin typeface="Verdana"/>
                <a:ea typeface="Verdana"/>
                <a:cs typeface="Verdana"/>
              </a:defRPr>
            </a:pPr>
            <a:r>
              <a:t>250201090</a:t>
            </a:r>
          </a:p>
        </p:txBody>
      </p:sp>
      <p:sp>
        <p:nvSpPr>
          <p:cNvPr id="10" name="TextBox 9">
            <a:extLst xmlns:a="http://schemas.openxmlformats.org/drawingml/2006/main">
              <a:ext uri="{FF2B5EF4-FFF2-40B4-BE49-F238E27FC236}">
                <a16:creationId xmlns:a16="http://schemas.microsoft.com/office/drawing/2014/main" id="{A09ACCE7-6B1F-414D-973A-731D7C229C85}"/>
              </a:ext>
            </a:extLst>
          </p:cNvPr>
          <p:cNvSpPr>
            <a:spLocks xmlns:a="http://schemas.openxmlformats.org/drawingml/2006/main" noGrp="1"/>
          </p:cNvSpPr>
          <p:nvPr/>
        </p:nvSpPr>
        <p:spPr>
          <a:xfrm xmlns:a="http://schemas.openxmlformats.org/drawingml/2006/main">
            <a:off x="6144768" y="5394960"/>
            <a:ext cx="2651760" cy="64008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300" b="0">
                <a:solidFill>
                  <a:srgbClr val="D7DFDA"/>
                </a:solidFill>
                <a:latin typeface="Verdana"/>
                <a:ea typeface="Verdana"/>
                <a:cs typeface="Verdana"/>
              </a:defRPr>
            </a:pPr>
            <a:r>
              <a:t>Trần Khoa</a:t>
            </a:r>
          </a:p>
          <a:p xmlns:a="http://schemas.openxmlformats.org/drawingml/2006/main">
            <a:pPr>
              <a:lnSpc>
                <a:spcPct val="120000"/>
              </a:lnSpc>
              <a:spcBef>
                <a:spcPts val="0"/>
              </a:spcBef>
              <a:spcAft>
                <a:spcPts val="500"/>
              </a:spcAft>
              <a:buNone/>
              <a:defRPr sz="1300" b="0">
                <a:solidFill>
                  <a:srgbClr val="D7DFDA"/>
                </a:solidFill>
                <a:latin typeface="Verdana"/>
                <a:ea typeface="Verdana"/>
                <a:cs typeface="Verdana"/>
              </a:defRPr>
            </a:pPr>
            <a:r>
              <a:t>250104010</a:t>
            </a:r>
          </a:p>
        </p:txBody>
      </p:sp>
      <p:sp>
        <p:nvSpPr>
          <p:cNvPr id="11" name="TextBox 10">
            <a:extLst xmlns:a="http://schemas.openxmlformats.org/drawingml/2006/main">
              <a:ext uri="{FF2B5EF4-FFF2-40B4-BE49-F238E27FC236}">
                <a16:creationId xmlns:a16="http://schemas.microsoft.com/office/drawing/2014/main" id="{B6AA3A14-88A6-45F5-8AE1-82E417F66B3F}"/>
              </a:ext>
            </a:extLst>
          </p:cNvPr>
          <p:cNvSpPr>
            <a:spLocks xmlns:a="http://schemas.openxmlformats.org/drawingml/2006/main" noGrp="1"/>
          </p:cNvSpPr>
          <p:nvPr/>
        </p:nvSpPr>
        <p:spPr>
          <a:xfrm xmlns:a="http://schemas.openxmlformats.org/drawingml/2006/main">
            <a:off x="8887968" y="5394960"/>
            <a:ext cx="2651760" cy="64008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300" b="0">
                <a:solidFill>
                  <a:srgbClr val="D7DFDA"/>
                </a:solidFill>
                <a:latin typeface="Verdana"/>
                <a:ea typeface="Verdana"/>
                <a:cs typeface="Verdana"/>
              </a:defRPr>
            </a:pPr>
            <a:r>
              <a:t>Đinh Ngọc Phúc</a:t>
            </a:r>
          </a:p>
          <a:p xmlns:a="http://schemas.openxmlformats.org/drawingml/2006/main">
            <a:pPr>
              <a:lnSpc>
                <a:spcPct val="120000"/>
              </a:lnSpc>
              <a:spcBef>
                <a:spcPts val="0"/>
              </a:spcBef>
              <a:spcAft>
                <a:spcPts val="500"/>
              </a:spcAft>
              <a:buNone/>
              <a:defRPr sz="1300" b="0">
                <a:solidFill>
                  <a:srgbClr val="D7DFDA"/>
                </a:solidFill>
                <a:latin typeface="Verdana"/>
                <a:ea typeface="Verdana"/>
                <a:cs typeface="Verdana"/>
              </a:defRPr>
            </a:pPr>
            <a:r>
              <a:t>26848170</a:t>
            </a:r>
          </a:p>
        </p:txBody>
      </p:sp>
      <p:sp>
        <p:nvSpPr>
          <p:cNvPr id="12" name="TextBox 11">
            <a:extLst xmlns:a="http://schemas.openxmlformats.org/drawingml/2006/main">
              <a:ext uri="{FF2B5EF4-FFF2-40B4-BE49-F238E27FC236}">
                <a16:creationId xmlns:a16="http://schemas.microsoft.com/office/drawing/2014/main" id="{B57462B5-4500-4231-98D5-22E54AD1D0AE}"/>
              </a:ext>
            </a:extLst>
          </p:cNvPr>
          <p:cNvSpPr>
            <a:spLocks xmlns:a="http://schemas.openxmlformats.org/drawingml/2006/main" noGrp="1"/>
          </p:cNvSpPr>
          <p:nvPr/>
        </p:nvSpPr>
        <p:spPr>
          <a:xfrm xmlns:a="http://schemas.openxmlformats.org/drawingml/2006/main">
            <a:off x="603504" y="6473952"/>
            <a:ext cx="9875520"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950" b="0">
                <a:solidFill>
                  <a:srgbClr val="A9C8C5"/>
                </a:solidFill>
                <a:latin typeface="Verdana"/>
                <a:ea typeface="Verdana"/>
                <a:cs typeface="Verdana"/>
              </a:defRPr>
            </a:pPr>
            <a:r>
              <a:t>Nguồn: báo cáo Nhóm 4 · PDF tr. 1</a:t>
            </a:r>
          </a:p>
        </p:txBody>
      </p:sp>
      <p:sp>
        <p:nvSpPr>
          <p:cNvPr id="13" name="TextBox 12">
            <a:extLst xmlns:a="http://schemas.openxmlformats.org/drawingml/2006/main">
              <a:ext uri="{FF2B5EF4-FFF2-40B4-BE49-F238E27FC236}">
                <a16:creationId xmlns:a16="http://schemas.microsoft.com/office/drawing/2014/main" id="{47B61E01-C64F-4544-975A-C1DDD99061EF}"/>
              </a:ext>
            </a:extLst>
          </p:cNvPr>
          <p:cNvSpPr>
            <a:spLocks xmlns:a="http://schemas.openxmlformats.org/drawingml/2006/main" noGrp="1"/>
          </p:cNvSpPr>
          <p:nvPr/>
        </p:nvSpPr>
        <p:spPr>
          <a:xfrm xmlns:a="http://schemas.openxmlformats.org/drawingml/2006/main">
            <a:off x="10698480" y="6473952"/>
            <a:ext cx="886968"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r">
              <a:lnSpc>
                <a:spcPct val="120000"/>
              </a:lnSpc>
              <a:spcBef>
                <a:spcPts val="0"/>
              </a:spcBef>
              <a:spcAft>
                <a:spcPts val="500"/>
              </a:spcAft>
              <a:buNone/>
              <a:defRPr sz="950" b="0">
                <a:solidFill>
                  <a:srgbClr val="A9C8C5"/>
                </a:solidFill>
                <a:latin typeface="Verdana"/>
                <a:ea typeface="Verdana"/>
                <a:cs typeface="Verdana"/>
              </a:defRPr>
            </a:pPr>
            <a:r>
              <a:t>01 / 12</a:t>
            </a:r>
          </a:p>
        </p:txBody>
      </p:sp>
    </p:spTree>
    <p:extLst>
      <p:ext uri="{BB962C8B-B14F-4D97-AF65-F5344CB8AC3E}">
        <p14:creationId xmlns:p14="http://schemas.microsoft.com/office/powerpoint/2010/main" val="287903681"/>
      </p:ext>
    </p:extLst>
  </p:cSld>
</p:sld>
</file>

<file path=ppt/slides/slide2.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003442E-B96F-4383-818E-4089C9CC234D}"/>
              </a:ext>
            </a:extLst>
          </p:cNvPr>
          <p:cNvSpPr>
            <a:spLocks xmlns:a="http://schemas.openxmlformats.org/drawingml/2006/main" noGrp="1"/>
          </p:cNvSpPr>
          <p:nvPr/>
        </p:nvSpPr>
        <p:spPr>
          <a:xfrm xmlns:a="http://schemas.openxmlformats.org/drawingml/2006/main">
            <a:off x="603504" y="384048"/>
            <a:ext cx="10972800" cy="2468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50" b="1">
                <a:solidFill>
                  <a:srgbClr val="086F69"/>
                </a:solidFill>
                <a:latin typeface="Verdana"/>
                <a:ea typeface="Verdana"/>
                <a:cs typeface="Verdana"/>
              </a:defRPr>
            </a:pPr>
            <a:r>
              <a:t>01 / KIẾN TRÚC</a:t>
            </a:r>
          </a:p>
        </p:txBody>
      </p:sp>
      <p:sp>
        <p:nvSpPr>
          <p:cNvPr id="3" name="Rectangle 2">
            <a:extLst xmlns:a="http://schemas.openxmlformats.org/drawingml/2006/main">
              <a:ext uri="{FF2B5EF4-FFF2-40B4-BE49-F238E27FC236}">
                <a16:creationId xmlns:a16="http://schemas.microsoft.com/office/drawing/2014/main" id="{1BD22809-F936-46A0-8963-7CFB7E8537E8}"/>
              </a:ext>
            </a:extLst>
          </p:cNvPr>
          <p:cNvSpPr>
            <a:spLocks xmlns:a="http://schemas.openxmlformats.org/drawingml/2006/main" noGrp="1"/>
          </p:cNvSpPr>
          <p:nvPr/>
        </p:nvSpPr>
        <p:spPr>
          <a:xfrm xmlns:a="http://schemas.openxmlformats.org/drawingml/2006/main">
            <a:off x="603504" y="813816"/>
            <a:ext cx="10972800" cy="12801"/>
          </a:xfrm>
          <a:prstGeom xmlns:a="http://schemas.openxmlformats.org/drawingml/2006/main" prst="rect">
            <a:avLst/>
          </a:prstGeom>
          <a:solidFill xmlns:a="http://schemas.openxmlformats.org/drawingml/2006/main">
            <a:srgbClr val="D7DF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D4556D4C-FAA8-437D-891B-2F575BAD4BD1}"/>
              </a:ext>
            </a:extLst>
          </p:cNvPr>
          <p:cNvSpPr>
            <a:spLocks xmlns:a="http://schemas.openxmlformats.org/drawingml/2006/main" noGrp="1"/>
          </p:cNvSpPr>
          <p:nvPr/>
        </p:nvSpPr>
        <p:spPr>
          <a:xfrm xmlns:a="http://schemas.openxmlformats.org/drawingml/2006/main">
            <a:off x="603504" y="1005840"/>
            <a:ext cx="10972800" cy="9692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3200" b="1">
                <a:solidFill>
                  <a:srgbClr val="152C3C"/>
                </a:solidFill>
                <a:latin typeface="Georgia"/>
                <a:ea typeface="Georgia"/>
                <a:cs typeface="Georgia"/>
              </a:defRPr>
            </a:pPr>
            <a:r>
              <a:t>Hai nhánh truy hồi, một catalog</a:t>
            </a:r>
          </a:p>
        </p:txBody>
      </p:sp>
      <p:sp>
        <p:nvSpPr>
          <p:cNvPr id="5" name="TextBox 4">
            <a:extLst xmlns:a="http://schemas.openxmlformats.org/drawingml/2006/main">
              <a:ext uri="{FF2B5EF4-FFF2-40B4-BE49-F238E27FC236}">
                <a16:creationId xmlns:a16="http://schemas.microsoft.com/office/drawing/2014/main" id="{2D0D5281-A84F-450F-89D7-3CF98E859E03}"/>
              </a:ext>
            </a:extLst>
          </p:cNvPr>
          <p:cNvSpPr>
            <a:spLocks xmlns:a="http://schemas.openxmlformats.org/drawingml/2006/main" noGrp="1"/>
          </p:cNvSpPr>
          <p:nvPr/>
        </p:nvSpPr>
        <p:spPr>
          <a:xfrm xmlns:a="http://schemas.openxmlformats.org/drawingml/2006/main">
            <a:off x="603504" y="1874519"/>
            <a:ext cx="10972800" cy="4297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0">
                <a:solidFill>
                  <a:srgbClr val="536774"/>
                </a:solidFill>
                <a:latin typeface="Verdana"/>
                <a:ea typeface="Verdana"/>
                <a:cs typeface="Verdana"/>
              </a:defRPr>
            </a:pPr>
            <a:r>
              <a:t>Truy vấn text/ảnh, trả top-k sản phẩm. A1 tập trung vào retrieval.</a:t>
            </a:r>
          </a:p>
        </p:txBody>
      </p:sp>
      <p:sp>
        <p:nvSpPr>
          <p:cNvPr id="6" name="TextBox 5">
            <a:extLst xmlns:a="http://schemas.openxmlformats.org/drawingml/2006/main">
              <a:ext uri="{FF2B5EF4-FFF2-40B4-BE49-F238E27FC236}">
                <a16:creationId xmlns:a16="http://schemas.microsoft.com/office/drawing/2014/main" id="{777CBBD7-92C8-4B56-A8DE-91DC394C76B5}"/>
              </a:ext>
            </a:extLst>
          </p:cNvPr>
          <p:cNvSpPr>
            <a:spLocks xmlns:a="http://schemas.openxmlformats.org/drawingml/2006/main" noGrp="1"/>
          </p:cNvSpPr>
          <p:nvPr/>
        </p:nvSpPr>
        <p:spPr>
          <a:xfrm xmlns:a="http://schemas.openxmlformats.org/drawingml/2006/main">
            <a:off x="603504" y="2377440"/>
            <a:ext cx="10972800" cy="18288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00" b="1">
                <a:solidFill>
                  <a:srgbClr val="086F69"/>
                </a:solidFill>
                <a:latin typeface="Verdana"/>
                <a:ea typeface="Verdana"/>
                <a:cs typeface="Verdana"/>
              </a:defRPr>
            </a:pPr>
            <a:r>
              <a:t>OFFLINE</a:t>
            </a:r>
          </a:p>
        </p:txBody>
      </p:sp>
      <p:sp>
        <p:nvSpPr>
          <p:cNvPr id="7" name="Rectangle 6">
            <a:extLst xmlns:a="http://schemas.openxmlformats.org/drawingml/2006/main">
              <a:ext uri="{FF2B5EF4-FFF2-40B4-BE49-F238E27FC236}">
                <a16:creationId xmlns:a16="http://schemas.microsoft.com/office/drawing/2014/main" id="{C32DB7AF-0070-4EF3-B805-58C5C002C126}"/>
              </a:ext>
            </a:extLst>
          </p:cNvPr>
          <p:cNvSpPr>
            <a:spLocks xmlns:a="http://schemas.openxmlformats.org/drawingml/2006/main" noGrp="1"/>
          </p:cNvSpPr>
          <p:nvPr/>
        </p:nvSpPr>
        <p:spPr>
          <a:xfrm xmlns:a="http://schemas.openxmlformats.org/drawingml/2006/main">
            <a:off x="603504" y="2651760"/>
            <a:ext cx="2487168" cy="960120"/>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F619B191-23AC-4B88-B211-B2495EDC0070}"/>
              </a:ext>
            </a:extLst>
          </p:cNvPr>
          <p:cNvSpPr>
            <a:spLocks xmlns:a="http://schemas.openxmlformats.org/drawingml/2006/main" noGrp="1"/>
          </p:cNvSpPr>
          <p:nvPr/>
        </p:nvSpPr>
        <p:spPr>
          <a:xfrm xmlns:a="http://schemas.openxmlformats.org/drawingml/2006/main">
            <a:off x="713232" y="2834640"/>
            <a:ext cx="2267712"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lnSpc>
                <a:spcPct val="120000"/>
              </a:lnSpc>
              <a:spcBef>
                <a:spcPts val="0"/>
              </a:spcBef>
              <a:spcAft>
                <a:spcPts val="500"/>
              </a:spcAft>
              <a:buNone/>
              <a:defRPr sz="1800" b="1">
                <a:solidFill>
                  <a:srgbClr val="152C3C"/>
                </a:solidFill>
                <a:latin typeface="Verdana"/>
                <a:ea typeface="Verdana"/>
                <a:cs typeface="Verdana"/>
              </a:defRPr>
            </a:pPr>
            <a:r>
              <a:t>ABO</a:t>
            </a:r>
          </a:p>
        </p:txBody>
      </p:sp>
      <p:sp>
        <p:nvSpPr>
          <p:cNvPr id="9" name="TextBox 8">
            <a:extLst xmlns:a="http://schemas.openxmlformats.org/drawingml/2006/main">
              <a:ext uri="{FF2B5EF4-FFF2-40B4-BE49-F238E27FC236}">
                <a16:creationId xmlns:a16="http://schemas.microsoft.com/office/drawing/2014/main" id="{FF8F4658-2959-4532-ADC9-B757AF791FD4}"/>
              </a:ext>
            </a:extLst>
          </p:cNvPr>
          <p:cNvSpPr>
            <a:spLocks xmlns:a="http://schemas.openxmlformats.org/drawingml/2006/main" noGrp="1"/>
          </p:cNvSpPr>
          <p:nvPr/>
        </p:nvSpPr>
        <p:spPr>
          <a:xfrm xmlns:a="http://schemas.openxmlformats.org/drawingml/2006/main">
            <a:off x="694944" y="3246120"/>
            <a:ext cx="2304288" cy="2468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lnSpc>
                <a:spcPct val="120000"/>
              </a:lnSpc>
              <a:spcBef>
                <a:spcPts val="0"/>
              </a:spcBef>
              <a:spcAft>
                <a:spcPts val="500"/>
              </a:spcAft>
              <a:buNone/>
              <a:defRPr sz="1120" b="0">
                <a:solidFill>
                  <a:srgbClr val="536774"/>
                </a:solidFill>
                <a:latin typeface="Verdana"/>
                <a:ea typeface="Verdana"/>
                <a:cs typeface="Verdana"/>
              </a:defRPr>
            </a:pPr>
            <a:r>
              <a:t>metadata + ảnh</a:t>
            </a:r>
          </a:p>
        </p:txBody>
      </p:sp>
      <p:sp>
        <p:nvSpPr>
          <p:cNvPr id="10" name="TextBox 9">
            <a:extLst xmlns:a="http://schemas.openxmlformats.org/drawingml/2006/main">
              <a:ext uri="{FF2B5EF4-FFF2-40B4-BE49-F238E27FC236}">
                <a16:creationId xmlns:a16="http://schemas.microsoft.com/office/drawing/2014/main" id="{6E0D0970-26F3-4DDD-AA84-925D70C0C784}"/>
              </a:ext>
            </a:extLst>
          </p:cNvPr>
          <p:cNvSpPr>
            <a:spLocks xmlns:a="http://schemas.openxmlformats.org/drawingml/2006/main" noGrp="1"/>
          </p:cNvSpPr>
          <p:nvPr/>
        </p:nvSpPr>
        <p:spPr>
          <a:xfrm xmlns:a="http://schemas.openxmlformats.org/drawingml/2006/main">
            <a:off x="3163824" y="2971800"/>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700" b="0">
                <a:solidFill>
                  <a:srgbClr val="086F69"/>
                </a:solidFill>
                <a:latin typeface="Verdana"/>
                <a:ea typeface="Verdana"/>
                <a:cs typeface="Verdana"/>
              </a:defRPr>
            </a:pPr>
            <a:r>
              <a:t>→</a:t>
            </a:r>
          </a:p>
        </p:txBody>
      </p:sp>
      <p:sp>
        <p:nvSpPr>
          <p:cNvPr id="11" name="Rectangle 10">
            <a:extLst xmlns:a="http://schemas.openxmlformats.org/drawingml/2006/main">
              <a:ext uri="{FF2B5EF4-FFF2-40B4-BE49-F238E27FC236}">
                <a16:creationId xmlns:a16="http://schemas.microsoft.com/office/drawing/2014/main" id="{EFE6A781-AE23-4C3E-9515-D365036F45E1}"/>
              </a:ext>
            </a:extLst>
          </p:cNvPr>
          <p:cNvSpPr>
            <a:spLocks xmlns:a="http://schemas.openxmlformats.org/drawingml/2006/main" noGrp="1"/>
          </p:cNvSpPr>
          <p:nvPr/>
        </p:nvSpPr>
        <p:spPr>
          <a:xfrm xmlns:a="http://schemas.openxmlformats.org/drawingml/2006/main">
            <a:off x="3429000" y="2651760"/>
            <a:ext cx="2487168" cy="960120"/>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EE4EF108-CDC0-477C-940E-B2251C7020B4}"/>
              </a:ext>
            </a:extLst>
          </p:cNvPr>
          <p:cNvSpPr>
            <a:spLocks xmlns:a="http://schemas.openxmlformats.org/drawingml/2006/main" noGrp="1"/>
          </p:cNvSpPr>
          <p:nvPr/>
        </p:nvSpPr>
        <p:spPr>
          <a:xfrm xmlns:a="http://schemas.openxmlformats.org/drawingml/2006/main">
            <a:off x="3538728" y="2834640"/>
            <a:ext cx="2267712"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lnSpc>
                <a:spcPct val="120000"/>
              </a:lnSpc>
              <a:spcBef>
                <a:spcPts val="0"/>
              </a:spcBef>
              <a:spcAft>
                <a:spcPts val="500"/>
              </a:spcAft>
              <a:buNone/>
              <a:defRPr sz="1800" b="1">
                <a:solidFill>
                  <a:srgbClr val="152C3C"/>
                </a:solidFill>
                <a:latin typeface="Verdana"/>
                <a:ea typeface="Verdana"/>
                <a:cs typeface="Verdana"/>
              </a:defRPr>
            </a:pPr>
            <a:r>
              <a:t>Chuẩn hóa</a:t>
            </a:r>
          </a:p>
        </p:txBody>
      </p:sp>
      <p:sp>
        <p:nvSpPr>
          <p:cNvPr id="13" name="TextBox 12">
            <a:extLst xmlns:a="http://schemas.openxmlformats.org/drawingml/2006/main">
              <a:ext uri="{FF2B5EF4-FFF2-40B4-BE49-F238E27FC236}">
                <a16:creationId xmlns:a16="http://schemas.microsoft.com/office/drawing/2014/main" id="{7A857917-D63F-40F6-9D79-F88EEDBCAAF0}"/>
              </a:ext>
            </a:extLst>
          </p:cNvPr>
          <p:cNvSpPr>
            <a:spLocks xmlns:a="http://schemas.openxmlformats.org/drawingml/2006/main" noGrp="1"/>
          </p:cNvSpPr>
          <p:nvPr/>
        </p:nvSpPr>
        <p:spPr>
          <a:xfrm xmlns:a="http://schemas.openxmlformats.org/drawingml/2006/main">
            <a:off x="3520440" y="3246120"/>
            <a:ext cx="2304288" cy="2468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lnSpc>
                <a:spcPct val="120000"/>
              </a:lnSpc>
              <a:spcBef>
                <a:spcPts val="0"/>
              </a:spcBef>
              <a:spcAft>
                <a:spcPts val="500"/>
              </a:spcAft>
              <a:buNone/>
              <a:defRPr sz="1120" b="0">
                <a:solidFill>
                  <a:srgbClr val="536774"/>
                </a:solidFill>
                <a:latin typeface="Verdana"/>
                <a:ea typeface="Verdana"/>
                <a:cs typeface="Verdana"/>
              </a:defRPr>
            </a:pPr>
            <a:r>
              <a:t>catalog chung</a:t>
            </a:r>
          </a:p>
        </p:txBody>
      </p:sp>
      <p:sp>
        <p:nvSpPr>
          <p:cNvPr id="14" name="TextBox 13">
            <a:extLst xmlns:a="http://schemas.openxmlformats.org/drawingml/2006/main">
              <a:ext uri="{FF2B5EF4-FFF2-40B4-BE49-F238E27FC236}">
                <a16:creationId xmlns:a16="http://schemas.microsoft.com/office/drawing/2014/main" id="{AD45B821-085F-4EC5-8BE7-383938C63C2C}"/>
              </a:ext>
            </a:extLst>
          </p:cNvPr>
          <p:cNvSpPr>
            <a:spLocks xmlns:a="http://schemas.openxmlformats.org/drawingml/2006/main" noGrp="1"/>
          </p:cNvSpPr>
          <p:nvPr/>
        </p:nvSpPr>
        <p:spPr>
          <a:xfrm xmlns:a="http://schemas.openxmlformats.org/drawingml/2006/main">
            <a:off x="5989320" y="2971800"/>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700" b="0">
                <a:solidFill>
                  <a:srgbClr val="086F69"/>
                </a:solidFill>
                <a:latin typeface="Verdana"/>
                <a:ea typeface="Verdana"/>
                <a:cs typeface="Verdana"/>
              </a:defRPr>
            </a:pPr>
            <a:r>
              <a:t>→</a:t>
            </a:r>
          </a:p>
        </p:txBody>
      </p:sp>
      <p:sp>
        <p:nvSpPr>
          <p:cNvPr id="15" name="Rectangle 14">
            <a:extLst xmlns:a="http://schemas.openxmlformats.org/drawingml/2006/main">
              <a:ext uri="{FF2B5EF4-FFF2-40B4-BE49-F238E27FC236}">
                <a16:creationId xmlns:a16="http://schemas.microsoft.com/office/drawing/2014/main" id="{8B56FDDE-91D1-4650-B15F-3F599C5E2898}"/>
              </a:ext>
            </a:extLst>
          </p:cNvPr>
          <p:cNvSpPr>
            <a:spLocks xmlns:a="http://schemas.openxmlformats.org/drawingml/2006/main" noGrp="1"/>
          </p:cNvSpPr>
          <p:nvPr/>
        </p:nvSpPr>
        <p:spPr>
          <a:xfrm xmlns:a="http://schemas.openxmlformats.org/drawingml/2006/main">
            <a:off x="6254496" y="2651760"/>
            <a:ext cx="2487168" cy="960120"/>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35CF90EE-D123-41ED-9AD2-CA0E259F5C92}"/>
              </a:ext>
            </a:extLst>
          </p:cNvPr>
          <p:cNvSpPr>
            <a:spLocks xmlns:a="http://schemas.openxmlformats.org/drawingml/2006/main" noGrp="1"/>
          </p:cNvSpPr>
          <p:nvPr/>
        </p:nvSpPr>
        <p:spPr>
          <a:xfrm xmlns:a="http://schemas.openxmlformats.org/drawingml/2006/main">
            <a:off x="6364224" y="2834640"/>
            <a:ext cx="2267712"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lnSpc>
                <a:spcPct val="120000"/>
              </a:lnSpc>
              <a:spcBef>
                <a:spcPts val="0"/>
              </a:spcBef>
              <a:spcAft>
                <a:spcPts val="500"/>
              </a:spcAft>
              <a:buNone/>
              <a:defRPr sz="1800" b="1">
                <a:solidFill>
                  <a:srgbClr val="152C3C"/>
                </a:solidFill>
                <a:latin typeface="Verdana"/>
                <a:ea typeface="Verdana"/>
                <a:cs typeface="Verdana"/>
              </a:defRPr>
            </a:pPr>
            <a:r>
              <a:t>SigLIP2</a:t>
            </a:r>
          </a:p>
        </p:txBody>
      </p:sp>
      <p:sp>
        <p:nvSpPr>
          <p:cNvPr id="17" name="TextBox 16">
            <a:extLst xmlns:a="http://schemas.openxmlformats.org/drawingml/2006/main">
              <a:ext uri="{FF2B5EF4-FFF2-40B4-BE49-F238E27FC236}">
                <a16:creationId xmlns:a16="http://schemas.microsoft.com/office/drawing/2014/main" id="{AC8FB944-BEBD-454C-A981-1167E0C1EEC5}"/>
              </a:ext>
            </a:extLst>
          </p:cNvPr>
          <p:cNvSpPr>
            <a:spLocks xmlns:a="http://schemas.openxmlformats.org/drawingml/2006/main" noGrp="1"/>
          </p:cNvSpPr>
          <p:nvPr/>
        </p:nvSpPr>
        <p:spPr>
          <a:xfrm xmlns:a="http://schemas.openxmlformats.org/drawingml/2006/main">
            <a:off x="6345936" y="3246120"/>
            <a:ext cx="2304288" cy="2468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lnSpc>
                <a:spcPct val="120000"/>
              </a:lnSpc>
              <a:spcBef>
                <a:spcPts val="0"/>
              </a:spcBef>
              <a:spcAft>
                <a:spcPts val="500"/>
              </a:spcAft>
              <a:buNone/>
              <a:defRPr sz="1120" b="0">
                <a:solidFill>
                  <a:srgbClr val="536774"/>
                </a:solidFill>
                <a:latin typeface="Verdana"/>
                <a:ea typeface="Verdana"/>
                <a:cs typeface="Verdana"/>
              </a:defRPr>
            </a:pPr>
            <a:r>
              <a:t>text + image vectors</a:t>
            </a:r>
          </a:p>
        </p:txBody>
      </p:sp>
      <p:sp>
        <p:nvSpPr>
          <p:cNvPr id="18" name="TextBox 17">
            <a:extLst xmlns:a="http://schemas.openxmlformats.org/drawingml/2006/main">
              <a:ext uri="{FF2B5EF4-FFF2-40B4-BE49-F238E27FC236}">
                <a16:creationId xmlns:a16="http://schemas.microsoft.com/office/drawing/2014/main" id="{EE58D2B1-6A97-4B71-92AA-5906E16F96B4}"/>
              </a:ext>
            </a:extLst>
          </p:cNvPr>
          <p:cNvSpPr>
            <a:spLocks xmlns:a="http://schemas.openxmlformats.org/drawingml/2006/main" noGrp="1"/>
          </p:cNvSpPr>
          <p:nvPr/>
        </p:nvSpPr>
        <p:spPr>
          <a:xfrm xmlns:a="http://schemas.openxmlformats.org/drawingml/2006/main">
            <a:off x="8814816" y="2971800"/>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700" b="0">
                <a:solidFill>
                  <a:srgbClr val="086F69"/>
                </a:solidFill>
                <a:latin typeface="Verdana"/>
                <a:ea typeface="Verdana"/>
                <a:cs typeface="Verdana"/>
              </a:defRPr>
            </a:pPr>
            <a:r>
              <a:t>→</a:t>
            </a:r>
          </a:p>
        </p:txBody>
      </p:sp>
      <p:sp>
        <p:nvSpPr>
          <p:cNvPr id="19" name="Rectangle 18">
            <a:extLst xmlns:a="http://schemas.openxmlformats.org/drawingml/2006/main">
              <a:ext uri="{FF2B5EF4-FFF2-40B4-BE49-F238E27FC236}">
                <a16:creationId xmlns:a16="http://schemas.microsoft.com/office/drawing/2014/main" id="{325BBF11-A236-417B-A324-65DD4F1EFC39}"/>
              </a:ext>
            </a:extLst>
          </p:cNvPr>
          <p:cNvSpPr>
            <a:spLocks xmlns:a="http://schemas.openxmlformats.org/drawingml/2006/main" noGrp="1"/>
          </p:cNvSpPr>
          <p:nvPr/>
        </p:nvSpPr>
        <p:spPr>
          <a:xfrm xmlns:a="http://schemas.openxmlformats.org/drawingml/2006/main">
            <a:off x="9079992" y="2651760"/>
            <a:ext cx="2487168" cy="960120"/>
          </a:xfrm>
          <a:prstGeom xmlns:a="http://schemas.openxmlformats.org/drawingml/2006/main" prst="rect">
            <a:avLst/>
          </a:prstGeom>
          <a:solidFill xmlns:a="http://schemas.openxmlformats.org/drawingml/2006/main">
            <a:srgbClr val="E6EDE8"/>
          </a:solidFill>
          <a:ln xmlns:a="http://schemas.openxmlformats.org/drawingml/2006/main" w="8890">
            <a:solidFill>
              <a:srgbClr val="086F6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4D5F9D43-FDF6-4913-A7FB-B92286AF9264}"/>
              </a:ext>
            </a:extLst>
          </p:cNvPr>
          <p:cNvSpPr>
            <a:spLocks xmlns:a="http://schemas.openxmlformats.org/drawingml/2006/main" noGrp="1"/>
          </p:cNvSpPr>
          <p:nvPr/>
        </p:nvSpPr>
        <p:spPr>
          <a:xfrm xmlns:a="http://schemas.openxmlformats.org/drawingml/2006/main">
            <a:off x="9189719" y="2834640"/>
            <a:ext cx="2267712"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lnSpc>
                <a:spcPct val="120000"/>
              </a:lnSpc>
              <a:spcBef>
                <a:spcPts val="0"/>
              </a:spcBef>
              <a:spcAft>
                <a:spcPts val="500"/>
              </a:spcAft>
              <a:buNone/>
              <a:defRPr sz="1800" b="1">
                <a:solidFill>
                  <a:srgbClr val="086F69"/>
                </a:solidFill>
                <a:latin typeface="Verdana"/>
                <a:ea typeface="Verdana"/>
                <a:cs typeface="Verdana"/>
              </a:defRPr>
            </a:pPr>
            <a:r>
              <a:t>Elasticsearch</a:t>
            </a:r>
          </a:p>
        </p:txBody>
      </p:sp>
      <p:sp>
        <p:nvSpPr>
          <p:cNvPr id="21" name="TextBox 20">
            <a:extLst xmlns:a="http://schemas.openxmlformats.org/drawingml/2006/main">
              <a:ext uri="{FF2B5EF4-FFF2-40B4-BE49-F238E27FC236}">
                <a16:creationId xmlns:a16="http://schemas.microsoft.com/office/drawing/2014/main" id="{BDA85CFA-278E-41EF-A1F3-5572A1364FDF}"/>
              </a:ext>
            </a:extLst>
          </p:cNvPr>
          <p:cNvSpPr>
            <a:spLocks xmlns:a="http://schemas.openxmlformats.org/drawingml/2006/main" noGrp="1"/>
          </p:cNvSpPr>
          <p:nvPr/>
        </p:nvSpPr>
        <p:spPr>
          <a:xfrm xmlns:a="http://schemas.openxmlformats.org/drawingml/2006/main">
            <a:off x="9171432" y="3246120"/>
            <a:ext cx="2304288" cy="2468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lnSpc>
                <a:spcPct val="120000"/>
              </a:lnSpc>
              <a:spcBef>
                <a:spcPts val="0"/>
              </a:spcBef>
              <a:spcAft>
                <a:spcPts val="500"/>
              </a:spcAft>
              <a:buNone/>
              <a:defRPr sz="1120" b="0">
                <a:solidFill>
                  <a:srgbClr val="536774"/>
                </a:solidFill>
                <a:latin typeface="Verdana"/>
                <a:ea typeface="Verdana"/>
                <a:cs typeface="Verdana"/>
              </a:defRPr>
            </a:pPr>
            <a:r>
              <a:t>metadata + vectors</a:t>
            </a:r>
          </a:p>
        </p:txBody>
      </p:sp>
      <p:sp>
        <p:nvSpPr>
          <p:cNvPr id="22" name="TextBox 21">
            <a:extLst xmlns:a="http://schemas.openxmlformats.org/drawingml/2006/main">
              <a:ext uri="{FF2B5EF4-FFF2-40B4-BE49-F238E27FC236}">
                <a16:creationId xmlns:a16="http://schemas.microsoft.com/office/drawing/2014/main" id="{1D29FC88-C965-4EDB-9621-D1ECA5322B24}"/>
              </a:ext>
            </a:extLst>
          </p:cNvPr>
          <p:cNvSpPr>
            <a:spLocks xmlns:a="http://schemas.openxmlformats.org/drawingml/2006/main" noGrp="1"/>
          </p:cNvSpPr>
          <p:nvPr/>
        </p:nvSpPr>
        <p:spPr>
          <a:xfrm xmlns:a="http://schemas.openxmlformats.org/drawingml/2006/main">
            <a:off x="603504" y="3931920"/>
            <a:ext cx="10972800" cy="18288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00" b="1">
                <a:solidFill>
                  <a:srgbClr val="086F69"/>
                </a:solidFill>
                <a:latin typeface="Verdana"/>
                <a:ea typeface="Verdana"/>
                <a:cs typeface="Verdana"/>
              </a:defRPr>
            </a:pPr>
            <a:r>
              <a:t>ONLINE</a:t>
            </a:r>
          </a:p>
        </p:txBody>
      </p:sp>
      <p:sp>
        <p:nvSpPr>
          <p:cNvPr id="23" name="Rectangle 22">
            <a:extLst xmlns:a="http://schemas.openxmlformats.org/drawingml/2006/main">
              <a:ext uri="{FF2B5EF4-FFF2-40B4-BE49-F238E27FC236}">
                <a16:creationId xmlns:a16="http://schemas.microsoft.com/office/drawing/2014/main" id="{2EFEEFCE-2445-4B43-8A0A-6FE1D1975B08}"/>
              </a:ext>
            </a:extLst>
          </p:cNvPr>
          <p:cNvSpPr>
            <a:spLocks xmlns:a="http://schemas.openxmlformats.org/drawingml/2006/main" noGrp="1"/>
          </p:cNvSpPr>
          <p:nvPr/>
        </p:nvSpPr>
        <p:spPr>
          <a:xfrm xmlns:a="http://schemas.openxmlformats.org/drawingml/2006/main">
            <a:off x="603504" y="4206240"/>
            <a:ext cx="2487168" cy="960120"/>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48605B7B-B9BA-46BB-B584-FB0F023314D6}"/>
              </a:ext>
            </a:extLst>
          </p:cNvPr>
          <p:cNvSpPr>
            <a:spLocks xmlns:a="http://schemas.openxmlformats.org/drawingml/2006/main" noGrp="1"/>
          </p:cNvSpPr>
          <p:nvPr/>
        </p:nvSpPr>
        <p:spPr>
          <a:xfrm xmlns:a="http://schemas.openxmlformats.org/drawingml/2006/main">
            <a:off x="713232" y="4389120"/>
            <a:ext cx="2267712"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lnSpc>
                <a:spcPct val="120000"/>
              </a:lnSpc>
              <a:spcBef>
                <a:spcPts val="0"/>
              </a:spcBef>
              <a:spcAft>
                <a:spcPts val="500"/>
              </a:spcAft>
              <a:buNone/>
              <a:defRPr sz="1800" b="1">
                <a:solidFill>
                  <a:srgbClr val="152C3C"/>
                </a:solidFill>
                <a:latin typeface="Verdana"/>
                <a:ea typeface="Verdana"/>
                <a:cs typeface="Verdana"/>
              </a:defRPr>
            </a:pPr>
            <a:r>
              <a:t>Text / ảnh</a:t>
            </a:r>
          </a:p>
        </p:txBody>
      </p:sp>
      <p:sp>
        <p:nvSpPr>
          <p:cNvPr id="25" name="TextBox 24">
            <a:extLst xmlns:a="http://schemas.openxmlformats.org/drawingml/2006/main">
              <a:ext uri="{FF2B5EF4-FFF2-40B4-BE49-F238E27FC236}">
                <a16:creationId xmlns:a16="http://schemas.microsoft.com/office/drawing/2014/main" id="{5F00651E-291C-47BF-A33F-3E120DEE805F}"/>
              </a:ext>
            </a:extLst>
          </p:cNvPr>
          <p:cNvSpPr>
            <a:spLocks xmlns:a="http://schemas.openxmlformats.org/drawingml/2006/main" noGrp="1"/>
          </p:cNvSpPr>
          <p:nvPr/>
        </p:nvSpPr>
        <p:spPr>
          <a:xfrm xmlns:a="http://schemas.openxmlformats.org/drawingml/2006/main">
            <a:off x="694944" y="4800600"/>
            <a:ext cx="2304288" cy="2468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lnSpc>
                <a:spcPct val="120000"/>
              </a:lnSpc>
              <a:spcBef>
                <a:spcPts val="0"/>
              </a:spcBef>
              <a:spcAft>
                <a:spcPts val="500"/>
              </a:spcAft>
              <a:buNone/>
              <a:defRPr sz="1120" b="0">
                <a:solidFill>
                  <a:srgbClr val="536774"/>
                </a:solidFill>
                <a:latin typeface="Verdana"/>
                <a:ea typeface="Verdana"/>
                <a:cs typeface="Verdana"/>
              </a:defRPr>
            </a:pPr>
            <a:r>
              <a:t>truy vấn người dùng</a:t>
            </a:r>
          </a:p>
        </p:txBody>
      </p:sp>
      <p:sp>
        <p:nvSpPr>
          <p:cNvPr id="26" name="TextBox 25">
            <a:extLst xmlns:a="http://schemas.openxmlformats.org/drawingml/2006/main">
              <a:ext uri="{FF2B5EF4-FFF2-40B4-BE49-F238E27FC236}">
                <a16:creationId xmlns:a16="http://schemas.microsoft.com/office/drawing/2014/main" id="{60544111-CF67-49D7-828F-0CA26EA321EB}"/>
              </a:ext>
            </a:extLst>
          </p:cNvPr>
          <p:cNvSpPr>
            <a:spLocks xmlns:a="http://schemas.openxmlformats.org/drawingml/2006/main" noGrp="1"/>
          </p:cNvSpPr>
          <p:nvPr/>
        </p:nvSpPr>
        <p:spPr>
          <a:xfrm xmlns:a="http://schemas.openxmlformats.org/drawingml/2006/main">
            <a:off x="3163824" y="4526279"/>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700" b="0">
                <a:solidFill>
                  <a:srgbClr val="086F69"/>
                </a:solidFill>
                <a:latin typeface="Verdana"/>
                <a:ea typeface="Verdana"/>
                <a:cs typeface="Verdana"/>
              </a:defRPr>
            </a:pPr>
            <a:r>
              <a:t>→</a:t>
            </a:r>
          </a:p>
        </p:txBody>
      </p:sp>
      <p:sp>
        <p:nvSpPr>
          <p:cNvPr id="27" name="Rectangle 26">
            <a:extLst xmlns:a="http://schemas.openxmlformats.org/drawingml/2006/main">
              <a:ext uri="{FF2B5EF4-FFF2-40B4-BE49-F238E27FC236}">
                <a16:creationId xmlns:a16="http://schemas.microsoft.com/office/drawing/2014/main" id="{AD289B23-8519-4058-8ABE-76230E084284}"/>
              </a:ext>
            </a:extLst>
          </p:cNvPr>
          <p:cNvSpPr>
            <a:spLocks xmlns:a="http://schemas.openxmlformats.org/drawingml/2006/main" noGrp="1"/>
          </p:cNvSpPr>
          <p:nvPr/>
        </p:nvSpPr>
        <p:spPr>
          <a:xfrm xmlns:a="http://schemas.openxmlformats.org/drawingml/2006/main">
            <a:off x="3429000" y="4206240"/>
            <a:ext cx="2487168" cy="960120"/>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314F2890-E5F4-4E98-A40B-3AE78F887F3A}"/>
              </a:ext>
            </a:extLst>
          </p:cNvPr>
          <p:cNvSpPr>
            <a:spLocks xmlns:a="http://schemas.openxmlformats.org/drawingml/2006/main" noGrp="1"/>
          </p:cNvSpPr>
          <p:nvPr/>
        </p:nvSpPr>
        <p:spPr>
          <a:xfrm xmlns:a="http://schemas.openxmlformats.org/drawingml/2006/main">
            <a:off x="3538728" y="4389120"/>
            <a:ext cx="2267712"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lnSpc>
                <a:spcPct val="120000"/>
              </a:lnSpc>
              <a:spcBef>
                <a:spcPts val="0"/>
              </a:spcBef>
              <a:spcAft>
                <a:spcPts val="500"/>
              </a:spcAft>
              <a:buNone/>
              <a:defRPr sz="1800" b="1">
                <a:solidFill>
                  <a:srgbClr val="152C3C"/>
                </a:solidFill>
                <a:latin typeface="Verdana"/>
                <a:ea typeface="Verdana"/>
                <a:cs typeface="Verdana"/>
              </a:defRPr>
            </a:pPr>
            <a:r>
              <a:t>BM25 / kNN</a:t>
            </a:r>
          </a:p>
        </p:txBody>
      </p:sp>
      <p:sp>
        <p:nvSpPr>
          <p:cNvPr id="29" name="TextBox 28">
            <a:extLst xmlns:a="http://schemas.openxmlformats.org/drawingml/2006/main">
              <a:ext uri="{FF2B5EF4-FFF2-40B4-BE49-F238E27FC236}">
                <a16:creationId xmlns:a16="http://schemas.microsoft.com/office/drawing/2014/main" id="{1BCC05C7-5A6F-4BEE-B99E-9E44E378F768}"/>
              </a:ext>
            </a:extLst>
          </p:cNvPr>
          <p:cNvSpPr>
            <a:spLocks xmlns:a="http://schemas.openxmlformats.org/drawingml/2006/main" noGrp="1"/>
          </p:cNvSpPr>
          <p:nvPr/>
        </p:nvSpPr>
        <p:spPr>
          <a:xfrm xmlns:a="http://schemas.openxmlformats.org/drawingml/2006/main">
            <a:off x="3520440" y="4800600"/>
            <a:ext cx="2304288" cy="2468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lnSpc>
                <a:spcPct val="120000"/>
              </a:lnSpc>
              <a:spcBef>
                <a:spcPts val="0"/>
              </a:spcBef>
              <a:spcAft>
                <a:spcPts val="500"/>
              </a:spcAft>
              <a:buNone/>
              <a:defRPr sz="1120" b="0">
                <a:solidFill>
                  <a:srgbClr val="536774"/>
                </a:solidFill>
                <a:latin typeface="Verdana"/>
                <a:ea typeface="Verdana"/>
                <a:cs typeface="Verdana"/>
              </a:defRPr>
            </a:pPr>
            <a:r>
              <a:t>text_vector / image_vector</a:t>
            </a:r>
          </a:p>
        </p:txBody>
      </p:sp>
      <p:sp>
        <p:nvSpPr>
          <p:cNvPr id="30" name="TextBox 29">
            <a:extLst xmlns:a="http://schemas.openxmlformats.org/drawingml/2006/main">
              <a:ext uri="{FF2B5EF4-FFF2-40B4-BE49-F238E27FC236}">
                <a16:creationId xmlns:a16="http://schemas.microsoft.com/office/drawing/2014/main" id="{7FF7B61B-C5C2-45B9-8185-7ACCCC05B4EE}"/>
              </a:ext>
            </a:extLst>
          </p:cNvPr>
          <p:cNvSpPr>
            <a:spLocks xmlns:a="http://schemas.openxmlformats.org/drawingml/2006/main" noGrp="1"/>
          </p:cNvSpPr>
          <p:nvPr/>
        </p:nvSpPr>
        <p:spPr>
          <a:xfrm xmlns:a="http://schemas.openxmlformats.org/drawingml/2006/main">
            <a:off x="5989320" y="4526279"/>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700" b="0">
                <a:solidFill>
                  <a:srgbClr val="086F69"/>
                </a:solidFill>
                <a:latin typeface="Verdana"/>
                <a:ea typeface="Verdana"/>
                <a:cs typeface="Verdana"/>
              </a:defRPr>
            </a:pPr>
            <a:r>
              <a:t>→</a:t>
            </a:r>
          </a:p>
        </p:txBody>
      </p:sp>
      <p:sp>
        <p:nvSpPr>
          <p:cNvPr id="31" name="Rectangle 30">
            <a:extLst xmlns:a="http://schemas.openxmlformats.org/drawingml/2006/main">
              <a:ext uri="{FF2B5EF4-FFF2-40B4-BE49-F238E27FC236}">
                <a16:creationId xmlns:a16="http://schemas.microsoft.com/office/drawing/2014/main" id="{C32762A7-BFDA-45DF-9266-E4B6D277ED38}"/>
              </a:ext>
            </a:extLst>
          </p:cNvPr>
          <p:cNvSpPr>
            <a:spLocks xmlns:a="http://schemas.openxmlformats.org/drawingml/2006/main" noGrp="1"/>
          </p:cNvSpPr>
          <p:nvPr/>
        </p:nvSpPr>
        <p:spPr>
          <a:xfrm xmlns:a="http://schemas.openxmlformats.org/drawingml/2006/main">
            <a:off x="6254496" y="4206240"/>
            <a:ext cx="2487168" cy="960120"/>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CE1E8B0F-750B-4828-90C6-3869CEF67B49}"/>
              </a:ext>
            </a:extLst>
          </p:cNvPr>
          <p:cNvSpPr>
            <a:spLocks xmlns:a="http://schemas.openxmlformats.org/drawingml/2006/main" noGrp="1"/>
          </p:cNvSpPr>
          <p:nvPr/>
        </p:nvSpPr>
        <p:spPr>
          <a:xfrm xmlns:a="http://schemas.openxmlformats.org/drawingml/2006/main">
            <a:off x="6364224" y="4389120"/>
            <a:ext cx="2267712"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lnSpc>
                <a:spcPct val="120000"/>
              </a:lnSpc>
              <a:spcBef>
                <a:spcPts val="0"/>
              </a:spcBef>
              <a:spcAft>
                <a:spcPts val="500"/>
              </a:spcAft>
              <a:buNone/>
              <a:defRPr sz="1800" b="1">
                <a:solidFill>
                  <a:srgbClr val="152C3C"/>
                </a:solidFill>
                <a:latin typeface="Verdana"/>
                <a:ea typeface="Verdana"/>
                <a:cs typeface="Verdana"/>
              </a:defRPr>
            </a:pPr>
            <a:r>
              <a:t>Độc lập / RRF</a:t>
            </a:r>
          </a:p>
        </p:txBody>
      </p:sp>
      <p:sp>
        <p:nvSpPr>
          <p:cNvPr id="33" name="TextBox 32">
            <a:extLst xmlns:a="http://schemas.openxmlformats.org/drawingml/2006/main">
              <a:ext uri="{FF2B5EF4-FFF2-40B4-BE49-F238E27FC236}">
                <a16:creationId xmlns:a16="http://schemas.microsoft.com/office/drawing/2014/main" id="{B0FA2929-9076-4167-813E-F05363A38639}"/>
              </a:ext>
            </a:extLst>
          </p:cNvPr>
          <p:cNvSpPr>
            <a:spLocks xmlns:a="http://schemas.openxmlformats.org/drawingml/2006/main" noGrp="1"/>
          </p:cNvSpPr>
          <p:nvPr/>
        </p:nvSpPr>
        <p:spPr>
          <a:xfrm xmlns:a="http://schemas.openxmlformats.org/drawingml/2006/main">
            <a:off x="6345936" y="4800600"/>
            <a:ext cx="2304288" cy="2468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lnSpc>
                <a:spcPct val="120000"/>
              </a:lnSpc>
              <a:spcBef>
                <a:spcPts val="0"/>
              </a:spcBef>
              <a:spcAft>
                <a:spcPts val="500"/>
              </a:spcAft>
              <a:buNone/>
              <a:defRPr sz="1120" b="0">
                <a:solidFill>
                  <a:srgbClr val="536774"/>
                </a:solidFill>
                <a:latin typeface="Verdana"/>
                <a:ea typeface="Verdana"/>
                <a:cs typeface="Verdana"/>
              </a:defRPr>
            </a:pPr>
            <a:r>
              <a:t>Hybrid: BM25 + dense text</a:t>
            </a:r>
          </a:p>
        </p:txBody>
      </p:sp>
      <p:sp>
        <p:nvSpPr>
          <p:cNvPr id="34" name="TextBox 33">
            <a:extLst xmlns:a="http://schemas.openxmlformats.org/drawingml/2006/main">
              <a:ext uri="{FF2B5EF4-FFF2-40B4-BE49-F238E27FC236}">
                <a16:creationId xmlns:a16="http://schemas.microsoft.com/office/drawing/2014/main" id="{E7E67FF5-F308-410B-9B9A-3DF8F9988C7B}"/>
              </a:ext>
            </a:extLst>
          </p:cNvPr>
          <p:cNvSpPr>
            <a:spLocks xmlns:a="http://schemas.openxmlformats.org/drawingml/2006/main" noGrp="1"/>
          </p:cNvSpPr>
          <p:nvPr/>
        </p:nvSpPr>
        <p:spPr>
          <a:xfrm xmlns:a="http://schemas.openxmlformats.org/drawingml/2006/main">
            <a:off x="8814816" y="4526279"/>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700" b="0">
                <a:solidFill>
                  <a:srgbClr val="086F69"/>
                </a:solidFill>
                <a:latin typeface="Verdana"/>
                <a:ea typeface="Verdana"/>
                <a:cs typeface="Verdana"/>
              </a:defRPr>
            </a:pPr>
            <a:r>
              <a:t>→</a:t>
            </a:r>
          </a:p>
        </p:txBody>
      </p:sp>
      <p:sp>
        <p:nvSpPr>
          <p:cNvPr id="35" name="Rectangle 34">
            <a:extLst xmlns:a="http://schemas.openxmlformats.org/drawingml/2006/main">
              <a:ext uri="{FF2B5EF4-FFF2-40B4-BE49-F238E27FC236}">
                <a16:creationId xmlns:a16="http://schemas.microsoft.com/office/drawing/2014/main" id="{717CCEAD-5C89-441B-ACC0-C9A2D6861197}"/>
              </a:ext>
            </a:extLst>
          </p:cNvPr>
          <p:cNvSpPr>
            <a:spLocks xmlns:a="http://schemas.openxmlformats.org/drawingml/2006/main" noGrp="1"/>
          </p:cNvSpPr>
          <p:nvPr/>
        </p:nvSpPr>
        <p:spPr>
          <a:xfrm xmlns:a="http://schemas.openxmlformats.org/drawingml/2006/main">
            <a:off x="9079992" y="4206240"/>
            <a:ext cx="2487168" cy="960120"/>
          </a:xfrm>
          <a:prstGeom xmlns:a="http://schemas.openxmlformats.org/drawingml/2006/main" prst="rect">
            <a:avLst/>
          </a:prstGeom>
          <a:solidFill xmlns:a="http://schemas.openxmlformats.org/drawingml/2006/main">
            <a:srgbClr val="E6EDE8"/>
          </a:solidFill>
          <a:ln xmlns:a="http://schemas.openxmlformats.org/drawingml/2006/main" w="8890">
            <a:solidFill>
              <a:srgbClr val="086F6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TextBox 35">
            <a:extLst xmlns:a="http://schemas.openxmlformats.org/drawingml/2006/main">
              <a:ext uri="{FF2B5EF4-FFF2-40B4-BE49-F238E27FC236}">
                <a16:creationId xmlns:a16="http://schemas.microsoft.com/office/drawing/2014/main" id="{5A204700-B627-489D-8A68-CFBDA3B2BFF2}"/>
              </a:ext>
            </a:extLst>
          </p:cNvPr>
          <p:cNvSpPr>
            <a:spLocks xmlns:a="http://schemas.openxmlformats.org/drawingml/2006/main" noGrp="1"/>
          </p:cNvSpPr>
          <p:nvPr/>
        </p:nvSpPr>
        <p:spPr>
          <a:xfrm xmlns:a="http://schemas.openxmlformats.org/drawingml/2006/main">
            <a:off x="9189719" y="4389120"/>
            <a:ext cx="2267712"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lnSpc>
                <a:spcPct val="120000"/>
              </a:lnSpc>
              <a:spcBef>
                <a:spcPts val="0"/>
              </a:spcBef>
              <a:spcAft>
                <a:spcPts val="500"/>
              </a:spcAft>
              <a:buNone/>
              <a:defRPr sz="1800" b="1">
                <a:solidFill>
                  <a:srgbClr val="086F69"/>
                </a:solidFill>
                <a:latin typeface="Verdana"/>
                <a:ea typeface="Verdana"/>
                <a:cs typeface="Verdana"/>
              </a:defRPr>
            </a:pPr>
            <a:r>
              <a:t>API → top-k</a:t>
            </a:r>
          </a:p>
        </p:txBody>
      </p:sp>
      <p:sp>
        <p:nvSpPr>
          <p:cNvPr id="37" name="TextBox 36">
            <a:extLst xmlns:a="http://schemas.openxmlformats.org/drawingml/2006/main">
              <a:ext uri="{FF2B5EF4-FFF2-40B4-BE49-F238E27FC236}">
                <a16:creationId xmlns:a16="http://schemas.microsoft.com/office/drawing/2014/main" id="{F91C1A0F-FDD9-4914-8DD4-98028489918D}"/>
              </a:ext>
            </a:extLst>
          </p:cNvPr>
          <p:cNvSpPr>
            <a:spLocks xmlns:a="http://schemas.openxmlformats.org/drawingml/2006/main" noGrp="1"/>
          </p:cNvSpPr>
          <p:nvPr/>
        </p:nvSpPr>
        <p:spPr>
          <a:xfrm xmlns:a="http://schemas.openxmlformats.org/drawingml/2006/main">
            <a:off x="9171432" y="4800600"/>
            <a:ext cx="2304288" cy="2468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lnSpc>
                <a:spcPct val="120000"/>
              </a:lnSpc>
              <a:spcBef>
                <a:spcPts val="0"/>
              </a:spcBef>
              <a:spcAft>
                <a:spcPts val="500"/>
              </a:spcAft>
              <a:buNone/>
              <a:defRPr sz="1120" b="0">
                <a:solidFill>
                  <a:srgbClr val="536774"/>
                </a:solidFill>
                <a:latin typeface="Verdana"/>
                <a:ea typeface="Verdana"/>
                <a:cs typeface="Verdana"/>
              </a:defRPr>
            </a:pPr>
            <a:r>
              <a:t>danh sách sản phẩm</a:t>
            </a:r>
          </a:p>
        </p:txBody>
      </p:sp>
      <p:sp>
        <p:nvSpPr>
          <p:cNvPr id="38" name="TextBox 37">
            <a:extLst xmlns:a="http://schemas.openxmlformats.org/drawingml/2006/main">
              <a:ext uri="{FF2B5EF4-FFF2-40B4-BE49-F238E27FC236}">
                <a16:creationId xmlns:a16="http://schemas.microsoft.com/office/drawing/2014/main" id="{51A8BFE1-2F56-46AE-A711-0EC11F06EA03}"/>
              </a:ext>
            </a:extLst>
          </p:cNvPr>
          <p:cNvSpPr>
            <a:spLocks xmlns:a="http://schemas.openxmlformats.org/drawingml/2006/main" noGrp="1"/>
          </p:cNvSpPr>
          <p:nvPr/>
        </p:nvSpPr>
        <p:spPr>
          <a:xfrm xmlns:a="http://schemas.openxmlformats.org/drawingml/2006/main">
            <a:off x="603504" y="6473952"/>
            <a:ext cx="9875520"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950" b="0">
                <a:solidFill>
                  <a:srgbClr val="536774"/>
                </a:solidFill>
                <a:latin typeface="Verdana"/>
                <a:ea typeface="Verdana"/>
                <a:cs typeface="Verdana"/>
              </a:defRPr>
            </a:pPr>
            <a:r>
              <a:t>Nguồn: báo cáo Nhóm 4 · PDF tr. 3–4</a:t>
            </a:r>
          </a:p>
        </p:txBody>
      </p:sp>
      <p:sp>
        <p:nvSpPr>
          <p:cNvPr id="39" name="TextBox 38">
            <a:extLst xmlns:a="http://schemas.openxmlformats.org/drawingml/2006/main">
              <a:ext uri="{FF2B5EF4-FFF2-40B4-BE49-F238E27FC236}">
                <a16:creationId xmlns:a16="http://schemas.microsoft.com/office/drawing/2014/main" id="{E3673B24-75DC-4669-ACC3-01349DD1C780}"/>
              </a:ext>
            </a:extLst>
          </p:cNvPr>
          <p:cNvSpPr>
            <a:spLocks xmlns:a="http://schemas.openxmlformats.org/drawingml/2006/main" noGrp="1"/>
          </p:cNvSpPr>
          <p:nvPr/>
        </p:nvSpPr>
        <p:spPr>
          <a:xfrm xmlns:a="http://schemas.openxmlformats.org/drawingml/2006/main">
            <a:off x="10698480" y="6473952"/>
            <a:ext cx="886968"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r">
              <a:lnSpc>
                <a:spcPct val="120000"/>
              </a:lnSpc>
              <a:spcBef>
                <a:spcPts val="0"/>
              </a:spcBef>
              <a:spcAft>
                <a:spcPts val="500"/>
              </a:spcAft>
              <a:buNone/>
              <a:defRPr sz="950" b="0">
                <a:solidFill>
                  <a:srgbClr val="152C3C"/>
                </a:solidFill>
                <a:latin typeface="Verdana"/>
                <a:ea typeface="Verdana"/>
                <a:cs typeface="Verdana"/>
              </a:defRPr>
            </a:pPr>
            <a:r>
              <a:t>02 / 12</a:t>
            </a:r>
          </a:p>
        </p:txBody>
      </p:sp>
    </p:spTree>
    <p:extLst>
      <p:ext uri="{BB962C8B-B14F-4D97-AF65-F5344CB8AC3E}">
        <p14:creationId xmlns:p14="http://schemas.microsoft.com/office/powerpoint/2010/main" val="2117017548"/>
      </p:ext>
    </p:extLst>
  </p:cSld>
</p:sld>
</file>

<file path=ppt/slides/slide3.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67ECD7B-7E41-419E-A6C7-C4D6D136FED7}"/>
              </a:ext>
            </a:extLst>
          </p:cNvPr>
          <p:cNvSpPr>
            <a:spLocks xmlns:a="http://schemas.openxmlformats.org/drawingml/2006/main" noGrp="1"/>
          </p:cNvSpPr>
          <p:nvPr/>
        </p:nvSpPr>
        <p:spPr>
          <a:xfrm xmlns:a="http://schemas.openxmlformats.org/drawingml/2006/main">
            <a:off x="603504" y="384048"/>
            <a:ext cx="10972800" cy="2468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50" b="1">
                <a:solidFill>
                  <a:srgbClr val="086F69"/>
                </a:solidFill>
                <a:latin typeface="Verdana"/>
                <a:ea typeface="Verdana"/>
                <a:cs typeface="Verdana"/>
              </a:defRPr>
            </a:pPr>
            <a:r>
              <a:t>02 / DỮ LIỆU</a:t>
            </a:r>
          </a:p>
        </p:txBody>
      </p:sp>
      <p:sp>
        <p:nvSpPr>
          <p:cNvPr id="3" name="Rectangle 2">
            <a:extLst xmlns:a="http://schemas.openxmlformats.org/drawingml/2006/main">
              <a:ext uri="{FF2B5EF4-FFF2-40B4-BE49-F238E27FC236}">
                <a16:creationId xmlns:a16="http://schemas.microsoft.com/office/drawing/2014/main" id="{7840D913-F207-4230-891B-0918DB864609}"/>
              </a:ext>
            </a:extLst>
          </p:cNvPr>
          <p:cNvSpPr>
            <a:spLocks xmlns:a="http://schemas.openxmlformats.org/drawingml/2006/main" noGrp="1"/>
          </p:cNvSpPr>
          <p:nvPr/>
        </p:nvSpPr>
        <p:spPr>
          <a:xfrm xmlns:a="http://schemas.openxmlformats.org/drawingml/2006/main">
            <a:off x="603504" y="813816"/>
            <a:ext cx="10972800" cy="12801"/>
          </a:xfrm>
          <a:prstGeom xmlns:a="http://schemas.openxmlformats.org/drawingml/2006/main" prst="rect">
            <a:avLst/>
          </a:prstGeom>
          <a:solidFill xmlns:a="http://schemas.openxmlformats.org/drawingml/2006/main">
            <a:srgbClr val="D7DF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A505FE97-4BD4-405B-A7C1-D9082421C92F}"/>
              </a:ext>
            </a:extLst>
          </p:cNvPr>
          <p:cNvSpPr>
            <a:spLocks xmlns:a="http://schemas.openxmlformats.org/drawingml/2006/main" noGrp="1"/>
          </p:cNvSpPr>
          <p:nvPr/>
        </p:nvSpPr>
        <p:spPr>
          <a:xfrm xmlns:a="http://schemas.openxmlformats.org/drawingml/2006/main">
            <a:off x="603504" y="1005840"/>
            <a:ext cx="10972800" cy="9692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3200" b="1">
                <a:solidFill>
                  <a:srgbClr val="152C3C"/>
                </a:solidFill>
                <a:latin typeface="Georgia"/>
                <a:ea typeface="Georgia"/>
                <a:cs typeface="Georgia"/>
              </a:defRPr>
            </a:pPr>
            <a:r>
              <a:t>Tập con ABO có thể tái tạo</a:t>
            </a:r>
          </a:p>
        </p:txBody>
      </p:sp>
      <p:sp>
        <p:nvSpPr>
          <p:cNvPr id="5" name="TextBox 4">
            <a:extLst xmlns:a="http://schemas.openxmlformats.org/drawingml/2006/main">
              <a:ext uri="{FF2B5EF4-FFF2-40B4-BE49-F238E27FC236}">
                <a16:creationId xmlns:a16="http://schemas.microsoft.com/office/drawing/2014/main" id="{A5F422CC-C965-4759-9D99-CC7230C3FE29}"/>
              </a:ext>
            </a:extLst>
          </p:cNvPr>
          <p:cNvSpPr>
            <a:spLocks xmlns:a="http://schemas.openxmlformats.org/drawingml/2006/main" noGrp="1"/>
          </p:cNvSpPr>
          <p:nvPr/>
        </p:nvSpPr>
        <p:spPr>
          <a:xfrm xmlns:a="http://schemas.openxmlformats.org/drawingml/2006/main">
            <a:off x="603504" y="1874519"/>
            <a:ext cx="10972800" cy="4297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0">
                <a:solidFill>
                  <a:srgbClr val="536774"/>
                </a:solidFill>
                <a:latin typeface="Verdana"/>
                <a:ea typeface="Verdana"/>
                <a:cs typeface="Verdana"/>
              </a:defRPr>
            </a:pPr>
            <a:r>
              <a:t>Dataset: abo_a1_1500_v1 · seed 42 · tối đa 150 sản phẩm/category.</a:t>
            </a:r>
          </a:p>
        </p:txBody>
      </p:sp>
      <p:sp>
        <p:nvSpPr>
          <p:cNvPr id="6" name="Rectangle 5">
            <a:extLst xmlns:a="http://schemas.openxmlformats.org/drawingml/2006/main">
              <a:ext uri="{FF2B5EF4-FFF2-40B4-BE49-F238E27FC236}">
                <a16:creationId xmlns:a16="http://schemas.microsoft.com/office/drawing/2014/main" id="{938A596E-D39F-4125-8FFC-5EBADBD38A8B}"/>
              </a:ext>
            </a:extLst>
          </p:cNvPr>
          <p:cNvSpPr>
            <a:spLocks xmlns:a="http://schemas.openxmlformats.org/drawingml/2006/main" noGrp="1"/>
          </p:cNvSpPr>
          <p:nvPr/>
        </p:nvSpPr>
        <p:spPr>
          <a:xfrm xmlns:a="http://schemas.openxmlformats.org/drawingml/2006/main">
            <a:off x="603504" y="2606040"/>
            <a:ext cx="2560320" cy="13716"/>
          </a:xfrm>
          <a:prstGeom xmlns:a="http://schemas.openxmlformats.org/drawingml/2006/main" prst="rect">
            <a:avLst/>
          </a:prstGeom>
          <a:solidFill xmlns:a="http://schemas.openxmlformats.org/drawingml/2006/main">
            <a:srgbClr val="D7DF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1030A6F4-DCE8-43E4-8176-D5B1F00B4843}"/>
              </a:ext>
            </a:extLst>
          </p:cNvPr>
          <p:cNvSpPr>
            <a:spLocks xmlns:a="http://schemas.openxmlformats.org/drawingml/2006/main" noGrp="1"/>
          </p:cNvSpPr>
          <p:nvPr/>
        </p:nvSpPr>
        <p:spPr>
          <a:xfrm xmlns:a="http://schemas.openxmlformats.org/drawingml/2006/main">
            <a:off x="603504" y="2752344"/>
            <a:ext cx="2560320" cy="685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4000" b="1">
                <a:solidFill>
                  <a:srgbClr val="086F69"/>
                </a:solidFill>
                <a:latin typeface="Georgia"/>
                <a:ea typeface="Georgia"/>
                <a:cs typeface="Georgia"/>
              </a:defRPr>
            </a:pPr>
            <a:r>
              <a:t>1.500</a:t>
            </a:r>
          </a:p>
        </p:txBody>
      </p:sp>
      <p:sp>
        <p:nvSpPr>
          <p:cNvPr id="8" name="TextBox 7">
            <a:extLst xmlns:a="http://schemas.openxmlformats.org/drawingml/2006/main">
              <a:ext uri="{FF2B5EF4-FFF2-40B4-BE49-F238E27FC236}">
                <a16:creationId xmlns:a16="http://schemas.microsoft.com/office/drawing/2014/main" id="{6931490B-D57B-4DAB-B9FC-B527A364A588}"/>
              </a:ext>
            </a:extLst>
          </p:cNvPr>
          <p:cNvSpPr>
            <a:spLocks xmlns:a="http://schemas.openxmlformats.org/drawingml/2006/main" noGrp="1"/>
          </p:cNvSpPr>
          <p:nvPr/>
        </p:nvSpPr>
        <p:spPr>
          <a:xfrm xmlns:a="http://schemas.openxmlformats.org/drawingml/2006/main">
            <a:off x="603504" y="3511296"/>
            <a:ext cx="2560320"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500" b="0">
                <a:solidFill>
                  <a:srgbClr val="536774"/>
                </a:solidFill>
                <a:latin typeface="Verdana"/>
                <a:ea typeface="Verdana"/>
                <a:cs typeface="Verdana"/>
              </a:defRPr>
            </a:pPr>
            <a:r>
              <a:t>sản phẩm</a:t>
            </a:r>
          </a:p>
        </p:txBody>
      </p:sp>
      <p:sp>
        <p:nvSpPr>
          <p:cNvPr id="9" name="Rectangle 8">
            <a:extLst xmlns:a="http://schemas.openxmlformats.org/drawingml/2006/main">
              <a:ext uri="{FF2B5EF4-FFF2-40B4-BE49-F238E27FC236}">
                <a16:creationId xmlns:a16="http://schemas.microsoft.com/office/drawing/2014/main" id="{50C6C4C3-A0D4-427C-AC62-F56B5A6BCE51}"/>
              </a:ext>
            </a:extLst>
          </p:cNvPr>
          <p:cNvSpPr>
            <a:spLocks xmlns:a="http://schemas.openxmlformats.org/drawingml/2006/main" noGrp="1"/>
          </p:cNvSpPr>
          <p:nvPr/>
        </p:nvSpPr>
        <p:spPr>
          <a:xfrm xmlns:a="http://schemas.openxmlformats.org/drawingml/2006/main">
            <a:off x="3346704" y="2606040"/>
            <a:ext cx="2560320" cy="13716"/>
          </a:xfrm>
          <a:prstGeom xmlns:a="http://schemas.openxmlformats.org/drawingml/2006/main" prst="rect">
            <a:avLst/>
          </a:prstGeom>
          <a:solidFill xmlns:a="http://schemas.openxmlformats.org/drawingml/2006/main">
            <a:srgbClr val="D7DF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F0BC533E-6630-4A68-9D5F-ABB7965556D7}"/>
              </a:ext>
            </a:extLst>
          </p:cNvPr>
          <p:cNvSpPr>
            <a:spLocks xmlns:a="http://schemas.openxmlformats.org/drawingml/2006/main" noGrp="1"/>
          </p:cNvSpPr>
          <p:nvPr/>
        </p:nvSpPr>
        <p:spPr>
          <a:xfrm xmlns:a="http://schemas.openxmlformats.org/drawingml/2006/main">
            <a:off x="3346704" y="2752344"/>
            <a:ext cx="2560320" cy="685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4000" b="1">
                <a:solidFill>
                  <a:srgbClr val="086F69"/>
                </a:solidFill>
                <a:latin typeface="Georgia"/>
                <a:ea typeface="Georgia"/>
                <a:cs typeface="Georgia"/>
              </a:defRPr>
            </a:pPr>
            <a:r>
              <a:t>215</a:t>
            </a:r>
          </a:p>
        </p:txBody>
      </p:sp>
      <p:sp>
        <p:nvSpPr>
          <p:cNvPr id="11" name="TextBox 10">
            <a:extLst xmlns:a="http://schemas.openxmlformats.org/drawingml/2006/main">
              <a:ext uri="{FF2B5EF4-FFF2-40B4-BE49-F238E27FC236}">
                <a16:creationId xmlns:a16="http://schemas.microsoft.com/office/drawing/2014/main" id="{F20C1198-BEF0-464B-9BAC-1A53191B9F42}"/>
              </a:ext>
            </a:extLst>
          </p:cNvPr>
          <p:cNvSpPr>
            <a:spLocks xmlns:a="http://schemas.openxmlformats.org/drawingml/2006/main" noGrp="1"/>
          </p:cNvSpPr>
          <p:nvPr/>
        </p:nvSpPr>
        <p:spPr>
          <a:xfrm xmlns:a="http://schemas.openxmlformats.org/drawingml/2006/main">
            <a:off x="3346704" y="3511296"/>
            <a:ext cx="2560320"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500" b="0">
                <a:solidFill>
                  <a:srgbClr val="536774"/>
                </a:solidFill>
                <a:latin typeface="Verdana"/>
                <a:ea typeface="Verdana"/>
                <a:cs typeface="Verdana"/>
              </a:defRPr>
            </a:pPr>
            <a:r>
              <a:t>category</a:t>
            </a:r>
          </a:p>
        </p:txBody>
      </p:sp>
      <p:sp>
        <p:nvSpPr>
          <p:cNvPr id="12" name="Rectangle 11">
            <a:extLst xmlns:a="http://schemas.openxmlformats.org/drawingml/2006/main">
              <a:ext uri="{FF2B5EF4-FFF2-40B4-BE49-F238E27FC236}">
                <a16:creationId xmlns:a16="http://schemas.microsoft.com/office/drawing/2014/main" id="{3A382AD0-1C48-4352-ADB3-8A37DF8A2A87}"/>
              </a:ext>
            </a:extLst>
          </p:cNvPr>
          <p:cNvSpPr>
            <a:spLocks xmlns:a="http://schemas.openxmlformats.org/drawingml/2006/main" noGrp="1"/>
          </p:cNvSpPr>
          <p:nvPr/>
        </p:nvSpPr>
        <p:spPr>
          <a:xfrm xmlns:a="http://schemas.openxmlformats.org/drawingml/2006/main">
            <a:off x="6089904" y="2606040"/>
            <a:ext cx="2560320" cy="13716"/>
          </a:xfrm>
          <a:prstGeom xmlns:a="http://schemas.openxmlformats.org/drawingml/2006/main" prst="rect">
            <a:avLst/>
          </a:prstGeom>
          <a:solidFill xmlns:a="http://schemas.openxmlformats.org/drawingml/2006/main">
            <a:srgbClr val="D7DF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90857107-A44A-450F-A3ED-0A1E05C6C8B9}"/>
              </a:ext>
            </a:extLst>
          </p:cNvPr>
          <p:cNvSpPr>
            <a:spLocks xmlns:a="http://schemas.openxmlformats.org/drawingml/2006/main" noGrp="1"/>
          </p:cNvSpPr>
          <p:nvPr/>
        </p:nvSpPr>
        <p:spPr>
          <a:xfrm xmlns:a="http://schemas.openxmlformats.org/drawingml/2006/main">
            <a:off x="6089904" y="2752344"/>
            <a:ext cx="2560320" cy="685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4000" b="1">
                <a:solidFill>
                  <a:srgbClr val="086F69"/>
                </a:solidFill>
                <a:latin typeface="Georgia"/>
                <a:ea typeface="Georgia"/>
                <a:cs typeface="Georgia"/>
              </a:defRPr>
            </a:pPr>
            <a:r>
              <a:t>1</a:t>
            </a:r>
          </a:p>
        </p:txBody>
      </p:sp>
      <p:sp>
        <p:nvSpPr>
          <p:cNvPr id="14" name="TextBox 13">
            <a:extLst xmlns:a="http://schemas.openxmlformats.org/drawingml/2006/main">
              <a:ext uri="{FF2B5EF4-FFF2-40B4-BE49-F238E27FC236}">
                <a16:creationId xmlns:a16="http://schemas.microsoft.com/office/drawing/2014/main" id="{7DE704A2-47B7-4FC4-BBE1-3D072343C05E}"/>
              </a:ext>
            </a:extLst>
          </p:cNvPr>
          <p:cNvSpPr>
            <a:spLocks xmlns:a="http://schemas.openxmlformats.org/drawingml/2006/main" noGrp="1"/>
          </p:cNvSpPr>
          <p:nvPr/>
        </p:nvSpPr>
        <p:spPr>
          <a:xfrm xmlns:a="http://schemas.openxmlformats.org/drawingml/2006/main">
            <a:off x="6089904" y="3511296"/>
            <a:ext cx="2560320"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500" b="0">
                <a:solidFill>
                  <a:srgbClr val="536774"/>
                </a:solidFill>
                <a:latin typeface="Verdana"/>
                <a:ea typeface="Verdana"/>
                <a:cs typeface="Verdana"/>
              </a:defRPr>
            </a:pPr>
            <a:r>
              <a:t>ảnh chính / sản phẩm</a:t>
            </a:r>
          </a:p>
        </p:txBody>
      </p:sp>
      <p:sp>
        <p:nvSpPr>
          <p:cNvPr id="15" name="Rectangle 14">
            <a:extLst xmlns:a="http://schemas.openxmlformats.org/drawingml/2006/main">
              <a:ext uri="{FF2B5EF4-FFF2-40B4-BE49-F238E27FC236}">
                <a16:creationId xmlns:a16="http://schemas.microsoft.com/office/drawing/2014/main" id="{2E9C899D-D50E-4B0A-A4F1-A4C64D2DB84B}"/>
              </a:ext>
            </a:extLst>
          </p:cNvPr>
          <p:cNvSpPr>
            <a:spLocks xmlns:a="http://schemas.openxmlformats.org/drawingml/2006/main" noGrp="1"/>
          </p:cNvSpPr>
          <p:nvPr/>
        </p:nvSpPr>
        <p:spPr>
          <a:xfrm xmlns:a="http://schemas.openxmlformats.org/drawingml/2006/main">
            <a:off x="8833104" y="2606040"/>
            <a:ext cx="2560320" cy="13716"/>
          </a:xfrm>
          <a:prstGeom xmlns:a="http://schemas.openxmlformats.org/drawingml/2006/main" prst="rect">
            <a:avLst/>
          </a:prstGeom>
          <a:solidFill xmlns:a="http://schemas.openxmlformats.org/drawingml/2006/main">
            <a:srgbClr val="D7DF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9DFAF5C7-8C53-480F-8923-7F6C6B383364}"/>
              </a:ext>
            </a:extLst>
          </p:cNvPr>
          <p:cNvSpPr>
            <a:spLocks xmlns:a="http://schemas.openxmlformats.org/drawingml/2006/main" noGrp="1"/>
          </p:cNvSpPr>
          <p:nvPr/>
        </p:nvSpPr>
        <p:spPr>
          <a:xfrm xmlns:a="http://schemas.openxmlformats.org/drawingml/2006/main">
            <a:off x="8833104" y="2752344"/>
            <a:ext cx="2560320" cy="685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4000" b="1">
                <a:solidFill>
                  <a:srgbClr val="086F69"/>
                </a:solidFill>
                <a:latin typeface="Georgia"/>
                <a:ea typeface="Georgia"/>
                <a:cs typeface="Georgia"/>
              </a:defRPr>
            </a:pPr>
            <a:r>
              <a:t>768</a:t>
            </a:r>
          </a:p>
        </p:txBody>
      </p:sp>
      <p:sp>
        <p:nvSpPr>
          <p:cNvPr id="17" name="TextBox 16">
            <a:extLst xmlns:a="http://schemas.openxmlformats.org/drawingml/2006/main">
              <a:ext uri="{FF2B5EF4-FFF2-40B4-BE49-F238E27FC236}">
                <a16:creationId xmlns:a16="http://schemas.microsoft.com/office/drawing/2014/main" id="{A9FB1509-1507-4CF0-A19C-18746E7905FB}"/>
              </a:ext>
            </a:extLst>
          </p:cNvPr>
          <p:cNvSpPr>
            <a:spLocks xmlns:a="http://schemas.openxmlformats.org/drawingml/2006/main" noGrp="1"/>
          </p:cNvSpPr>
          <p:nvPr/>
        </p:nvSpPr>
        <p:spPr>
          <a:xfrm xmlns:a="http://schemas.openxmlformats.org/drawingml/2006/main">
            <a:off x="8833104" y="3511296"/>
            <a:ext cx="2560320"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500" b="0">
                <a:solidFill>
                  <a:srgbClr val="536774"/>
                </a:solidFill>
                <a:latin typeface="Verdana"/>
                <a:ea typeface="Verdana"/>
                <a:cs typeface="Verdana"/>
              </a:defRPr>
            </a:pPr>
            <a:r>
              <a:t>chiều · chuẩn hóa L2</a:t>
            </a:r>
          </a:p>
        </p:txBody>
      </p:sp>
      <p:sp>
        <p:nvSpPr>
          <p:cNvPr id="18" name="Rectangle 17">
            <a:extLst xmlns:a="http://schemas.openxmlformats.org/drawingml/2006/main">
              <a:ext uri="{FF2B5EF4-FFF2-40B4-BE49-F238E27FC236}">
                <a16:creationId xmlns:a16="http://schemas.microsoft.com/office/drawing/2014/main" id="{B5D12374-D688-428F-9690-862E340CCECB}"/>
              </a:ext>
            </a:extLst>
          </p:cNvPr>
          <p:cNvSpPr>
            <a:spLocks xmlns:a="http://schemas.openxmlformats.org/drawingml/2006/main" noGrp="1"/>
          </p:cNvSpPr>
          <p:nvPr/>
        </p:nvSpPr>
        <p:spPr>
          <a:xfrm xmlns:a="http://schemas.openxmlformats.org/drawingml/2006/main">
            <a:off x="603504" y="4434840"/>
            <a:ext cx="2640330" cy="777240"/>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5C393029-6DF6-4C9B-B338-D2705CE3BFED}"/>
              </a:ext>
            </a:extLst>
          </p:cNvPr>
          <p:cNvSpPr>
            <a:spLocks xmlns:a="http://schemas.openxmlformats.org/drawingml/2006/main" noGrp="1"/>
          </p:cNvSpPr>
          <p:nvPr/>
        </p:nvSpPr>
        <p:spPr>
          <a:xfrm xmlns:a="http://schemas.openxmlformats.org/drawingml/2006/main">
            <a:off x="749808" y="4544568"/>
            <a:ext cx="2347722" cy="16459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00" b="1">
                <a:solidFill>
                  <a:srgbClr val="086F69"/>
                </a:solidFill>
                <a:latin typeface="Verdana"/>
                <a:ea typeface="Verdana"/>
                <a:cs typeface="Verdana"/>
              </a:defRPr>
            </a:pPr>
            <a:r>
              <a:t>01</a:t>
            </a:r>
          </a:p>
        </p:txBody>
      </p:sp>
      <p:sp>
        <p:nvSpPr>
          <p:cNvPr id="20" name="TextBox 19">
            <a:extLst xmlns:a="http://schemas.openxmlformats.org/drawingml/2006/main">
              <a:ext uri="{FF2B5EF4-FFF2-40B4-BE49-F238E27FC236}">
                <a16:creationId xmlns:a16="http://schemas.microsoft.com/office/drawing/2014/main" id="{DD89D2EC-D595-4F0A-81BB-EDA24DFA4A15}"/>
              </a:ext>
            </a:extLst>
          </p:cNvPr>
          <p:cNvSpPr>
            <a:spLocks xmlns:a="http://schemas.openxmlformats.org/drawingml/2006/main" noGrp="1"/>
          </p:cNvSpPr>
          <p:nvPr/>
        </p:nvSpPr>
        <p:spPr>
          <a:xfrm xmlns:a="http://schemas.openxmlformats.org/drawingml/2006/main">
            <a:off x="749808" y="4782312"/>
            <a:ext cx="2347722"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300" b="0">
                <a:solidFill>
                  <a:srgbClr val="152C3C"/>
                </a:solidFill>
                <a:latin typeface="Verdana"/>
                <a:ea typeface="Verdana"/>
                <a:cs typeface="Verdana"/>
              </a:defRPr>
            </a:pPr>
            <a:r>
              <a:t>Loại bản ghi thiếu</a:t>
            </a:r>
          </a:p>
        </p:txBody>
      </p:sp>
      <p:sp>
        <p:nvSpPr>
          <p:cNvPr id="21" name="Rectangle 20">
            <a:extLst xmlns:a="http://schemas.openxmlformats.org/drawingml/2006/main">
              <a:ext uri="{FF2B5EF4-FFF2-40B4-BE49-F238E27FC236}">
                <a16:creationId xmlns:a16="http://schemas.microsoft.com/office/drawing/2014/main" id="{C07DCC64-4034-4301-9389-DAFFDF9238FB}"/>
              </a:ext>
            </a:extLst>
          </p:cNvPr>
          <p:cNvSpPr>
            <a:spLocks xmlns:a="http://schemas.openxmlformats.org/drawingml/2006/main" noGrp="1"/>
          </p:cNvSpPr>
          <p:nvPr/>
        </p:nvSpPr>
        <p:spPr>
          <a:xfrm xmlns:a="http://schemas.openxmlformats.org/drawingml/2006/main">
            <a:off x="3380994" y="4434840"/>
            <a:ext cx="2640330" cy="777240"/>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5702FD16-7B30-447E-B31B-DE77CD7F78C4}"/>
              </a:ext>
            </a:extLst>
          </p:cNvPr>
          <p:cNvSpPr>
            <a:spLocks xmlns:a="http://schemas.openxmlformats.org/drawingml/2006/main" noGrp="1"/>
          </p:cNvSpPr>
          <p:nvPr/>
        </p:nvSpPr>
        <p:spPr>
          <a:xfrm xmlns:a="http://schemas.openxmlformats.org/drawingml/2006/main">
            <a:off x="3527298" y="4544568"/>
            <a:ext cx="2347722" cy="16459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00" b="1">
                <a:solidFill>
                  <a:srgbClr val="086F69"/>
                </a:solidFill>
                <a:latin typeface="Verdana"/>
                <a:ea typeface="Verdana"/>
                <a:cs typeface="Verdana"/>
              </a:defRPr>
            </a:pPr>
            <a:r>
              <a:t>02</a:t>
            </a:r>
          </a:p>
        </p:txBody>
      </p:sp>
      <p:sp>
        <p:nvSpPr>
          <p:cNvPr id="23" name="TextBox 22">
            <a:extLst xmlns:a="http://schemas.openxmlformats.org/drawingml/2006/main">
              <a:ext uri="{FF2B5EF4-FFF2-40B4-BE49-F238E27FC236}">
                <a16:creationId xmlns:a16="http://schemas.microsoft.com/office/drawing/2014/main" id="{94C07F35-46B2-4DFF-B565-E1EA899A61B0}"/>
              </a:ext>
            </a:extLst>
          </p:cNvPr>
          <p:cNvSpPr>
            <a:spLocks xmlns:a="http://schemas.openxmlformats.org/drawingml/2006/main" noGrp="1"/>
          </p:cNvSpPr>
          <p:nvPr/>
        </p:nvSpPr>
        <p:spPr>
          <a:xfrm xmlns:a="http://schemas.openxmlformats.org/drawingml/2006/main">
            <a:off x="3527298" y="4782312"/>
            <a:ext cx="2347722"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300" b="0">
                <a:solidFill>
                  <a:srgbClr val="152C3C"/>
                </a:solidFill>
                <a:latin typeface="Verdana"/>
                <a:ea typeface="Verdana"/>
                <a:cs typeface="Verdana"/>
              </a:defRPr>
            </a:pPr>
            <a:r>
              <a:t>Lấy mẫu theo category</a:t>
            </a:r>
          </a:p>
        </p:txBody>
      </p:sp>
      <p:sp>
        <p:nvSpPr>
          <p:cNvPr id="24" name="Rectangle 23">
            <a:extLst xmlns:a="http://schemas.openxmlformats.org/drawingml/2006/main">
              <a:ext uri="{FF2B5EF4-FFF2-40B4-BE49-F238E27FC236}">
                <a16:creationId xmlns:a16="http://schemas.microsoft.com/office/drawing/2014/main" id="{8ACAECFF-944A-4A4D-8EAA-65598973F70C}"/>
              </a:ext>
            </a:extLst>
          </p:cNvPr>
          <p:cNvSpPr>
            <a:spLocks xmlns:a="http://schemas.openxmlformats.org/drawingml/2006/main" noGrp="1"/>
          </p:cNvSpPr>
          <p:nvPr/>
        </p:nvSpPr>
        <p:spPr>
          <a:xfrm xmlns:a="http://schemas.openxmlformats.org/drawingml/2006/main">
            <a:off x="6158484" y="4434840"/>
            <a:ext cx="2640330" cy="777240"/>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TextBox 24">
            <a:extLst xmlns:a="http://schemas.openxmlformats.org/drawingml/2006/main">
              <a:ext uri="{FF2B5EF4-FFF2-40B4-BE49-F238E27FC236}">
                <a16:creationId xmlns:a16="http://schemas.microsoft.com/office/drawing/2014/main" id="{2025060E-ABF7-4BFB-B222-A71096B55288}"/>
              </a:ext>
            </a:extLst>
          </p:cNvPr>
          <p:cNvSpPr>
            <a:spLocks xmlns:a="http://schemas.openxmlformats.org/drawingml/2006/main" noGrp="1"/>
          </p:cNvSpPr>
          <p:nvPr/>
        </p:nvSpPr>
        <p:spPr>
          <a:xfrm xmlns:a="http://schemas.openxmlformats.org/drawingml/2006/main">
            <a:off x="6304788" y="4544568"/>
            <a:ext cx="2347722" cy="16459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00" b="1">
                <a:solidFill>
                  <a:srgbClr val="086F69"/>
                </a:solidFill>
                <a:latin typeface="Verdana"/>
                <a:ea typeface="Verdana"/>
                <a:cs typeface="Verdana"/>
              </a:defRPr>
            </a:pPr>
            <a:r>
              <a:t>03</a:t>
            </a:r>
          </a:p>
        </p:txBody>
      </p:sp>
      <p:sp>
        <p:nvSpPr>
          <p:cNvPr id="26" name="TextBox 25">
            <a:extLst xmlns:a="http://schemas.openxmlformats.org/drawingml/2006/main">
              <a:ext uri="{FF2B5EF4-FFF2-40B4-BE49-F238E27FC236}">
                <a16:creationId xmlns:a16="http://schemas.microsoft.com/office/drawing/2014/main" id="{1B6277B6-F64D-422D-91F3-D4F34D48DBBD}"/>
              </a:ext>
            </a:extLst>
          </p:cNvPr>
          <p:cNvSpPr>
            <a:spLocks xmlns:a="http://schemas.openxmlformats.org/drawingml/2006/main" noGrp="1"/>
          </p:cNvSpPr>
          <p:nvPr/>
        </p:nvSpPr>
        <p:spPr>
          <a:xfrm xmlns:a="http://schemas.openxmlformats.org/drawingml/2006/main">
            <a:off x="6304788" y="4782312"/>
            <a:ext cx="2347722"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300" b="0">
                <a:solidFill>
                  <a:srgbClr val="152C3C"/>
                </a:solidFill>
                <a:latin typeface="Verdana"/>
                <a:ea typeface="Verdana"/>
                <a:cs typeface="Verdana"/>
              </a:defRPr>
            </a:pPr>
            <a:r>
              <a:t>Giữ ảnh tải thành công</a:t>
            </a:r>
          </a:p>
        </p:txBody>
      </p:sp>
      <p:sp>
        <p:nvSpPr>
          <p:cNvPr id="27" name="Rectangle 26">
            <a:extLst xmlns:a="http://schemas.openxmlformats.org/drawingml/2006/main">
              <a:ext uri="{FF2B5EF4-FFF2-40B4-BE49-F238E27FC236}">
                <a16:creationId xmlns:a16="http://schemas.microsoft.com/office/drawing/2014/main" id="{2F231F6E-5594-4A54-B124-B83D58FAAE47}"/>
              </a:ext>
            </a:extLst>
          </p:cNvPr>
          <p:cNvSpPr>
            <a:spLocks xmlns:a="http://schemas.openxmlformats.org/drawingml/2006/main" noGrp="1"/>
          </p:cNvSpPr>
          <p:nvPr/>
        </p:nvSpPr>
        <p:spPr>
          <a:xfrm xmlns:a="http://schemas.openxmlformats.org/drawingml/2006/main">
            <a:off x="8935974" y="4434840"/>
            <a:ext cx="2640330" cy="777240"/>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5EC65A88-5128-4DC6-A528-8D399D205D2A}"/>
              </a:ext>
            </a:extLst>
          </p:cNvPr>
          <p:cNvSpPr>
            <a:spLocks xmlns:a="http://schemas.openxmlformats.org/drawingml/2006/main" noGrp="1"/>
          </p:cNvSpPr>
          <p:nvPr/>
        </p:nvSpPr>
        <p:spPr>
          <a:xfrm xmlns:a="http://schemas.openxmlformats.org/drawingml/2006/main">
            <a:off x="9082278" y="4544568"/>
            <a:ext cx="2347722" cy="16459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00" b="1">
                <a:solidFill>
                  <a:srgbClr val="086F69"/>
                </a:solidFill>
                <a:latin typeface="Verdana"/>
                <a:ea typeface="Verdana"/>
                <a:cs typeface="Verdana"/>
              </a:defRPr>
            </a:pPr>
            <a:r>
              <a:t>04</a:t>
            </a:r>
          </a:p>
        </p:txBody>
      </p:sp>
      <p:sp>
        <p:nvSpPr>
          <p:cNvPr id="29" name="TextBox 28">
            <a:extLst xmlns:a="http://schemas.openxmlformats.org/drawingml/2006/main">
              <a:ext uri="{FF2B5EF4-FFF2-40B4-BE49-F238E27FC236}">
                <a16:creationId xmlns:a16="http://schemas.microsoft.com/office/drawing/2014/main" id="{6542FF4E-D66A-485D-BCAC-04D78549FAC4}"/>
              </a:ext>
            </a:extLst>
          </p:cNvPr>
          <p:cNvSpPr>
            <a:spLocks xmlns:a="http://schemas.openxmlformats.org/drawingml/2006/main" noGrp="1"/>
          </p:cNvSpPr>
          <p:nvPr/>
        </p:nvSpPr>
        <p:spPr>
          <a:xfrm xmlns:a="http://schemas.openxmlformats.org/drawingml/2006/main">
            <a:off x="9082278" y="4782312"/>
            <a:ext cx="2347722"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300" b="0">
                <a:solidFill>
                  <a:srgbClr val="152C3C"/>
                </a:solidFill>
                <a:latin typeface="Verdana"/>
                <a:ea typeface="Verdana"/>
                <a:cs typeface="Verdana"/>
              </a:defRPr>
            </a:pPr>
            <a:r>
              <a:t>Chuẩn hóa metadata</a:t>
            </a:r>
          </a:p>
        </p:txBody>
      </p:sp>
      <p:sp>
        <p:nvSpPr>
          <p:cNvPr id="30" name="Rectangle 29">
            <a:extLst xmlns:a="http://schemas.openxmlformats.org/drawingml/2006/main">
              <a:ext uri="{FF2B5EF4-FFF2-40B4-BE49-F238E27FC236}">
                <a16:creationId xmlns:a16="http://schemas.microsoft.com/office/drawing/2014/main" id="{053D8186-71CC-4CE2-B11A-0B6B38112230}"/>
              </a:ext>
            </a:extLst>
          </p:cNvPr>
          <p:cNvSpPr>
            <a:spLocks xmlns:a="http://schemas.openxmlformats.org/drawingml/2006/main" noGrp="1"/>
          </p:cNvSpPr>
          <p:nvPr/>
        </p:nvSpPr>
        <p:spPr>
          <a:xfrm xmlns:a="http://schemas.openxmlformats.org/drawingml/2006/main">
            <a:off x="603504" y="5715000"/>
            <a:ext cx="10972800" cy="521207"/>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Rectangle 30">
            <a:extLst xmlns:a="http://schemas.openxmlformats.org/drawingml/2006/main">
              <a:ext uri="{FF2B5EF4-FFF2-40B4-BE49-F238E27FC236}">
                <a16:creationId xmlns:a16="http://schemas.microsoft.com/office/drawing/2014/main" id="{36AFE098-EEAE-4281-A58C-210E1320CDD1}"/>
              </a:ext>
            </a:extLst>
          </p:cNvPr>
          <p:cNvSpPr>
            <a:spLocks xmlns:a="http://schemas.openxmlformats.org/drawingml/2006/main" noGrp="1"/>
          </p:cNvSpPr>
          <p:nvPr/>
        </p:nvSpPr>
        <p:spPr>
          <a:xfrm xmlns:a="http://schemas.openxmlformats.org/drawingml/2006/main">
            <a:off x="603504" y="5715000"/>
            <a:ext cx="32004" cy="521207"/>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C2A2C3EF-4CAA-4B9A-92E9-AC0BAECABF71}"/>
              </a:ext>
            </a:extLst>
          </p:cNvPr>
          <p:cNvSpPr>
            <a:spLocks xmlns:a="http://schemas.openxmlformats.org/drawingml/2006/main" noGrp="1"/>
          </p:cNvSpPr>
          <p:nvPr/>
        </p:nvSpPr>
        <p:spPr>
          <a:xfrm xmlns:a="http://schemas.openxmlformats.org/drawingml/2006/main">
            <a:off x="758952" y="5833872"/>
            <a:ext cx="10652760" cy="3383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250" b="0">
                <a:solidFill>
                  <a:srgbClr val="086F69"/>
                </a:solidFill>
                <a:latin typeface="Verdana"/>
                <a:ea typeface="Verdana"/>
                <a:cs typeface="Verdana"/>
              </a:defRPr>
            </a:pPr>
            <a:r>
              <a:t>Mọi phương pháp dùng chung catalog; ảnh small-image có cạnh lớn tối đa 256 px.</a:t>
            </a:r>
          </a:p>
        </p:txBody>
      </p:sp>
      <p:sp>
        <p:nvSpPr>
          <p:cNvPr id="33" name="TextBox 32">
            <a:extLst xmlns:a="http://schemas.openxmlformats.org/drawingml/2006/main">
              <a:ext uri="{FF2B5EF4-FFF2-40B4-BE49-F238E27FC236}">
                <a16:creationId xmlns:a16="http://schemas.microsoft.com/office/drawing/2014/main" id="{96D7DE05-70D6-4F86-928F-9B5D9877EF05}"/>
              </a:ext>
            </a:extLst>
          </p:cNvPr>
          <p:cNvSpPr>
            <a:spLocks xmlns:a="http://schemas.openxmlformats.org/drawingml/2006/main" noGrp="1"/>
          </p:cNvSpPr>
          <p:nvPr/>
        </p:nvSpPr>
        <p:spPr>
          <a:xfrm xmlns:a="http://schemas.openxmlformats.org/drawingml/2006/main">
            <a:off x="603504" y="6473952"/>
            <a:ext cx="9875520"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950" b="0">
                <a:solidFill>
                  <a:srgbClr val="536774"/>
                </a:solidFill>
                <a:latin typeface="Verdana"/>
                <a:ea typeface="Verdana"/>
                <a:cs typeface="Verdana"/>
              </a:defRPr>
            </a:pPr>
            <a:r>
              <a:t>Nguồn: báo cáo Nhóm 4 · PDF tr. 3–4</a:t>
            </a:r>
          </a:p>
        </p:txBody>
      </p:sp>
      <p:sp>
        <p:nvSpPr>
          <p:cNvPr id="34" name="TextBox 33">
            <a:extLst xmlns:a="http://schemas.openxmlformats.org/drawingml/2006/main">
              <a:ext uri="{FF2B5EF4-FFF2-40B4-BE49-F238E27FC236}">
                <a16:creationId xmlns:a16="http://schemas.microsoft.com/office/drawing/2014/main" id="{43FEC544-9554-4E27-82EF-4FCFBF50927A}"/>
              </a:ext>
            </a:extLst>
          </p:cNvPr>
          <p:cNvSpPr>
            <a:spLocks xmlns:a="http://schemas.openxmlformats.org/drawingml/2006/main" noGrp="1"/>
          </p:cNvSpPr>
          <p:nvPr/>
        </p:nvSpPr>
        <p:spPr>
          <a:xfrm xmlns:a="http://schemas.openxmlformats.org/drawingml/2006/main">
            <a:off x="10698480" y="6473952"/>
            <a:ext cx="886968"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r">
              <a:lnSpc>
                <a:spcPct val="120000"/>
              </a:lnSpc>
              <a:spcBef>
                <a:spcPts val="0"/>
              </a:spcBef>
              <a:spcAft>
                <a:spcPts val="500"/>
              </a:spcAft>
              <a:buNone/>
              <a:defRPr sz="950" b="0">
                <a:solidFill>
                  <a:srgbClr val="152C3C"/>
                </a:solidFill>
                <a:latin typeface="Verdana"/>
                <a:ea typeface="Verdana"/>
                <a:cs typeface="Verdana"/>
              </a:defRPr>
            </a:pPr>
            <a:r>
              <a:t>03 / 12</a:t>
            </a:r>
          </a:p>
        </p:txBody>
      </p:sp>
    </p:spTree>
    <p:extLst>
      <p:ext uri="{BB962C8B-B14F-4D97-AF65-F5344CB8AC3E}">
        <p14:creationId xmlns:p14="http://schemas.microsoft.com/office/powerpoint/2010/main" val="675099326"/>
      </p:ext>
    </p:extLst>
  </p:cSld>
</p:sld>
</file>

<file path=ppt/slides/slide4.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9B06F43-12FD-4317-A667-EDA5B01943C7}"/>
              </a:ext>
            </a:extLst>
          </p:cNvPr>
          <p:cNvSpPr>
            <a:spLocks xmlns:a="http://schemas.openxmlformats.org/drawingml/2006/main" noGrp="1"/>
          </p:cNvSpPr>
          <p:nvPr/>
        </p:nvSpPr>
        <p:spPr>
          <a:xfrm xmlns:a="http://schemas.openxmlformats.org/drawingml/2006/main">
            <a:off x="603504" y="384048"/>
            <a:ext cx="10972800" cy="2468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50" b="1">
                <a:solidFill>
                  <a:srgbClr val="086F69"/>
                </a:solidFill>
                <a:latin typeface="Verdana"/>
                <a:ea typeface="Verdana"/>
                <a:cs typeface="Verdana"/>
              </a:defRPr>
            </a:pPr>
            <a:r>
              <a:t>02 / BENCHMARK</a:t>
            </a:r>
          </a:p>
        </p:txBody>
      </p:sp>
      <p:sp>
        <p:nvSpPr>
          <p:cNvPr id="3" name="Rectangle 2">
            <a:extLst xmlns:a="http://schemas.openxmlformats.org/drawingml/2006/main">
              <a:ext uri="{FF2B5EF4-FFF2-40B4-BE49-F238E27FC236}">
                <a16:creationId xmlns:a16="http://schemas.microsoft.com/office/drawing/2014/main" id="{799E4E58-0787-4A54-B780-FE48F22AE2F5}"/>
              </a:ext>
            </a:extLst>
          </p:cNvPr>
          <p:cNvSpPr>
            <a:spLocks xmlns:a="http://schemas.openxmlformats.org/drawingml/2006/main" noGrp="1"/>
          </p:cNvSpPr>
          <p:nvPr/>
        </p:nvSpPr>
        <p:spPr>
          <a:xfrm xmlns:a="http://schemas.openxmlformats.org/drawingml/2006/main">
            <a:off x="603504" y="813816"/>
            <a:ext cx="10972800" cy="12801"/>
          </a:xfrm>
          <a:prstGeom xmlns:a="http://schemas.openxmlformats.org/drawingml/2006/main" prst="rect">
            <a:avLst/>
          </a:prstGeom>
          <a:solidFill xmlns:a="http://schemas.openxmlformats.org/drawingml/2006/main">
            <a:srgbClr val="D7DF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ED25022C-06AA-4B5C-BC4C-2135F3D32DAD}"/>
              </a:ext>
            </a:extLst>
          </p:cNvPr>
          <p:cNvSpPr>
            <a:spLocks xmlns:a="http://schemas.openxmlformats.org/drawingml/2006/main" noGrp="1"/>
          </p:cNvSpPr>
          <p:nvPr/>
        </p:nvSpPr>
        <p:spPr>
          <a:xfrm xmlns:a="http://schemas.openxmlformats.org/drawingml/2006/main">
            <a:off x="603504" y="1005840"/>
            <a:ext cx="10972800" cy="9692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3200" b="1">
                <a:solidFill>
                  <a:srgbClr val="152C3C"/>
                </a:solidFill>
                <a:latin typeface="Georgia"/>
                <a:ea typeface="Georgia"/>
                <a:cs typeface="Georgia"/>
              </a:defRPr>
            </a:pPr>
            <a:r>
              <a:t>100 truy vấn, 200 cặp qrels</a:t>
            </a:r>
          </a:p>
        </p:txBody>
      </p:sp>
      <p:sp>
        <p:nvSpPr>
          <p:cNvPr id="5" name="TextBox 4">
            <a:extLst xmlns:a="http://schemas.openxmlformats.org/drawingml/2006/main">
              <a:ext uri="{FF2B5EF4-FFF2-40B4-BE49-F238E27FC236}">
                <a16:creationId xmlns:a16="http://schemas.microsoft.com/office/drawing/2014/main" id="{B87445B2-AF0E-4CBB-8041-F56E4B7D4778}"/>
              </a:ext>
            </a:extLst>
          </p:cNvPr>
          <p:cNvSpPr>
            <a:spLocks xmlns:a="http://schemas.openxmlformats.org/drawingml/2006/main" noGrp="1"/>
          </p:cNvSpPr>
          <p:nvPr/>
        </p:nvSpPr>
        <p:spPr>
          <a:xfrm xmlns:a="http://schemas.openxmlformats.org/drawingml/2006/main">
            <a:off x="603504" y="1874519"/>
            <a:ext cx="10972800" cy="4297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0">
                <a:solidFill>
                  <a:srgbClr val="536774"/>
                </a:solidFill>
                <a:latin typeface="Verdana"/>
                <a:ea typeface="Verdana"/>
                <a:cs typeface="Verdana"/>
              </a:defRPr>
            </a:pPr>
            <a:r>
              <a:t>Sinh xác định từ 100 sản phẩm đa dạng theo category.</a:t>
            </a:r>
          </a:p>
        </p:txBody>
      </p:sp>
      <p:sp>
        <p:nvSpPr>
          <p:cNvPr id="6" name="Rectangle 5">
            <a:extLst xmlns:a="http://schemas.openxmlformats.org/drawingml/2006/main">
              <a:ext uri="{FF2B5EF4-FFF2-40B4-BE49-F238E27FC236}">
                <a16:creationId xmlns:a16="http://schemas.microsoft.com/office/drawing/2014/main" id="{16D8D58F-4622-4F43-99A4-5036744C7D39}"/>
              </a:ext>
            </a:extLst>
          </p:cNvPr>
          <p:cNvSpPr>
            <a:spLocks xmlns:a="http://schemas.openxmlformats.org/drawingml/2006/main" noGrp="1"/>
          </p:cNvSpPr>
          <p:nvPr/>
        </p:nvSpPr>
        <p:spPr>
          <a:xfrm xmlns:a="http://schemas.openxmlformats.org/drawingml/2006/main">
            <a:off x="603504" y="2542032"/>
            <a:ext cx="5394959" cy="2779776"/>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CA591F9C-787F-4163-881C-DA7738971E5A}"/>
              </a:ext>
            </a:extLst>
          </p:cNvPr>
          <p:cNvSpPr>
            <a:spLocks xmlns:a="http://schemas.openxmlformats.org/drawingml/2006/main" noGrp="1"/>
          </p:cNvSpPr>
          <p:nvPr/>
        </p:nvSpPr>
        <p:spPr>
          <a:xfrm xmlns:a="http://schemas.openxmlformats.org/drawingml/2006/main">
            <a:off x="603504" y="2542032"/>
            <a:ext cx="5394959" cy="32004"/>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F60E8F7F-1557-4C89-A5B5-0080BE0C4B83}"/>
              </a:ext>
            </a:extLst>
          </p:cNvPr>
          <p:cNvSpPr>
            <a:spLocks xmlns:a="http://schemas.openxmlformats.org/drawingml/2006/main" noGrp="1"/>
          </p:cNvSpPr>
          <p:nvPr/>
        </p:nvSpPr>
        <p:spPr>
          <a:xfrm xmlns:a="http://schemas.openxmlformats.org/drawingml/2006/main">
            <a:off x="804672" y="2706624"/>
            <a:ext cx="4992623"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00" b="1">
                <a:solidFill>
                  <a:srgbClr val="086F69"/>
                </a:solidFill>
                <a:latin typeface="Verdana"/>
                <a:ea typeface="Verdana"/>
                <a:cs typeface="Verdana"/>
              </a:defRPr>
            </a:pPr>
            <a:r>
              <a:t>01</a:t>
            </a:r>
          </a:p>
        </p:txBody>
      </p:sp>
      <p:sp>
        <p:nvSpPr>
          <p:cNvPr id="9" name="TextBox 8">
            <a:extLst xmlns:a="http://schemas.openxmlformats.org/drawingml/2006/main">
              <a:ext uri="{FF2B5EF4-FFF2-40B4-BE49-F238E27FC236}">
                <a16:creationId xmlns:a16="http://schemas.microsoft.com/office/drawing/2014/main" id="{FE55EC81-4791-4A8A-97D2-B193426F0AF6}"/>
              </a:ext>
            </a:extLst>
          </p:cNvPr>
          <p:cNvSpPr>
            <a:spLocks xmlns:a="http://schemas.openxmlformats.org/drawingml/2006/main" noGrp="1"/>
          </p:cNvSpPr>
          <p:nvPr/>
        </p:nvSpPr>
        <p:spPr>
          <a:xfrm xmlns:a="http://schemas.openxmlformats.org/drawingml/2006/main">
            <a:off x="804672" y="3044952"/>
            <a:ext cx="4992623"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900" b="1">
                <a:solidFill>
                  <a:srgbClr val="152C3C"/>
                </a:solidFill>
                <a:latin typeface="Verdana"/>
                <a:ea typeface="Verdana"/>
                <a:cs typeface="Verdana"/>
              </a:defRPr>
            </a:pPr>
            <a:r>
              <a:t>80 truy vấn text</a:t>
            </a:r>
          </a:p>
        </p:txBody>
      </p:sp>
      <p:sp>
        <p:nvSpPr>
          <p:cNvPr id="10" name="TextBox 9">
            <a:extLst xmlns:a="http://schemas.openxmlformats.org/drawingml/2006/main">
              <a:ext uri="{FF2B5EF4-FFF2-40B4-BE49-F238E27FC236}">
                <a16:creationId xmlns:a16="http://schemas.microsoft.com/office/drawing/2014/main" id="{671D621B-177B-45F5-A39B-B4D2B1AC5A81}"/>
              </a:ext>
            </a:extLst>
          </p:cNvPr>
          <p:cNvSpPr>
            <a:spLocks xmlns:a="http://schemas.openxmlformats.org/drawingml/2006/main" noGrp="1"/>
          </p:cNvSpPr>
          <p:nvPr/>
        </p:nvSpPr>
        <p:spPr>
          <a:xfrm xmlns:a="http://schemas.openxmlformats.org/drawingml/2006/main">
            <a:off x="804672" y="3648456"/>
            <a:ext cx="4992623" cy="157276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536774"/>
                </a:solidFill>
                <a:latin typeface="Verdana"/>
                <a:ea typeface="Verdana"/>
                <a:cs typeface="Verdana"/>
              </a:defRPr>
            </a:pPr>
            <a:r>
              <a:t>45 tiếng Anh · 35 tiếng Việt</a:t>
            </a:r>
          </a:p>
          <a:p xmlns:a="http://schemas.openxmlformats.org/drawingml/2006/main">
            <a:pPr>
              <a:lnSpc>
                <a:spcPct val="120000"/>
              </a:lnSpc>
              <a:spcBef>
                <a:spcPts val="0"/>
              </a:spcBef>
              <a:spcAft>
                <a:spcPts val="500"/>
              </a:spcAft>
              <a:buNone/>
              <a:defRPr sz="1600" b="0">
                <a:solidFill>
                  <a:srgbClr val="536774"/>
                </a:solidFill>
                <a:latin typeface="Verdana"/>
                <a:ea typeface="Verdana"/>
                <a:cs typeface="Verdana"/>
              </a:defRPr>
            </a:pPr>
            <a:r>
              <a:t>Exact · semantic/use-case · hard-negative</a:t>
            </a:r>
          </a:p>
        </p:txBody>
      </p:sp>
      <p:sp>
        <p:nvSpPr>
          <p:cNvPr id="11" name="Rectangle 10">
            <a:extLst xmlns:a="http://schemas.openxmlformats.org/drawingml/2006/main">
              <a:ext uri="{FF2B5EF4-FFF2-40B4-BE49-F238E27FC236}">
                <a16:creationId xmlns:a16="http://schemas.microsoft.com/office/drawing/2014/main" id="{C5D348A0-5557-4B58-A296-2BD602B22841}"/>
              </a:ext>
            </a:extLst>
          </p:cNvPr>
          <p:cNvSpPr>
            <a:spLocks xmlns:a="http://schemas.openxmlformats.org/drawingml/2006/main" noGrp="1"/>
          </p:cNvSpPr>
          <p:nvPr/>
        </p:nvSpPr>
        <p:spPr>
          <a:xfrm xmlns:a="http://schemas.openxmlformats.org/drawingml/2006/main">
            <a:off x="6181344" y="2542032"/>
            <a:ext cx="5394959" cy="2779776"/>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BA19D7D4-9511-485D-B5C7-436B42B7CDE5}"/>
              </a:ext>
            </a:extLst>
          </p:cNvPr>
          <p:cNvSpPr>
            <a:spLocks xmlns:a="http://schemas.openxmlformats.org/drawingml/2006/main" noGrp="1"/>
          </p:cNvSpPr>
          <p:nvPr/>
        </p:nvSpPr>
        <p:spPr>
          <a:xfrm xmlns:a="http://schemas.openxmlformats.org/drawingml/2006/main">
            <a:off x="6181344" y="2542032"/>
            <a:ext cx="5394959" cy="32004"/>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05598387-8B3E-44F3-B3E7-910AF7952C40}"/>
              </a:ext>
            </a:extLst>
          </p:cNvPr>
          <p:cNvSpPr>
            <a:spLocks xmlns:a="http://schemas.openxmlformats.org/drawingml/2006/main" noGrp="1"/>
          </p:cNvSpPr>
          <p:nvPr/>
        </p:nvSpPr>
        <p:spPr>
          <a:xfrm xmlns:a="http://schemas.openxmlformats.org/drawingml/2006/main">
            <a:off x="6382512" y="2706624"/>
            <a:ext cx="4992623"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00" b="1">
                <a:solidFill>
                  <a:srgbClr val="086F69"/>
                </a:solidFill>
                <a:latin typeface="Verdana"/>
                <a:ea typeface="Verdana"/>
                <a:cs typeface="Verdana"/>
              </a:defRPr>
            </a:pPr>
            <a:r>
              <a:t>02</a:t>
            </a:r>
          </a:p>
        </p:txBody>
      </p:sp>
      <p:sp>
        <p:nvSpPr>
          <p:cNvPr id="14" name="TextBox 13">
            <a:extLst xmlns:a="http://schemas.openxmlformats.org/drawingml/2006/main">
              <a:ext uri="{FF2B5EF4-FFF2-40B4-BE49-F238E27FC236}">
                <a16:creationId xmlns:a16="http://schemas.microsoft.com/office/drawing/2014/main" id="{96EDD29A-3FF7-48B9-913C-1AF844BDE8ED}"/>
              </a:ext>
            </a:extLst>
          </p:cNvPr>
          <p:cNvSpPr>
            <a:spLocks xmlns:a="http://schemas.openxmlformats.org/drawingml/2006/main" noGrp="1"/>
          </p:cNvSpPr>
          <p:nvPr/>
        </p:nvSpPr>
        <p:spPr>
          <a:xfrm xmlns:a="http://schemas.openxmlformats.org/drawingml/2006/main">
            <a:off x="6382512" y="3044952"/>
            <a:ext cx="4992623"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900" b="1">
                <a:solidFill>
                  <a:srgbClr val="152C3C"/>
                </a:solidFill>
                <a:latin typeface="Verdana"/>
                <a:ea typeface="Verdana"/>
                <a:cs typeface="Verdana"/>
              </a:defRPr>
            </a:pPr>
            <a:r>
              <a:t>20 truy vấn ảnh</a:t>
            </a:r>
          </a:p>
        </p:txBody>
      </p:sp>
      <p:sp>
        <p:nvSpPr>
          <p:cNvPr id="15" name="TextBox 14">
            <a:extLst xmlns:a="http://schemas.openxmlformats.org/drawingml/2006/main">
              <a:ext uri="{FF2B5EF4-FFF2-40B4-BE49-F238E27FC236}">
                <a16:creationId xmlns:a16="http://schemas.microsoft.com/office/drawing/2014/main" id="{C215B121-6B1A-44B2-808A-A38D6FADAEEC}"/>
              </a:ext>
            </a:extLst>
          </p:cNvPr>
          <p:cNvSpPr>
            <a:spLocks xmlns:a="http://schemas.openxmlformats.org/drawingml/2006/main" noGrp="1"/>
          </p:cNvSpPr>
          <p:nvPr/>
        </p:nvSpPr>
        <p:spPr>
          <a:xfrm xmlns:a="http://schemas.openxmlformats.org/drawingml/2006/main">
            <a:off x="6382512" y="3648456"/>
            <a:ext cx="4992623" cy="157276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536774"/>
                </a:solidFill>
                <a:latin typeface="Verdana"/>
                <a:ea typeface="Verdana"/>
                <a:cs typeface="Verdana"/>
              </a:defRPr>
            </a:pPr>
            <a:r>
              <a:t>Ảnh catalog → crop → resize</a:t>
            </a:r>
          </a:p>
          <a:p xmlns:a="http://schemas.openxmlformats.org/drawingml/2006/main">
            <a:pPr>
              <a:lnSpc>
                <a:spcPct val="120000"/>
              </a:lnSpc>
              <a:spcBef>
                <a:spcPts val="0"/>
              </a:spcBef>
              <a:spcAft>
                <a:spcPts val="500"/>
              </a:spcAft>
              <a:buNone/>
              <a:defRPr sz="1600" b="0">
                <a:solidFill>
                  <a:srgbClr val="536774"/>
                </a:solidFill>
                <a:latin typeface="Verdana"/>
                <a:ea typeface="Verdana"/>
                <a:cs typeface="Verdana"/>
              </a:defRPr>
            </a:pPr>
            <a:r>
              <a:t>Giảm contrast → nén lại JPEG</a:t>
            </a:r>
          </a:p>
        </p:txBody>
      </p:sp>
      <p:sp>
        <p:nvSpPr>
          <p:cNvPr id="16" name="Rectangle 15">
            <a:extLst xmlns:a="http://schemas.openxmlformats.org/drawingml/2006/main">
              <a:ext uri="{FF2B5EF4-FFF2-40B4-BE49-F238E27FC236}">
                <a16:creationId xmlns:a16="http://schemas.microsoft.com/office/drawing/2014/main" id="{7907CC8C-7839-4815-B736-A8FF98F08B0F}"/>
              </a:ext>
            </a:extLst>
          </p:cNvPr>
          <p:cNvSpPr>
            <a:spLocks xmlns:a="http://schemas.openxmlformats.org/drawingml/2006/main" noGrp="1"/>
          </p:cNvSpPr>
          <p:nvPr/>
        </p:nvSpPr>
        <p:spPr>
          <a:xfrm xmlns:a="http://schemas.openxmlformats.org/drawingml/2006/main">
            <a:off x="603504" y="5715000"/>
            <a:ext cx="10972800" cy="521207"/>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D402291B-4BB0-401D-A0C4-C10C80C958EB}"/>
              </a:ext>
            </a:extLst>
          </p:cNvPr>
          <p:cNvSpPr>
            <a:spLocks xmlns:a="http://schemas.openxmlformats.org/drawingml/2006/main" noGrp="1"/>
          </p:cNvSpPr>
          <p:nvPr/>
        </p:nvSpPr>
        <p:spPr>
          <a:xfrm xmlns:a="http://schemas.openxmlformats.org/drawingml/2006/main">
            <a:off x="603504" y="5715000"/>
            <a:ext cx="32004" cy="521207"/>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D1CDC876-7E3C-4E5B-8D23-DA10E8104DB3}"/>
              </a:ext>
            </a:extLst>
          </p:cNvPr>
          <p:cNvSpPr>
            <a:spLocks xmlns:a="http://schemas.openxmlformats.org/drawingml/2006/main" noGrp="1"/>
          </p:cNvSpPr>
          <p:nvPr/>
        </p:nvSpPr>
        <p:spPr>
          <a:xfrm xmlns:a="http://schemas.openxmlformats.org/drawingml/2006/main">
            <a:off x="758952" y="5833872"/>
            <a:ext cx="10652760" cy="3383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250" b="0">
                <a:solidFill>
                  <a:srgbClr val="086F69"/>
                </a:solidFill>
                <a:latin typeface="Verdana"/>
                <a:ea typeface="Verdana"/>
                <a:cs typeface="Verdana"/>
              </a:defRPr>
            </a:pPr>
            <a:r>
              <a:t>Mỗi query: 1 target mức 2 + 1 distractor mức 0. Grade 1 chưa dùng; qrels chưa review độc lập.</a:t>
            </a:r>
          </a:p>
        </p:txBody>
      </p:sp>
      <p:sp>
        <p:nvSpPr>
          <p:cNvPr id="19" name="TextBox 18">
            <a:extLst xmlns:a="http://schemas.openxmlformats.org/drawingml/2006/main">
              <a:ext uri="{FF2B5EF4-FFF2-40B4-BE49-F238E27FC236}">
                <a16:creationId xmlns:a16="http://schemas.microsoft.com/office/drawing/2014/main" id="{931B4718-245A-46BA-8C44-CAB67711C2A0}"/>
              </a:ext>
            </a:extLst>
          </p:cNvPr>
          <p:cNvSpPr>
            <a:spLocks xmlns:a="http://schemas.openxmlformats.org/drawingml/2006/main" noGrp="1"/>
          </p:cNvSpPr>
          <p:nvPr/>
        </p:nvSpPr>
        <p:spPr>
          <a:xfrm xmlns:a="http://schemas.openxmlformats.org/drawingml/2006/main">
            <a:off x="603504" y="6473952"/>
            <a:ext cx="9875520"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950" b="0">
                <a:solidFill>
                  <a:srgbClr val="536774"/>
                </a:solidFill>
                <a:latin typeface="Verdana"/>
                <a:ea typeface="Verdana"/>
                <a:cs typeface="Verdana"/>
              </a:defRPr>
            </a:pPr>
            <a:r>
              <a:t>Nguồn: báo cáo Nhóm 4 · PDF tr. 3–4</a:t>
            </a:r>
          </a:p>
        </p:txBody>
      </p:sp>
      <p:sp>
        <p:nvSpPr>
          <p:cNvPr id="20" name="TextBox 19">
            <a:extLst xmlns:a="http://schemas.openxmlformats.org/drawingml/2006/main">
              <a:ext uri="{FF2B5EF4-FFF2-40B4-BE49-F238E27FC236}">
                <a16:creationId xmlns:a16="http://schemas.microsoft.com/office/drawing/2014/main" id="{BBB1E2B5-B5E4-4D41-BF33-9EEE34DD11B4}"/>
              </a:ext>
            </a:extLst>
          </p:cNvPr>
          <p:cNvSpPr>
            <a:spLocks xmlns:a="http://schemas.openxmlformats.org/drawingml/2006/main" noGrp="1"/>
          </p:cNvSpPr>
          <p:nvPr/>
        </p:nvSpPr>
        <p:spPr>
          <a:xfrm xmlns:a="http://schemas.openxmlformats.org/drawingml/2006/main">
            <a:off x="10698480" y="6473952"/>
            <a:ext cx="886968"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r">
              <a:lnSpc>
                <a:spcPct val="120000"/>
              </a:lnSpc>
              <a:spcBef>
                <a:spcPts val="0"/>
              </a:spcBef>
              <a:spcAft>
                <a:spcPts val="500"/>
              </a:spcAft>
              <a:buNone/>
              <a:defRPr sz="950" b="0">
                <a:solidFill>
                  <a:srgbClr val="152C3C"/>
                </a:solidFill>
                <a:latin typeface="Verdana"/>
                <a:ea typeface="Verdana"/>
                <a:cs typeface="Verdana"/>
              </a:defRPr>
            </a:pPr>
            <a:r>
              <a:t>04 / 12</a:t>
            </a:r>
          </a:p>
        </p:txBody>
      </p:sp>
    </p:spTree>
    <p:extLst>
      <p:ext uri="{BB962C8B-B14F-4D97-AF65-F5344CB8AC3E}">
        <p14:creationId xmlns:p14="http://schemas.microsoft.com/office/powerpoint/2010/main" val="298874511"/>
      </p:ext>
    </p:extLst>
  </p:cSld>
</p:sld>
</file>

<file path=ppt/slides/slide5.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A102AA7-2E59-43D3-AC7F-E4A2C75BFF73}"/>
              </a:ext>
            </a:extLst>
          </p:cNvPr>
          <p:cNvSpPr>
            <a:spLocks xmlns:a="http://schemas.openxmlformats.org/drawingml/2006/main" noGrp="1"/>
          </p:cNvSpPr>
          <p:nvPr/>
        </p:nvSpPr>
        <p:spPr>
          <a:xfrm xmlns:a="http://schemas.openxmlformats.org/drawingml/2006/main">
            <a:off x="603504" y="384048"/>
            <a:ext cx="10972800" cy="2468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50" b="1">
                <a:solidFill>
                  <a:srgbClr val="086F69"/>
                </a:solidFill>
                <a:latin typeface="Verdana"/>
                <a:ea typeface="Verdana"/>
                <a:cs typeface="Verdana"/>
              </a:defRPr>
            </a:pPr>
            <a:r>
              <a:t>03 / PHƯƠNG PHÁP</a:t>
            </a:r>
          </a:p>
        </p:txBody>
      </p:sp>
      <p:sp>
        <p:nvSpPr>
          <p:cNvPr id="3" name="Rectangle 2">
            <a:extLst xmlns:a="http://schemas.openxmlformats.org/drawingml/2006/main">
              <a:ext uri="{FF2B5EF4-FFF2-40B4-BE49-F238E27FC236}">
                <a16:creationId xmlns:a16="http://schemas.microsoft.com/office/drawing/2014/main" id="{AEF70E96-4936-47B3-B606-65B637075B8E}"/>
              </a:ext>
            </a:extLst>
          </p:cNvPr>
          <p:cNvSpPr>
            <a:spLocks xmlns:a="http://schemas.openxmlformats.org/drawingml/2006/main" noGrp="1"/>
          </p:cNvSpPr>
          <p:nvPr/>
        </p:nvSpPr>
        <p:spPr>
          <a:xfrm xmlns:a="http://schemas.openxmlformats.org/drawingml/2006/main">
            <a:off x="603504" y="813816"/>
            <a:ext cx="10972800" cy="12801"/>
          </a:xfrm>
          <a:prstGeom xmlns:a="http://schemas.openxmlformats.org/drawingml/2006/main" prst="rect">
            <a:avLst/>
          </a:prstGeom>
          <a:solidFill xmlns:a="http://schemas.openxmlformats.org/drawingml/2006/main">
            <a:srgbClr val="D7DF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F59AE2D4-52A1-4A12-BE8F-B2448BAC8D3B}"/>
              </a:ext>
            </a:extLst>
          </p:cNvPr>
          <p:cNvSpPr>
            <a:spLocks xmlns:a="http://schemas.openxmlformats.org/drawingml/2006/main" noGrp="1"/>
          </p:cNvSpPr>
          <p:nvPr/>
        </p:nvSpPr>
        <p:spPr>
          <a:xfrm xmlns:a="http://schemas.openxmlformats.org/drawingml/2006/main">
            <a:off x="603504" y="1005840"/>
            <a:ext cx="10972800" cy="9692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3200" b="1">
                <a:solidFill>
                  <a:srgbClr val="152C3C"/>
                </a:solidFill>
                <a:latin typeface="Georgia"/>
                <a:ea typeface="Georgia"/>
                <a:cs typeface="Georgia"/>
              </a:defRPr>
            </a:pPr>
            <a:r>
              <a:t>Bốn đường truy hồi cơ bản</a:t>
            </a:r>
          </a:p>
        </p:txBody>
      </p:sp>
      <p:sp>
        <p:nvSpPr>
          <p:cNvPr id="5" name="TextBox 4">
            <a:extLst xmlns:a="http://schemas.openxmlformats.org/drawingml/2006/main">
              <a:ext uri="{FF2B5EF4-FFF2-40B4-BE49-F238E27FC236}">
                <a16:creationId xmlns:a16="http://schemas.microsoft.com/office/drawing/2014/main" id="{456A1503-E3E8-40AB-9477-E41743355F7C}"/>
              </a:ext>
            </a:extLst>
          </p:cNvPr>
          <p:cNvSpPr>
            <a:spLocks xmlns:a="http://schemas.openxmlformats.org/drawingml/2006/main" noGrp="1"/>
          </p:cNvSpPr>
          <p:nvPr/>
        </p:nvSpPr>
        <p:spPr>
          <a:xfrm xmlns:a="http://schemas.openxmlformats.org/drawingml/2006/main">
            <a:off x="603504" y="1874519"/>
            <a:ext cx="10972800" cy="4297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0">
                <a:solidFill>
                  <a:srgbClr val="536774"/>
                </a:solidFill>
                <a:latin typeface="Verdana"/>
                <a:ea typeface="Verdana"/>
                <a:cs typeface="Verdana"/>
              </a:defRPr>
            </a:pPr>
            <a:r>
              <a:t>Encoder: google/siglip2-base-patch16-224 · vector văn bản/ảnh chuẩn hóa L2.</a:t>
            </a:r>
          </a:p>
        </p:txBody>
      </p:sp>
      <p:sp>
        <p:nvSpPr>
          <p:cNvPr id="6" name="Rectangle 5">
            <a:extLst xmlns:a="http://schemas.openxmlformats.org/drawingml/2006/main">
              <a:ext uri="{FF2B5EF4-FFF2-40B4-BE49-F238E27FC236}">
                <a16:creationId xmlns:a16="http://schemas.microsoft.com/office/drawing/2014/main" id="{CB171FC4-F7E8-47A6-8868-9F3713EFDCB3}"/>
              </a:ext>
            </a:extLst>
          </p:cNvPr>
          <p:cNvSpPr>
            <a:spLocks xmlns:a="http://schemas.openxmlformats.org/drawingml/2006/main" noGrp="1"/>
          </p:cNvSpPr>
          <p:nvPr/>
        </p:nvSpPr>
        <p:spPr>
          <a:xfrm xmlns:a="http://schemas.openxmlformats.org/drawingml/2006/main">
            <a:off x="603504" y="2542032"/>
            <a:ext cx="5394959" cy="1298448"/>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90A25E3F-AC00-4CCD-8C98-FE24A995D17B}"/>
              </a:ext>
            </a:extLst>
          </p:cNvPr>
          <p:cNvSpPr>
            <a:spLocks xmlns:a="http://schemas.openxmlformats.org/drawingml/2006/main" noGrp="1"/>
          </p:cNvSpPr>
          <p:nvPr/>
        </p:nvSpPr>
        <p:spPr>
          <a:xfrm xmlns:a="http://schemas.openxmlformats.org/drawingml/2006/main">
            <a:off x="603504" y="2542032"/>
            <a:ext cx="5394959" cy="32004"/>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5815EDB7-0D45-4EE0-8DA9-13225674BA96}"/>
              </a:ext>
            </a:extLst>
          </p:cNvPr>
          <p:cNvSpPr>
            <a:spLocks xmlns:a="http://schemas.openxmlformats.org/drawingml/2006/main" noGrp="1"/>
          </p:cNvSpPr>
          <p:nvPr/>
        </p:nvSpPr>
        <p:spPr>
          <a:xfrm xmlns:a="http://schemas.openxmlformats.org/drawingml/2006/main">
            <a:off x="804672" y="2679191"/>
            <a:ext cx="4992623" cy="3200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700" b="1">
                <a:solidFill>
                  <a:srgbClr val="152C3C"/>
                </a:solidFill>
                <a:latin typeface="Verdana"/>
                <a:ea typeface="Verdana"/>
                <a:cs typeface="Verdana"/>
              </a:defRPr>
            </a:pPr>
            <a:r>
              <a:t>BM25</a:t>
            </a:r>
          </a:p>
        </p:txBody>
      </p:sp>
      <p:sp>
        <p:nvSpPr>
          <p:cNvPr id="9" name="TextBox 8">
            <a:extLst xmlns:a="http://schemas.openxmlformats.org/drawingml/2006/main">
              <a:ext uri="{FF2B5EF4-FFF2-40B4-BE49-F238E27FC236}">
                <a16:creationId xmlns:a16="http://schemas.microsoft.com/office/drawing/2014/main" id="{1A2156D8-7ACD-4770-A4A0-5039D4B31D4C}"/>
              </a:ext>
            </a:extLst>
          </p:cNvPr>
          <p:cNvSpPr>
            <a:spLocks xmlns:a="http://schemas.openxmlformats.org/drawingml/2006/main" noGrp="1"/>
          </p:cNvSpPr>
          <p:nvPr/>
        </p:nvSpPr>
        <p:spPr>
          <a:xfrm xmlns:a="http://schemas.openxmlformats.org/drawingml/2006/main">
            <a:off x="804672" y="3081527"/>
            <a:ext cx="4992623" cy="6583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12000"/>
              </a:lnSpc>
              <a:spcBef>
                <a:spcPts val="0"/>
              </a:spcBef>
              <a:spcAft>
                <a:spcPts val="0"/>
              </a:spcAft>
              <a:buNone/>
              <a:defRPr sz="1400" b="0">
                <a:solidFill>
                  <a:srgbClr val="536774"/>
                </a:solidFill>
                <a:latin typeface="Verdana"/>
                <a:ea typeface="Verdana"/>
                <a:cs typeface="Verdana"/>
              </a:defRPr>
            </a:pPr>
            <a:r>
              <a:t>Text → trường metadata</a:t>
            </a:r>
          </a:p>
          <a:p xmlns:a="http://schemas.openxmlformats.org/drawingml/2006/main">
            <a:pPr>
              <a:lnSpc>
                <a:spcPct val="112000"/>
              </a:lnSpc>
              <a:spcBef>
                <a:spcPts val="0"/>
              </a:spcBef>
              <a:spcAft>
                <a:spcPts val="0"/>
              </a:spcAft>
              <a:buNone/>
              <a:defRPr sz="1400" b="0">
                <a:solidFill>
                  <a:srgbClr val="536774"/>
                </a:solidFill>
                <a:latin typeface="Verdana"/>
                <a:ea typeface="Verdana"/>
                <a:cs typeface="Verdana"/>
              </a:defRPr>
            </a:pPr>
            <a:r>
              <a:t>Khớp từ khóa; boost title, brand/category và ID</a:t>
            </a:r>
          </a:p>
        </p:txBody>
      </p:sp>
      <p:sp>
        <p:nvSpPr>
          <p:cNvPr id="10" name="Rectangle 9">
            <a:extLst xmlns:a="http://schemas.openxmlformats.org/drawingml/2006/main">
              <a:ext uri="{FF2B5EF4-FFF2-40B4-BE49-F238E27FC236}">
                <a16:creationId xmlns:a16="http://schemas.microsoft.com/office/drawing/2014/main" id="{EF4E8AC9-33B9-4275-9D99-0B00F5666E90}"/>
              </a:ext>
            </a:extLst>
          </p:cNvPr>
          <p:cNvSpPr>
            <a:spLocks xmlns:a="http://schemas.openxmlformats.org/drawingml/2006/main" noGrp="1"/>
          </p:cNvSpPr>
          <p:nvPr/>
        </p:nvSpPr>
        <p:spPr>
          <a:xfrm xmlns:a="http://schemas.openxmlformats.org/drawingml/2006/main">
            <a:off x="6181344" y="2542032"/>
            <a:ext cx="5394959" cy="1298448"/>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7FAAAAA3-29CA-4E27-A3E5-CFB90D5C67C7}"/>
              </a:ext>
            </a:extLst>
          </p:cNvPr>
          <p:cNvSpPr>
            <a:spLocks xmlns:a="http://schemas.openxmlformats.org/drawingml/2006/main" noGrp="1"/>
          </p:cNvSpPr>
          <p:nvPr/>
        </p:nvSpPr>
        <p:spPr>
          <a:xfrm xmlns:a="http://schemas.openxmlformats.org/drawingml/2006/main">
            <a:off x="6181344" y="2542032"/>
            <a:ext cx="5394959" cy="32004"/>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F9702152-38E2-4B61-8F78-8BB03C4B1DDC}"/>
              </a:ext>
            </a:extLst>
          </p:cNvPr>
          <p:cNvSpPr>
            <a:spLocks xmlns:a="http://schemas.openxmlformats.org/drawingml/2006/main" noGrp="1"/>
          </p:cNvSpPr>
          <p:nvPr/>
        </p:nvSpPr>
        <p:spPr>
          <a:xfrm xmlns:a="http://schemas.openxmlformats.org/drawingml/2006/main">
            <a:off x="6382512" y="2679191"/>
            <a:ext cx="4992623" cy="3200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700" b="1">
                <a:solidFill>
                  <a:srgbClr val="152C3C"/>
                </a:solidFill>
                <a:latin typeface="Verdana"/>
                <a:ea typeface="Verdana"/>
                <a:cs typeface="Verdana"/>
              </a:defRPr>
            </a:pPr>
            <a:r>
              <a:t>Dense text</a:t>
            </a:r>
          </a:p>
        </p:txBody>
      </p:sp>
      <p:sp>
        <p:nvSpPr>
          <p:cNvPr id="13" name="TextBox 12">
            <a:extLst xmlns:a="http://schemas.openxmlformats.org/drawingml/2006/main">
              <a:ext uri="{FF2B5EF4-FFF2-40B4-BE49-F238E27FC236}">
                <a16:creationId xmlns:a16="http://schemas.microsoft.com/office/drawing/2014/main" id="{5122FBA9-A984-410D-BAFC-D7BD94902AD2}"/>
              </a:ext>
            </a:extLst>
          </p:cNvPr>
          <p:cNvSpPr>
            <a:spLocks xmlns:a="http://schemas.openxmlformats.org/drawingml/2006/main" noGrp="1"/>
          </p:cNvSpPr>
          <p:nvPr/>
        </p:nvSpPr>
        <p:spPr>
          <a:xfrm xmlns:a="http://schemas.openxmlformats.org/drawingml/2006/main">
            <a:off x="6382512" y="3081527"/>
            <a:ext cx="4992623" cy="6583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12000"/>
              </a:lnSpc>
              <a:spcBef>
                <a:spcPts val="0"/>
              </a:spcBef>
              <a:spcAft>
                <a:spcPts val="0"/>
              </a:spcAft>
              <a:buNone/>
              <a:defRPr sz="1400" b="0">
                <a:solidFill>
                  <a:srgbClr val="536774"/>
                </a:solidFill>
                <a:latin typeface="Verdana"/>
                <a:ea typeface="Verdana"/>
                <a:cs typeface="Verdana"/>
              </a:defRPr>
            </a:pPr>
            <a:r>
              <a:t>Text → SigLIP2 → text_vector</a:t>
            </a:r>
          </a:p>
          <a:p xmlns:a="http://schemas.openxmlformats.org/drawingml/2006/main">
            <a:pPr>
              <a:lnSpc>
                <a:spcPct val="112000"/>
              </a:lnSpc>
              <a:spcBef>
                <a:spcPts val="0"/>
              </a:spcBef>
              <a:spcAft>
                <a:spcPts val="0"/>
              </a:spcAft>
              <a:buNone/>
              <a:defRPr sz="1400" b="0">
                <a:solidFill>
                  <a:srgbClr val="536774"/>
                </a:solidFill>
                <a:latin typeface="Verdana"/>
                <a:ea typeface="Verdana"/>
                <a:cs typeface="Verdana"/>
              </a:defRPr>
            </a:pPr>
            <a:r>
              <a:t>kNN trong không gian văn bản</a:t>
            </a:r>
          </a:p>
        </p:txBody>
      </p:sp>
      <p:sp>
        <p:nvSpPr>
          <p:cNvPr id="14" name="Rectangle 13">
            <a:extLst xmlns:a="http://schemas.openxmlformats.org/drawingml/2006/main">
              <a:ext uri="{FF2B5EF4-FFF2-40B4-BE49-F238E27FC236}">
                <a16:creationId xmlns:a16="http://schemas.microsoft.com/office/drawing/2014/main" id="{4E67CF38-14D4-4907-B19F-FF12CBC5013B}"/>
              </a:ext>
            </a:extLst>
          </p:cNvPr>
          <p:cNvSpPr>
            <a:spLocks xmlns:a="http://schemas.openxmlformats.org/drawingml/2006/main" noGrp="1"/>
          </p:cNvSpPr>
          <p:nvPr/>
        </p:nvSpPr>
        <p:spPr>
          <a:xfrm xmlns:a="http://schemas.openxmlformats.org/drawingml/2006/main">
            <a:off x="603504" y="4023359"/>
            <a:ext cx="5394959" cy="1298448"/>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Rectangle 14">
            <a:extLst xmlns:a="http://schemas.openxmlformats.org/drawingml/2006/main">
              <a:ext uri="{FF2B5EF4-FFF2-40B4-BE49-F238E27FC236}">
                <a16:creationId xmlns:a16="http://schemas.microsoft.com/office/drawing/2014/main" id="{ABDD9BE7-DA4C-48B0-A1B8-E09DD50A9DB4}"/>
              </a:ext>
            </a:extLst>
          </p:cNvPr>
          <p:cNvSpPr>
            <a:spLocks xmlns:a="http://schemas.openxmlformats.org/drawingml/2006/main" noGrp="1"/>
          </p:cNvSpPr>
          <p:nvPr/>
        </p:nvSpPr>
        <p:spPr>
          <a:xfrm xmlns:a="http://schemas.openxmlformats.org/drawingml/2006/main">
            <a:off x="603504" y="4023359"/>
            <a:ext cx="5394959" cy="32004"/>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9798E23B-A225-4681-830F-FB668FC25C67}"/>
              </a:ext>
            </a:extLst>
          </p:cNvPr>
          <p:cNvSpPr>
            <a:spLocks xmlns:a="http://schemas.openxmlformats.org/drawingml/2006/main" noGrp="1"/>
          </p:cNvSpPr>
          <p:nvPr/>
        </p:nvSpPr>
        <p:spPr>
          <a:xfrm xmlns:a="http://schemas.openxmlformats.org/drawingml/2006/main">
            <a:off x="804672" y="4160520"/>
            <a:ext cx="4992623" cy="3200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700" b="1">
                <a:solidFill>
                  <a:srgbClr val="152C3C"/>
                </a:solidFill>
                <a:latin typeface="Verdana"/>
                <a:ea typeface="Verdana"/>
                <a:cs typeface="Verdana"/>
              </a:defRPr>
            </a:pPr>
            <a:r>
              <a:t>Cross-modal</a:t>
            </a:r>
          </a:p>
        </p:txBody>
      </p:sp>
      <p:sp>
        <p:nvSpPr>
          <p:cNvPr id="17" name="TextBox 16">
            <a:extLst xmlns:a="http://schemas.openxmlformats.org/drawingml/2006/main">
              <a:ext uri="{FF2B5EF4-FFF2-40B4-BE49-F238E27FC236}">
                <a16:creationId xmlns:a16="http://schemas.microsoft.com/office/drawing/2014/main" id="{78CE51B3-CC7B-42C8-95AB-6FDBD5987E2F}"/>
              </a:ext>
            </a:extLst>
          </p:cNvPr>
          <p:cNvSpPr>
            <a:spLocks xmlns:a="http://schemas.openxmlformats.org/drawingml/2006/main" noGrp="1"/>
          </p:cNvSpPr>
          <p:nvPr/>
        </p:nvSpPr>
        <p:spPr>
          <a:xfrm xmlns:a="http://schemas.openxmlformats.org/drawingml/2006/main">
            <a:off x="804672" y="4562855"/>
            <a:ext cx="4992623" cy="6583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12000"/>
              </a:lnSpc>
              <a:spcBef>
                <a:spcPts val="0"/>
              </a:spcBef>
              <a:spcAft>
                <a:spcPts val="0"/>
              </a:spcAft>
              <a:buNone/>
              <a:defRPr sz="1400" b="0">
                <a:solidFill>
                  <a:srgbClr val="536774"/>
                </a:solidFill>
                <a:latin typeface="Verdana"/>
                <a:ea typeface="Verdana"/>
                <a:cs typeface="Verdana"/>
              </a:defRPr>
            </a:pPr>
            <a:r>
              <a:t>Text → SigLIP2 → image_vector</a:t>
            </a:r>
          </a:p>
          <a:p xmlns:a="http://schemas.openxmlformats.org/drawingml/2006/main">
            <a:pPr>
              <a:lnSpc>
                <a:spcPct val="112000"/>
              </a:lnSpc>
              <a:spcBef>
                <a:spcPts val="0"/>
              </a:spcBef>
              <a:spcAft>
                <a:spcPts val="0"/>
              </a:spcAft>
              <a:buNone/>
              <a:defRPr sz="1400" b="0">
                <a:solidFill>
                  <a:srgbClr val="536774"/>
                </a:solidFill>
                <a:latin typeface="Verdana"/>
                <a:ea typeface="Verdana"/>
                <a:cs typeface="Verdana"/>
              </a:defRPr>
            </a:pPr>
            <a:r>
              <a:t>Ánh xạ mô tả sang hình ảnh</a:t>
            </a:r>
          </a:p>
        </p:txBody>
      </p:sp>
      <p:sp>
        <p:nvSpPr>
          <p:cNvPr id="18" name="Rectangle 17">
            <a:extLst xmlns:a="http://schemas.openxmlformats.org/drawingml/2006/main">
              <a:ext uri="{FF2B5EF4-FFF2-40B4-BE49-F238E27FC236}">
                <a16:creationId xmlns:a16="http://schemas.microsoft.com/office/drawing/2014/main" id="{9732A1F3-30B9-4768-8AA2-486AED1793AF}"/>
              </a:ext>
            </a:extLst>
          </p:cNvPr>
          <p:cNvSpPr>
            <a:spLocks xmlns:a="http://schemas.openxmlformats.org/drawingml/2006/main" noGrp="1"/>
          </p:cNvSpPr>
          <p:nvPr/>
        </p:nvSpPr>
        <p:spPr>
          <a:xfrm xmlns:a="http://schemas.openxmlformats.org/drawingml/2006/main">
            <a:off x="6181344" y="4023359"/>
            <a:ext cx="5394959" cy="1298448"/>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Rectangle 18">
            <a:extLst xmlns:a="http://schemas.openxmlformats.org/drawingml/2006/main">
              <a:ext uri="{FF2B5EF4-FFF2-40B4-BE49-F238E27FC236}">
                <a16:creationId xmlns:a16="http://schemas.microsoft.com/office/drawing/2014/main" id="{AFA3C86A-BD1B-4DB6-9D8B-4FB2B4FFD741}"/>
              </a:ext>
            </a:extLst>
          </p:cNvPr>
          <p:cNvSpPr>
            <a:spLocks xmlns:a="http://schemas.openxmlformats.org/drawingml/2006/main" noGrp="1"/>
          </p:cNvSpPr>
          <p:nvPr/>
        </p:nvSpPr>
        <p:spPr>
          <a:xfrm xmlns:a="http://schemas.openxmlformats.org/drawingml/2006/main">
            <a:off x="6181344" y="4023359"/>
            <a:ext cx="5394959" cy="32004"/>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8003F39E-BBDF-42D7-82F1-FAFB5C5A6AED}"/>
              </a:ext>
            </a:extLst>
          </p:cNvPr>
          <p:cNvSpPr>
            <a:spLocks xmlns:a="http://schemas.openxmlformats.org/drawingml/2006/main" noGrp="1"/>
          </p:cNvSpPr>
          <p:nvPr/>
        </p:nvSpPr>
        <p:spPr>
          <a:xfrm xmlns:a="http://schemas.openxmlformats.org/drawingml/2006/main">
            <a:off x="6382512" y="4160520"/>
            <a:ext cx="4992623" cy="3200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700" b="1">
                <a:solidFill>
                  <a:srgbClr val="152C3C"/>
                </a:solidFill>
                <a:latin typeface="Verdana"/>
                <a:ea typeface="Verdana"/>
                <a:cs typeface="Verdana"/>
              </a:defRPr>
            </a:pPr>
            <a:r>
              <a:t>Image dense</a:t>
            </a:r>
          </a:p>
        </p:txBody>
      </p:sp>
      <p:sp>
        <p:nvSpPr>
          <p:cNvPr id="21" name="TextBox 20">
            <a:extLst xmlns:a="http://schemas.openxmlformats.org/drawingml/2006/main">
              <a:ext uri="{FF2B5EF4-FFF2-40B4-BE49-F238E27FC236}">
                <a16:creationId xmlns:a16="http://schemas.microsoft.com/office/drawing/2014/main" id="{2F219E10-301F-468F-AC0B-C6EADA4964A6}"/>
              </a:ext>
            </a:extLst>
          </p:cNvPr>
          <p:cNvSpPr>
            <a:spLocks xmlns:a="http://schemas.openxmlformats.org/drawingml/2006/main" noGrp="1"/>
          </p:cNvSpPr>
          <p:nvPr/>
        </p:nvSpPr>
        <p:spPr>
          <a:xfrm xmlns:a="http://schemas.openxmlformats.org/drawingml/2006/main">
            <a:off x="6382512" y="4562855"/>
            <a:ext cx="4992623" cy="6583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12000"/>
              </a:lnSpc>
              <a:spcBef>
                <a:spcPts val="0"/>
              </a:spcBef>
              <a:spcAft>
                <a:spcPts val="0"/>
              </a:spcAft>
              <a:buNone/>
              <a:defRPr sz="1400" b="0">
                <a:solidFill>
                  <a:srgbClr val="536774"/>
                </a:solidFill>
                <a:latin typeface="Verdana"/>
                <a:ea typeface="Verdana"/>
                <a:cs typeface="Verdana"/>
              </a:defRPr>
            </a:pPr>
            <a:r>
              <a:t>Ảnh → SigLIP2 → image_vector</a:t>
            </a:r>
          </a:p>
          <a:p xmlns:a="http://schemas.openxmlformats.org/drawingml/2006/main">
            <a:pPr>
              <a:lnSpc>
                <a:spcPct val="112000"/>
              </a:lnSpc>
              <a:spcBef>
                <a:spcPts val="0"/>
              </a:spcBef>
              <a:spcAft>
                <a:spcPts val="0"/>
              </a:spcAft>
              <a:buNone/>
              <a:defRPr sz="1400" b="0">
                <a:solidFill>
                  <a:srgbClr val="536774"/>
                </a:solidFill>
                <a:latin typeface="Verdana"/>
                <a:ea typeface="Verdana"/>
                <a:cs typeface="Verdana"/>
              </a:defRPr>
            </a:pPr>
            <a:r>
              <a:t>Tìm sản phẩm qua ảnh truy vấn</a:t>
            </a:r>
          </a:p>
        </p:txBody>
      </p:sp>
      <p:sp>
        <p:nvSpPr>
          <p:cNvPr id="22" name="Rectangle 21">
            <a:extLst xmlns:a="http://schemas.openxmlformats.org/drawingml/2006/main">
              <a:ext uri="{FF2B5EF4-FFF2-40B4-BE49-F238E27FC236}">
                <a16:creationId xmlns:a16="http://schemas.microsoft.com/office/drawing/2014/main" id="{4DAADBE6-170D-43CB-BABB-900C98BD8478}"/>
              </a:ext>
            </a:extLst>
          </p:cNvPr>
          <p:cNvSpPr>
            <a:spLocks xmlns:a="http://schemas.openxmlformats.org/drawingml/2006/main" noGrp="1"/>
          </p:cNvSpPr>
          <p:nvPr/>
        </p:nvSpPr>
        <p:spPr>
          <a:xfrm xmlns:a="http://schemas.openxmlformats.org/drawingml/2006/main">
            <a:off x="603504" y="5715000"/>
            <a:ext cx="10972800" cy="521207"/>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Rectangle 22">
            <a:extLst xmlns:a="http://schemas.openxmlformats.org/drawingml/2006/main">
              <a:ext uri="{FF2B5EF4-FFF2-40B4-BE49-F238E27FC236}">
                <a16:creationId xmlns:a16="http://schemas.microsoft.com/office/drawing/2014/main" id="{D05F5CB4-D399-4B07-BD77-8AAAEC64E087}"/>
              </a:ext>
            </a:extLst>
          </p:cNvPr>
          <p:cNvSpPr>
            <a:spLocks xmlns:a="http://schemas.openxmlformats.org/drawingml/2006/main" noGrp="1"/>
          </p:cNvSpPr>
          <p:nvPr/>
        </p:nvSpPr>
        <p:spPr>
          <a:xfrm xmlns:a="http://schemas.openxmlformats.org/drawingml/2006/main">
            <a:off x="603504" y="5715000"/>
            <a:ext cx="32004" cy="521207"/>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40C2E934-D2F1-4326-8CB5-D6C675F2B301}"/>
              </a:ext>
            </a:extLst>
          </p:cNvPr>
          <p:cNvSpPr>
            <a:spLocks xmlns:a="http://schemas.openxmlformats.org/drawingml/2006/main" noGrp="1"/>
          </p:cNvSpPr>
          <p:nvPr/>
        </p:nvSpPr>
        <p:spPr>
          <a:xfrm xmlns:a="http://schemas.openxmlformats.org/drawingml/2006/main">
            <a:off x="758952" y="5833872"/>
            <a:ext cx="10652760" cy="3383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250" b="0">
                <a:solidFill>
                  <a:srgbClr val="086F69"/>
                </a:solidFill>
                <a:latin typeface="Verdana"/>
                <a:ea typeface="Verdana"/>
                <a:cs typeface="Verdana"/>
              </a:defRPr>
            </a:pPr>
            <a:r>
              <a:t>Hybrid: BM25 + dense text. RRF: score(d) = Σᵢ 1/(60 + rankᵢ(d)).</a:t>
            </a:r>
          </a:p>
        </p:txBody>
      </p:sp>
      <p:sp>
        <p:nvSpPr>
          <p:cNvPr id="25" name="TextBox 24">
            <a:extLst xmlns:a="http://schemas.openxmlformats.org/drawingml/2006/main">
              <a:ext uri="{FF2B5EF4-FFF2-40B4-BE49-F238E27FC236}">
                <a16:creationId xmlns:a16="http://schemas.microsoft.com/office/drawing/2014/main" id="{456C490A-3875-47F0-BF44-7FB510F9A947}"/>
              </a:ext>
            </a:extLst>
          </p:cNvPr>
          <p:cNvSpPr>
            <a:spLocks xmlns:a="http://schemas.openxmlformats.org/drawingml/2006/main" noGrp="1"/>
          </p:cNvSpPr>
          <p:nvPr/>
        </p:nvSpPr>
        <p:spPr>
          <a:xfrm xmlns:a="http://schemas.openxmlformats.org/drawingml/2006/main">
            <a:off x="603504" y="6473952"/>
            <a:ext cx="9875520"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950" b="0">
                <a:solidFill>
                  <a:srgbClr val="536774"/>
                </a:solidFill>
                <a:latin typeface="Verdana"/>
                <a:ea typeface="Verdana"/>
                <a:cs typeface="Verdana"/>
              </a:defRPr>
            </a:pPr>
            <a:r>
              <a:t>Nguồn: báo cáo Nhóm 4 · PDF tr. 4–5</a:t>
            </a:r>
          </a:p>
        </p:txBody>
      </p:sp>
      <p:sp>
        <p:nvSpPr>
          <p:cNvPr id="26" name="TextBox 25">
            <a:extLst xmlns:a="http://schemas.openxmlformats.org/drawingml/2006/main">
              <a:ext uri="{FF2B5EF4-FFF2-40B4-BE49-F238E27FC236}">
                <a16:creationId xmlns:a16="http://schemas.microsoft.com/office/drawing/2014/main" id="{2BF7CDDE-8FC2-4CB6-8AC3-52A950D73CD2}"/>
              </a:ext>
            </a:extLst>
          </p:cNvPr>
          <p:cNvSpPr>
            <a:spLocks xmlns:a="http://schemas.openxmlformats.org/drawingml/2006/main" noGrp="1"/>
          </p:cNvSpPr>
          <p:nvPr/>
        </p:nvSpPr>
        <p:spPr>
          <a:xfrm xmlns:a="http://schemas.openxmlformats.org/drawingml/2006/main">
            <a:off x="10698480" y="6473952"/>
            <a:ext cx="886968"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r">
              <a:lnSpc>
                <a:spcPct val="120000"/>
              </a:lnSpc>
              <a:spcBef>
                <a:spcPts val="0"/>
              </a:spcBef>
              <a:spcAft>
                <a:spcPts val="500"/>
              </a:spcAft>
              <a:buNone/>
              <a:defRPr sz="950" b="0">
                <a:solidFill>
                  <a:srgbClr val="152C3C"/>
                </a:solidFill>
                <a:latin typeface="Verdana"/>
                <a:ea typeface="Verdana"/>
                <a:cs typeface="Verdana"/>
              </a:defRPr>
            </a:pPr>
            <a:r>
              <a:t>05 / 12</a:t>
            </a:r>
          </a:p>
        </p:txBody>
      </p:sp>
    </p:spTree>
    <p:extLst>
      <p:ext uri="{BB962C8B-B14F-4D97-AF65-F5344CB8AC3E}">
        <p14:creationId xmlns:p14="http://schemas.microsoft.com/office/powerpoint/2010/main" val="1398270932"/>
      </p:ext>
    </p:extLst>
  </p:cSld>
</p:sld>
</file>

<file path=ppt/slides/slide6.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0E89ADE-48C6-4B66-A5CA-637DAEEE6403}"/>
              </a:ext>
            </a:extLst>
          </p:cNvPr>
          <p:cNvSpPr>
            <a:spLocks xmlns:a="http://schemas.openxmlformats.org/drawingml/2006/main" noGrp="1"/>
          </p:cNvSpPr>
          <p:nvPr/>
        </p:nvSpPr>
        <p:spPr>
          <a:xfrm xmlns:a="http://schemas.openxmlformats.org/drawingml/2006/main">
            <a:off x="603504" y="384048"/>
            <a:ext cx="10972800" cy="2468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50" b="1">
                <a:solidFill>
                  <a:srgbClr val="086F69"/>
                </a:solidFill>
                <a:latin typeface="Verdana"/>
                <a:ea typeface="Verdana"/>
                <a:cs typeface="Verdana"/>
              </a:defRPr>
            </a:pPr>
            <a:r>
              <a:t>04 / THIẾT KẾ THÍ NGHIỆM</a:t>
            </a:r>
          </a:p>
        </p:txBody>
      </p:sp>
      <p:sp>
        <p:nvSpPr>
          <p:cNvPr id="3" name="Rectangle 2">
            <a:extLst xmlns:a="http://schemas.openxmlformats.org/drawingml/2006/main">
              <a:ext uri="{FF2B5EF4-FFF2-40B4-BE49-F238E27FC236}">
                <a16:creationId xmlns:a16="http://schemas.microsoft.com/office/drawing/2014/main" id="{1AA2DB3D-E96C-41D4-BAEE-25555956ACDA}"/>
              </a:ext>
            </a:extLst>
          </p:cNvPr>
          <p:cNvSpPr>
            <a:spLocks xmlns:a="http://schemas.openxmlformats.org/drawingml/2006/main" noGrp="1"/>
          </p:cNvSpPr>
          <p:nvPr/>
        </p:nvSpPr>
        <p:spPr>
          <a:xfrm xmlns:a="http://schemas.openxmlformats.org/drawingml/2006/main">
            <a:off x="603504" y="813816"/>
            <a:ext cx="10972800" cy="12801"/>
          </a:xfrm>
          <a:prstGeom xmlns:a="http://schemas.openxmlformats.org/drawingml/2006/main" prst="rect">
            <a:avLst/>
          </a:prstGeom>
          <a:solidFill xmlns:a="http://schemas.openxmlformats.org/drawingml/2006/main">
            <a:srgbClr val="D7DF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E5A1716B-2BCD-44D6-B2D5-90645EFA0828}"/>
              </a:ext>
            </a:extLst>
          </p:cNvPr>
          <p:cNvSpPr>
            <a:spLocks xmlns:a="http://schemas.openxmlformats.org/drawingml/2006/main" noGrp="1"/>
          </p:cNvSpPr>
          <p:nvPr/>
        </p:nvSpPr>
        <p:spPr>
          <a:xfrm xmlns:a="http://schemas.openxmlformats.org/drawingml/2006/main">
            <a:off x="603504" y="1005840"/>
            <a:ext cx="10972800" cy="9692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3200" b="1">
                <a:solidFill>
                  <a:srgbClr val="152C3C"/>
                </a:solidFill>
                <a:latin typeface="Georgia"/>
                <a:ea typeface="Georgia"/>
                <a:cs typeface="Georgia"/>
              </a:defRPr>
            </a:pPr>
            <a:r>
              <a:t>Đối chứng từng thành phần</a:t>
            </a:r>
          </a:p>
        </p:txBody>
      </p:sp>
      <p:sp>
        <p:nvSpPr>
          <p:cNvPr id="5" name="TextBox 4">
            <a:extLst xmlns:a="http://schemas.openxmlformats.org/drawingml/2006/main">
              <a:ext uri="{FF2B5EF4-FFF2-40B4-BE49-F238E27FC236}">
                <a16:creationId xmlns:a16="http://schemas.microsoft.com/office/drawing/2014/main" id="{E72A843D-2043-499B-B664-31377AE8A34D}"/>
              </a:ext>
            </a:extLst>
          </p:cNvPr>
          <p:cNvSpPr>
            <a:spLocks xmlns:a="http://schemas.openxmlformats.org/drawingml/2006/main" noGrp="1"/>
          </p:cNvSpPr>
          <p:nvPr/>
        </p:nvSpPr>
        <p:spPr>
          <a:xfrm xmlns:a="http://schemas.openxmlformats.org/drawingml/2006/main">
            <a:off x="603504" y="1874519"/>
            <a:ext cx="10972800" cy="4297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0">
                <a:solidFill>
                  <a:srgbClr val="536774"/>
                </a:solidFill>
                <a:latin typeface="Verdana"/>
                <a:ea typeface="Verdana"/>
                <a:cs typeface="Verdana"/>
              </a:defRPr>
            </a:pPr>
            <a:r>
              <a:t>candidate_k = 100 · top_k = 10 · tắt reranker để cô lập retrieval/fusion.</a:t>
            </a:r>
          </a:p>
        </p:txBody>
      </p:sp>
      <p:sp>
        <p:nvSpPr>
          <p:cNvPr id="6" name="Rectangle 5">
            <a:extLst xmlns:a="http://schemas.openxmlformats.org/drawingml/2006/main">
              <a:ext uri="{FF2B5EF4-FFF2-40B4-BE49-F238E27FC236}">
                <a16:creationId xmlns:a16="http://schemas.microsoft.com/office/drawing/2014/main" id="{9AB39B6C-36CD-4897-ABBE-AA4B551E59EF}"/>
              </a:ext>
            </a:extLst>
          </p:cNvPr>
          <p:cNvSpPr>
            <a:spLocks xmlns:a="http://schemas.openxmlformats.org/drawingml/2006/main" noGrp="1"/>
          </p:cNvSpPr>
          <p:nvPr/>
        </p:nvSpPr>
        <p:spPr>
          <a:xfrm xmlns:a="http://schemas.openxmlformats.org/drawingml/2006/main">
            <a:off x="603504" y="2514600"/>
            <a:ext cx="10972800" cy="438912"/>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9A29F8B4-2AA8-4265-863F-973A9BF76AA4}"/>
              </a:ext>
            </a:extLst>
          </p:cNvPr>
          <p:cNvSpPr>
            <a:spLocks xmlns:a="http://schemas.openxmlformats.org/drawingml/2006/main" noGrp="1"/>
          </p:cNvSpPr>
          <p:nvPr/>
        </p:nvSpPr>
        <p:spPr>
          <a:xfrm xmlns:a="http://schemas.openxmlformats.org/drawingml/2006/main">
            <a:off x="758952" y="2587752"/>
            <a:ext cx="59436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1">
                <a:solidFill>
                  <a:srgbClr val="086F69"/>
                </a:solidFill>
                <a:latin typeface="Verdana"/>
                <a:ea typeface="Verdana"/>
                <a:cs typeface="Verdana"/>
              </a:defRPr>
            </a:pPr>
            <a:r>
              <a:t>E0</a:t>
            </a:r>
          </a:p>
        </p:txBody>
      </p:sp>
      <p:sp>
        <p:nvSpPr>
          <p:cNvPr id="8" name="TextBox 7">
            <a:extLst xmlns:a="http://schemas.openxmlformats.org/drawingml/2006/main">
              <a:ext uri="{FF2B5EF4-FFF2-40B4-BE49-F238E27FC236}">
                <a16:creationId xmlns:a16="http://schemas.microsoft.com/office/drawing/2014/main" id="{19656BCF-CF9E-4926-AFB6-EBBC1B145259}"/>
              </a:ext>
            </a:extLst>
          </p:cNvPr>
          <p:cNvSpPr>
            <a:spLocks xmlns:a="http://schemas.openxmlformats.org/drawingml/2006/main" noGrp="1"/>
          </p:cNvSpPr>
          <p:nvPr/>
        </p:nvSpPr>
        <p:spPr>
          <a:xfrm xmlns:a="http://schemas.openxmlformats.org/drawingml/2006/main">
            <a:off x="1508760" y="2587752"/>
            <a:ext cx="301752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1">
                <a:solidFill>
                  <a:srgbClr val="152C3C"/>
                </a:solidFill>
                <a:latin typeface="Verdana"/>
                <a:ea typeface="Verdana"/>
                <a:cs typeface="Verdana"/>
              </a:defRPr>
            </a:pPr>
            <a:r>
              <a:t>BM25</a:t>
            </a:r>
          </a:p>
        </p:txBody>
      </p:sp>
      <p:sp>
        <p:nvSpPr>
          <p:cNvPr id="9" name="TextBox 8">
            <a:extLst xmlns:a="http://schemas.openxmlformats.org/drawingml/2006/main">
              <a:ext uri="{FF2B5EF4-FFF2-40B4-BE49-F238E27FC236}">
                <a16:creationId xmlns:a16="http://schemas.microsoft.com/office/drawing/2014/main" id="{37DEA152-BF2A-4C58-AFB6-794D4F238768}"/>
              </a:ext>
            </a:extLst>
          </p:cNvPr>
          <p:cNvSpPr>
            <a:spLocks xmlns:a="http://schemas.openxmlformats.org/drawingml/2006/main" noGrp="1"/>
          </p:cNvSpPr>
          <p:nvPr/>
        </p:nvSpPr>
        <p:spPr>
          <a:xfrm xmlns:a="http://schemas.openxmlformats.org/drawingml/2006/main">
            <a:off x="4846320" y="2587752"/>
            <a:ext cx="649224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0">
                <a:solidFill>
                  <a:srgbClr val="536774"/>
                </a:solidFill>
                <a:latin typeface="Verdana"/>
                <a:ea typeface="Verdana"/>
                <a:cs typeface="Verdana"/>
              </a:defRPr>
            </a:pPr>
            <a:r>
              <a:t>Baseline lexical</a:t>
            </a:r>
          </a:p>
        </p:txBody>
      </p:sp>
      <p:sp>
        <p:nvSpPr>
          <p:cNvPr id="10" name="Rectangle 9">
            <a:extLst xmlns:a="http://schemas.openxmlformats.org/drawingml/2006/main">
              <a:ext uri="{FF2B5EF4-FFF2-40B4-BE49-F238E27FC236}">
                <a16:creationId xmlns:a16="http://schemas.microsoft.com/office/drawing/2014/main" id="{E7844002-C8A0-4C9F-8138-8B3149C7D8CE}"/>
              </a:ext>
            </a:extLst>
          </p:cNvPr>
          <p:cNvSpPr>
            <a:spLocks xmlns:a="http://schemas.openxmlformats.org/drawingml/2006/main" noGrp="1"/>
          </p:cNvSpPr>
          <p:nvPr/>
        </p:nvSpPr>
        <p:spPr>
          <a:xfrm xmlns:a="http://schemas.openxmlformats.org/drawingml/2006/main">
            <a:off x="603504" y="2980944"/>
            <a:ext cx="10972800" cy="438912"/>
          </a:xfrm>
          <a:prstGeom xmlns:a="http://schemas.openxmlformats.org/drawingml/2006/main" prst="rect">
            <a:avLst/>
          </a:prstGeom>
          <a:solidFill xmlns:a="http://schemas.openxmlformats.org/drawingml/2006/main">
            <a:srgbClr val="F5F3E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E0169A5E-55E8-4BC5-83DD-F311438FFCFB}"/>
              </a:ext>
            </a:extLst>
          </p:cNvPr>
          <p:cNvSpPr>
            <a:spLocks xmlns:a="http://schemas.openxmlformats.org/drawingml/2006/main" noGrp="1"/>
          </p:cNvSpPr>
          <p:nvPr/>
        </p:nvSpPr>
        <p:spPr>
          <a:xfrm xmlns:a="http://schemas.openxmlformats.org/drawingml/2006/main">
            <a:off x="758952" y="3054096"/>
            <a:ext cx="59436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1">
                <a:solidFill>
                  <a:srgbClr val="086F69"/>
                </a:solidFill>
                <a:latin typeface="Verdana"/>
                <a:ea typeface="Verdana"/>
                <a:cs typeface="Verdana"/>
              </a:defRPr>
            </a:pPr>
            <a:r>
              <a:t>E1</a:t>
            </a:r>
          </a:p>
        </p:txBody>
      </p:sp>
      <p:sp>
        <p:nvSpPr>
          <p:cNvPr id="12" name="TextBox 11">
            <a:extLst xmlns:a="http://schemas.openxmlformats.org/drawingml/2006/main">
              <a:ext uri="{FF2B5EF4-FFF2-40B4-BE49-F238E27FC236}">
                <a16:creationId xmlns:a16="http://schemas.microsoft.com/office/drawing/2014/main" id="{0635B683-B5B4-40A1-8C5E-1BF0CA1B4F07}"/>
              </a:ext>
            </a:extLst>
          </p:cNvPr>
          <p:cNvSpPr>
            <a:spLocks xmlns:a="http://schemas.openxmlformats.org/drawingml/2006/main" noGrp="1"/>
          </p:cNvSpPr>
          <p:nvPr/>
        </p:nvSpPr>
        <p:spPr>
          <a:xfrm xmlns:a="http://schemas.openxmlformats.org/drawingml/2006/main">
            <a:off x="1508760" y="3054096"/>
            <a:ext cx="301752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1">
                <a:solidFill>
                  <a:srgbClr val="152C3C"/>
                </a:solidFill>
                <a:latin typeface="Verdana"/>
                <a:ea typeface="Verdana"/>
                <a:cs typeface="Verdana"/>
              </a:defRPr>
            </a:pPr>
            <a:r>
              <a:t>Dense text</a:t>
            </a:r>
          </a:p>
        </p:txBody>
      </p:sp>
      <p:sp>
        <p:nvSpPr>
          <p:cNvPr id="13" name="TextBox 12">
            <a:extLst xmlns:a="http://schemas.openxmlformats.org/drawingml/2006/main">
              <a:ext uri="{FF2B5EF4-FFF2-40B4-BE49-F238E27FC236}">
                <a16:creationId xmlns:a16="http://schemas.microsoft.com/office/drawing/2014/main" id="{DCDBDCB5-7F0E-4C99-A7ED-845ACB5AC4D9}"/>
              </a:ext>
            </a:extLst>
          </p:cNvPr>
          <p:cNvSpPr>
            <a:spLocks xmlns:a="http://schemas.openxmlformats.org/drawingml/2006/main" noGrp="1"/>
          </p:cNvSpPr>
          <p:nvPr/>
        </p:nvSpPr>
        <p:spPr>
          <a:xfrm xmlns:a="http://schemas.openxmlformats.org/drawingml/2006/main">
            <a:off x="4846320" y="3054096"/>
            <a:ext cx="649224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0">
                <a:solidFill>
                  <a:srgbClr val="536774"/>
                </a:solidFill>
                <a:latin typeface="Verdana"/>
                <a:ea typeface="Verdana"/>
                <a:cs typeface="Verdana"/>
              </a:defRPr>
            </a:pPr>
            <a:r>
              <a:t>Đóng góp của dense</a:t>
            </a:r>
          </a:p>
        </p:txBody>
      </p:sp>
      <p:sp>
        <p:nvSpPr>
          <p:cNvPr id="14" name="Rectangle 13">
            <a:extLst xmlns:a="http://schemas.openxmlformats.org/drawingml/2006/main">
              <a:ext uri="{FF2B5EF4-FFF2-40B4-BE49-F238E27FC236}">
                <a16:creationId xmlns:a16="http://schemas.microsoft.com/office/drawing/2014/main" id="{30FC9D92-7E04-4A7E-B18B-143B270A6C2F}"/>
              </a:ext>
            </a:extLst>
          </p:cNvPr>
          <p:cNvSpPr>
            <a:spLocks xmlns:a="http://schemas.openxmlformats.org/drawingml/2006/main" noGrp="1"/>
          </p:cNvSpPr>
          <p:nvPr/>
        </p:nvSpPr>
        <p:spPr>
          <a:xfrm xmlns:a="http://schemas.openxmlformats.org/drawingml/2006/main">
            <a:off x="603504" y="3447288"/>
            <a:ext cx="10972800" cy="438912"/>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D35CB505-2291-436B-82B8-266D040CC177}"/>
              </a:ext>
            </a:extLst>
          </p:cNvPr>
          <p:cNvSpPr>
            <a:spLocks xmlns:a="http://schemas.openxmlformats.org/drawingml/2006/main" noGrp="1"/>
          </p:cNvSpPr>
          <p:nvPr/>
        </p:nvSpPr>
        <p:spPr>
          <a:xfrm xmlns:a="http://schemas.openxmlformats.org/drawingml/2006/main">
            <a:off x="758952" y="3520440"/>
            <a:ext cx="59436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1">
                <a:solidFill>
                  <a:srgbClr val="086F69"/>
                </a:solidFill>
                <a:latin typeface="Verdana"/>
                <a:ea typeface="Verdana"/>
                <a:cs typeface="Verdana"/>
              </a:defRPr>
            </a:pPr>
            <a:r>
              <a:t>E2</a:t>
            </a:r>
          </a:p>
        </p:txBody>
      </p:sp>
      <p:sp>
        <p:nvSpPr>
          <p:cNvPr id="16" name="TextBox 15">
            <a:extLst xmlns:a="http://schemas.openxmlformats.org/drawingml/2006/main">
              <a:ext uri="{FF2B5EF4-FFF2-40B4-BE49-F238E27FC236}">
                <a16:creationId xmlns:a16="http://schemas.microsoft.com/office/drawing/2014/main" id="{7769217A-46F0-4096-A5E4-F49B1D27DDE0}"/>
              </a:ext>
            </a:extLst>
          </p:cNvPr>
          <p:cNvSpPr>
            <a:spLocks xmlns:a="http://schemas.openxmlformats.org/drawingml/2006/main" noGrp="1"/>
          </p:cNvSpPr>
          <p:nvPr/>
        </p:nvSpPr>
        <p:spPr>
          <a:xfrm xmlns:a="http://schemas.openxmlformats.org/drawingml/2006/main">
            <a:off x="1508760" y="3520440"/>
            <a:ext cx="301752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1">
                <a:solidFill>
                  <a:srgbClr val="152C3C"/>
                </a:solidFill>
                <a:latin typeface="Verdana"/>
                <a:ea typeface="Verdana"/>
                <a:cs typeface="Verdana"/>
              </a:defRPr>
            </a:pPr>
            <a:r>
              <a:t>Text → image</a:t>
            </a:r>
          </a:p>
        </p:txBody>
      </p:sp>
      <p:sp>
        <p:nvSpPr>
          <p:cNvPr id="17" name="TextBox 16">
            <a:extLst xmlns:a="http://schemas.openxmlformats.org/drawingml/2006/main">
              <a:ext uri="{FF2B5EF4-FFF2-40B4-BE49-F238E27FC236}">
                <a16:creationId xmlns:a16="http://schemas.microsoft.com/office/drawing/2014/main" id="{0FF34644-88B1-487C-B74C-90A03E29C298}"/>
              </a:ext>
            </a:extLst>
          </p:cNvPr>
          <p:cNvSpPr>
            <a:spLocks xmlns:a="http://schemas.openxmlformats.org/drawingml/2006/main" noGrp="1"/>
          </p:cNvSpPr>
          <p:nvPr/>
        </p:nvSpPr>
        <p:spPr>
          <a:xfrm xmlns:a="http://schemas.openxmlformats.org/drawingml/2006/main">
            <a:off x="4846320" y="3520440"/>
            <a:ext cx="649224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0">
                <a:solidFill>
                  <a:srgbClr val="536774"/>
                </a:solidFill>
                <a:latin typeface="Verdana"/>
                <a:ea typeface="Verdana"/>
                <a:cs typeface="Verdana"/>
              </a:defRPr>
            </a:pPr>
            <a:r>
              <a:t>Cross-modal alignment</a:t>
            </a:r>
          </a:p>
        </p:txBody>
      </p:sp>
      <p:sp>
        <p:nvSpPr>
          <p:cNvPr id="18" name="Rectangle 17">
            <a:extLst xmlns:a="http://schemas.openxmlformats.org/drawingml/2006/main">
              <a:ext uri="{FF2B5EF4-FFF2-40B4-BE49-F238E27FC236}">
                <a16:creationId xmlns:a16="http://schemas.microsoft.com/office/drawing/2014/main" id="{5A34ACC5-D6FC-4D75-891E-BDB7656C6C58}"/>
              </a:ext>
            </a:extLst>
          </p:cNvPr>
          <p:cNvSpPr>
            <a:spLocks xmlns:a="http://schemas.openxmlformats.org/drawingml/2006/main" noGrp="1"/>
          </p:cNvSpPr>
          <p:nvPr/>
        </p:nvSpPr>
        <p:spPr>
          <a:xfrm xmlns:a="http://schemas.openxmlformats.org/drawingml/2006/main">
            <a:off x="603504" y="3913632"/>
            <a:ext cx="10972800" cy="438912"/>
          </a:xfrm>
          <a:prstGeom xmlns:a="http://schemas.openxmlformats.org/drawingml/2006/main" prst="rect">
            <a:avLst/>
          </a:prstGeom>
          <a:solidFill xmlns:a="http://schemas.openxmlformats.org/drawingml/2006/main">
            <a:srgbClr val="F5F3E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DFC38CB2-6CE4-4C61-AE70-4F84958A4494}"/>
              </a:ext>
            </a:extLst>
          </p:cNvPr>
          <p:cNvSpPr>
            <a:spLocks xmlns:a="http://schemas.openxmlformats.org/drawingml/2006/main" noGrp="1"/>
          </p:cNvSpPr>
          <p:nvPr/>
        </p:nvSpPr>
        <p:spPr>
          <a:xfrm xmlns:a="http://schemas.openxmlformats.org/drawingml/2006/main">
            <a:off x="758952" y="3986784"/>
            <a:ext cx="59436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1">
                <a:solidFill>
                  <a:srgbClr val="086F69"/>
                </a:solidFill>
                <a:latin typeface="Verdana"/>
                <a:ea typeface="Verdana"/>
                <a:cs typeface="Verdana"/>
              </a:defRPr>
            </a:pPr>
            <a:r>
              <a:t>E3</a:t>
            </a:r>
          </a:p>
        </p:txBody>
      </p:sp>
      <p:sp>
        <p:nvSpPr>
          <p:cNvPr id="20" name="TextBox 19">
            <a:extLst xmlns:a="http://schemas.openxmlformats.org/drawingml/2006/main">
              <a:ext uri="{FF2B5EF4-FFF2-40B4-BE49-F238E27FC236}">
                <a16:creationId xmlns:a16="http://schemas.microsoft.com/office/drawing/2014/main" id="{36641D65-8AE8-41B8-8D15-1984F075029C}"/>
              </a:ext>
            </a:extLst>
          </p:cNvPr>
          <p:cNvSpPr>
            <a:spLocks xmlns:a="http://schemas.openxmlformats.org/drawingml/2006/main" noGrp="1"/>
          </p:cNvSpPr>
          <p:nvPr/>
        </p:nvSpPr>
        <p:spPr>
          <a:xfrm xmlns:a="http://schemas.openxmlformats.org/drawingml/2006/main">
            <a:off x="1508760" y="3986784"/>
            <a:ext cx="301752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1">
                <a:solidFill>
                  <a:srgbClr val="152C3C"/>
                </a:solidFill>
                <a:latin typeface="Verdana"/>
                <a:ea typeface="Verdana"/>
                <a:cs typeface="Verdana"/>
              </a:defRPr>
            </a:pPr>
            <a:r>
              <a:t>Hybrid no RRF</a:t>
            </a:r>
          </a:p>
        </p:txBody>
      </p:sp>
      <p:sp>
        <p:nvSpPr>
          <p:cNvPr id="21" name="TextBox 20">
            <a:extLst xmlns:a="http://schemas.openxmlformats.org/drawingml/2006/main">
              <a:ext uri="{FF2B5EF4-FFF2-40B4-BE49-F238E27FC236}">
                <a16:creationId xmlns:a16="http://schemas.microsoft.com/office/drawing/2014/main" id="{88E24F12-57D4-44BF-9403-7D5296C59B47}"/>
              </a:ext>
            </a:extLst>
          </p:cNvPr>
          <p:cNvSpPr>
            <a:spLocks xmlns:a="http://schemas.openxmlformats.org/drawingml/2006/main" noGrp="1"/>
          </p:cNvSpPr>
          <p:nvPr/>
        </p:nvSpPr>
        <p:spPr>
          <a:xfrm xmlns:a="http://schemas.openxmlformats.org/drawingml/2006/main">
            <a:off x="4846320" y="3986784"/>
            <a:ext cx="649224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0">
                <a:solidFill>
                  <a:srgbClr val="536774"/>
                </a:solidFill>
                <a:latin typeface="Verdana"/>
                <a:ea typeface="Verdana"/>
                <a:cs typeface="Verdana"/>
              </a:defRPr>
            </a:pPr>
            <a:r>
              <a:t>Thêm candidate; giữ rank BM25</a:t>
            </a:r>
          </a:p>
        </p:txBody>
      </p:sp>
      <p:sp>
        <p:nvSpPr>
          <p:cNvPr id="22" name="Rectangle 21">
            <a:extLst xmlns:a="http://schemas.openxmlformats.org/drawingml/2006/main">
              <a:ext uri="{FF2B5EF4-FFF2-40B4-BE49-F238E27FC236}">
                <a16:creationId xmlns:a16="http://schemas.microsoft.com/office/drawing/2014/main" id="{8BD698BB-5BB4-4FC2-A7C5-73D2259B8AB7}"/>
              </a:ext>
            </a:extLst>
          </p:cNvPr>
          <p:cNvSpPr>
            <a:spLocks xmlns:a="http://schemas.openxmlformats.org/drawingml/2006/main" noGrp="1"/>
          </p:cNvSpPr>
          <p:nvPr/>
        </p:nvSpPr>
        <p:spPr>
          <a:xfrm xmlns:a="http://schemas.openxmlformats.org/drawingml/2006/main">
            <a:off x="603504" y="4379976"/>
            <a:ext cx="10972800" cy="438912"/>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598976D8-7738-483B-B1EC-73178414134A}"/>
              </a:ext>
            </a:extLst>
          </p:cNvPr>
          <p:cNvSpPr>
            <a:spLocks xmlns:a="http://schemas.openxmlformats.org/drawingml/2006/main" noGrp="1"/>
          </p:cNvSpPr>
          <p:nvPr/>
        </p:nvSpPr>
        <p:spPr>
          <a:xfrm xmlns:a="http://schemas.openxmlformats.org/drawingml/2006/main">
            <a:off x="758952" y="4453128"/>
            <a:ext cx="59436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1">
                <a:solidFill>
                  <a:srgbClr val="086F69"/>
                </a:solidFill>
                <a:latin typeface="Verdana"/>
                <a:ea typeface="Verdana"/>
                <a:cs typeface="Verdana"/>
              </a:defRPr>
            </a:pPr>
            <a:r>
              <a:t>E4</a:t>
            </a:r>
          </a:p>
        </p:txBody>
      </p:sp>
      <p:sp>
        <p:nvSpPr>
          <p:cNvPr id="24" name="TextBox 23">
            <a:extLst xmlns:a="http://schemas.openxmlformats.org/drawingml/2006/main">
              <a:ext uri="{FF2B5EF4-FFF2-40B4-BE49-F238E27FC236}">
                <a16:creationId xmlns:a16="http://schemas.microsoft.com/office/drawing/2014/main" id="{D3346E32-BA70-4EEF-AC5B-5C559771C97F}"/>
              </a:ext>
            </a:extLst>
          </p:cNvPr>
          <p:cNvSpPr>
            <a:spLocks xmlns:a="http://schemas.openxmlformats.org/drawingml/2006/main" noGrp="1"/>
          </p:cNvSpPr>
          <p:nvPr/>
        </p:nvSpPr>
        <p:spPr>
          <a:xfrm xmlns:a="http://schemas.openxmlformats.org/drawingml/2006/main">
            <a:off x="1508760" y="4453128"/>
            <a:ext cx="301752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1">
                <a:solidFill>
                  <a:srgbClr val="152C3C"/>
                </a:solidFill>
                <a:latin typeface="Verdana"/>
                <a:ea typeface="Verdana"/>
                <a:cs typeface="Verdana"/>
              </a:defRPr>
            </a:pPr>
            <a:r>
              <a:t>Hybrid RRF</a:t>
            </a:r>
          </a:p>
        </p:txBody>
      </p:sp>
      <p:sp>
        <p:nvSpPr>
          <p:cNvPr id="25" name="TextBox 24">
            <a:extLst xmlns:a="http://schemas.openxmlformats.org/drawingml/2006/main">
              <a:ext uri="{FF2B5EF4-FFF2-40B4-BE49-F238E27FC236}">
                <a16:creationId xmlns:a16="http://schemas.microsoft.com/office/drawing/2014/main" id="{DECEC978-27F7-43FF-8DEE-463A063CC15E}"/>
              </a:ext>
            </a:extLst>
          </p:cNvPr>
          <p:cNvSpPr>
            <a:spLocks xmlns:a="http://schemas.openxmlformats.org/drawingml/2006/main" noGrp="1"/>
          </p:cNvSpPr>
          <p:nvPr/>
        </p:nvSpPr>
        <p:spPr>
          <a:xfrm xmlns:a="http://schemas.openxmlformats.org/drawingml/2006/main">
            <a:off x="4846320" y="4453128"/>
            <a:ext cx="649224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0">
                <a:solidFill>
                  <a:srgbClr val="536774"/>
                </a:solidFill>
                <a:latin typeface="Verdana"/>
                <a:ea typeface="Verdana"/>
                <a:cs typeface="Verdana"/>
              </a:defRPr>
            </a:pPr>
            <a:r>
              <a:t>Tác động của rank fusion</a:t>
            </a:r>
          </a:p>
        </p:txBody>
      </p:sp>
      <p:sp>
        <p:nvSpPr>
          <p:cNvPr id="26" name="Rectangle 25">
            <a:extLst xmlns:a="http://schemas.openxmlformats.org/drawingml/2006/main">
              <a:ext uri="{FF2B5EF4-FFF2-40B4-BE49-F238E27FC236}">
                <a16:creationId xmlns:a16="http://schemas.microsoft.com/office/drawing/2014/main" id="{BAFEB490-AA7E-4D0D-887C-8EA940D76ABA}"/>
              </a:ext>
            </a:extLst>
          </p:cNvPr>
          <p:cNvSpPr>
            <a:spLocks xmlns:a="http://schemas.openxmlformats.org/drawingml/2006/main" noGrp="1"/>
          </p:cNvSpPr>
          <p:nvPr/>
        </p:nvSpPr>
        <p:spPr>
          <a:xfrm xmlns:a="http://schemas.openxmlformats.org/drawingml/2006/main">
            <a:off x="603504" y="4846320"/>
            <a:ext cx="10972800" cy="438912"/>
          </a:xfrm>
          <a:prstGeom xmlns:a="http://schemas.openxmlformats.org/drawingml/2006/main" prst="rect">
            <a:avLst/>
          </a:prstGeom>
          <a:solidFill xmlns:a="http://schemas.openxmlformats.org/drawingml/2006/main">
            <a:srgbClr val="F5F3E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838C9951-EFE4-4C87-BC43-36F24264CFAF}"/>
              </a:ext>
            </a:extLst>
          </p:cNvPr>
          <p:cNvSpPr>
            <a:spLocks xmlns:a="http://schemas.openxmlformats.org/drawingml/2006/main" noGrp="1"/>
          </p:cNvSpPr>
          <p:nvPr/>
        </p:nvSpPr>
        <p:spPr>
          <a:xfrm xmlns:a="http://schemas.openxmlformats.org/drawingml/2006/main">
            <a:off x="758952" y="4919472"/>
            <a:ext cx="59436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1">
                <a:solidFill>
                  <a:srgbClr val="086F69"/>
                </a:solidFill>
                <a:latin typeface="Verdana"/>
                <a:ea typeface="Verdana"/>
                <a:cs typeface="Verdana"/>
              </a:defRPr>
            </a:pPr>
            <a:r>
              <a:t>E5</a:t>
            </a:r>
          </a:p>
        </p:txBody>
      </p:sp>
      <p:sp>
        <p:nvSpPr>
          <p:cNvPr id="28" name="TextBox 27">
            <a:extLst xmlns:a="http://schemas.openxmlformats.org/drawingml/2006/main">
              <a:ext uri="{FF2B5EF4-FFF2-40B4-BE49-F238E27FC236}">
                <a16:creationId xmlns:a16="http://schemas.microsoft.com/office/drawing/2014/main" id="{001E8E12-2621-47DB-BB52-BF6DF8AE2F40}"/>
              </a:ext>
            </a:extLst>
          </p:cNvPr>
          <p:cNvSpPr>
            <a:spLocks xmlns:a="http://schemas.openxmlformats.org/drawingml/2006/main" noGrp="1"/>
          </p:cNvSpPr>
          <p:nvPr/>
        </p:nvSpPr>
        <p:spPr>
          <a:xfrm xmlns:a="http://schemas.openxmlformats.org/drawingml/2006/main">
            <a:off x="1508760" y="4919472"/>
            <a:ext cx="301752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1">
                <a:solidFill>
                  <a:srgbClr val="152C3C"/>
                </a:solidFill>
                <a:latin typeface="Verdana"/>
                <a:ea typeface="Verdana"/>
                <a:cs typeface="Verdana"/>
              </a:defRPr>
            </a:pPr>
            <a:r>
              <a:t>Image dense</a:t>
            </a:r>
          </a:p>
        </p:txBody>
      </p:sp>
      <p:sp>
        <p:nvSpPr>
          <p:cNvPr id="29" name="TextBox 28">
            <a:extLst xmlns:a="http://schemas.openxmlformats.org/drawingml/2006/main">
              <a:ext uri="{FF2B5EF4-FFF2-40B4-BE49-F238E27FC236}">
                <a16:creationId xmlns:a16="http://schemas.microsoft.com/office/drawing/2014/main" id="{886FFA5F-724B-41F3-8F4A-39BE6B02600B}"/>
              </a:ext>
            </a:extLst>
          </p:cNvPr>
          <p:cNvSpPr>
            <a:spLocks xmlns:a="http://schemas.openxmlformats.org/drawingml/2006/main" noGrp="1"/>
          </p:cNvSpPr>
          <p:nvPr/>
        </p:nvSpPr>
        <p:spPr>
          <a:xfrm xmlns:a="http://schemas.openxmlformats.org/drawingml/2006/main">
            <a:off x="4846320" y="4919472"/>
            <a:ext cx="649224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0">
                <a:solidFill>
                  <a:srgbClr val="536774"/>
                </a:solidFill>
                <a:latin typeface="Verdana"/>
                <a:ea typeface="Verdana"/>
                <a:cs typeface="Verdana"/>
              </a:defRPr>
            </a:pPr>
            <a:r>
              <a:t>Truy hồi bằng ảnh · tập riêng</a:t>
            </a:r>
          </a:p>
        </p:txBody>
      </p:sp>
      <p:sp>
        <p:nvSpPr>
          <p:cNvPr id="30" name="Rectangle 29">
            <a:extLst xmlns:a="http://schemas.openxmlformats.org/drawingml/2006/main">
              <a:ext uri="{FF2B5EF4-FFF2-40B4-BE49-F238E27FC236}">
                <a16:creationId xmlns:a16="http://schemas.microsoft.com/office/drawing/2014/main" id="{6F5062BF-15FE-4A96-AE2B-1577A3E8F570}"/>
              </a:ext>
            </a:extLst>
          </p:cNvPr>
          <p:cNvSpPr>
            <a:spLocks xmlns:a="http://schemas.openxmlformats.org/drawingml/2006/main" noGrp="1"/>
          </p:cNvSpPr>
          <p:nvPr/>
        </p:nvSpPr>
        <p:spPr>
          <a:xfrm xmlns:a="http://schemas.openxmlformats.org/drawingml/2006/main">
            <a:off x="603504" y="5715000"/>
            <a:ext cx="10972800" cy="521207"/>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Rectangle 30">
            <a:extLst xmlns:a="http://schemas.openxmlformats.org/drawingml/2006/main">
              <a:ext uri="{FF2B5EF4-FFF2-40B4-BE49-F238E27FC236}">
                <a16:creationId xmlns:a16="http://schemas.microsoft.com/office/drawing/2014/main" id="{46FA393B-1038-4856-A2A8-C67CCBDC7E84}"/>
              </a:ext>
            </a:extLst>
          </p:cNvPr>
          <p:cNvSpPr>
            <a:spLocks xmlns:a="http://schemas.openxmlformats.org/drawingml/2006/main" noGrp="1"/>
          </p:cNvSpPr>
          <p:nvPr/>
        </p:nvSpPr>
        <p:spPr>
          <a:xfrm xmlns:a="http://schemas.openxmlformats.org/drawingml/2006/main">
            <a:off x="603504" y="5715000"/>
            <a:ext cx="32004" cy="521207"/>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0E1F03A1-B00F-423C-ACF6-904976A52EE1}"/>
              </a:ext>
            </a:extLst>
          </p:cNvPr>
          <p:cNvSpPr>
            <a:spLocks xmlns:a="http://schemas.openxmlformats.org/drawingml/2006/main" noGrp="1"/>
          </p:cNvSpPr>
          <p:nvPr/>
        </p:nvSpPr>
        <p:spPr>
          <a:xfrm xmlns:a="http://schemas.openxmlformats.org/drawingml/2006/main">
            <a:off x="758952" y="5833872"/>
            <a:ext cx="10652760" cy="3383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250" b="0">
                <a:solidFill>
                  <a:srgbClr val="086F69"/>
                </a:solidFill>
                <a:latin typeface="Verdana"/>
                <a:ea typeface="Verdana"/>
                <a:cs typeface="Verdana"/>
              </a:defRPr>
            </a:pPr>
            <a:r>
              <a:t>Recall@10: tìm thấy target · nDCG@10: chất lượng thứ hạng · MRR@10: vị trí relevant đầu tiên.</a:t>
            </a:r>
          </a:p>
        </p:txBody>
      </p:sp>
      <p:sp>
        <p:nvSpPr>
          <p:cNvPr id="33" name="TextBox 32">
            <a:extLst xmlns:a="http://schemas.openxmlformats.org/drawingml/2006/main">
              <a:ext uri="{FF2B5EF4-FFF2-40B4-BE49-F238E27FC236}">
                <a16:creationId xmlns:a16="http://schemas.microsoft.com/office/drawing/2014/main" id="{99C79E36-DDCD-4917-8785-C609D73A9C67}"/>
              </a:ext>
            </a:extLst>
          </p:cNvPr>
          <p:cNvSpPr>
            <a:spLocks xmlns:a="http://schemas.openxmlformats.org/drawingml/2006/main" noGrp="1"/>
          </p:cNvSpPr>
          <p:nvPr/>
        </p:nvSpPr>
        <p:spPr>
          <a:xfrm xmlns:a="http://schemas.openxmlformats.org/drawingml/2006/main">
            <a:off x="603504" y="6473952"/>
            <a:ext cx="9875520"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950" b="0">
                <a:solidFill>
                  <a:srgbClr val="536774"/>
                </a:solidFill>
                <a:latin typeface="Verdana"/>
                <a:ea typeface="Verdana"/>
                <a:cs typeface="Verdana"/>
              </a:defRPr>
            </a:pPr>
            <a:r>
              <a:t>Nguồn: báo cáo Nhóm 4 · PDF tr. 5</a:t>
            </a:r>
          </a:p>
        </p:txBody>
      </p:sp>
      <p:sp>
        <p:nvSpPr>
          <p:cNvPr id="34" name="TextBox 33">
            <a:extLst xmlns:a="http://schemas.openxmlformats.org/drawingml/2006/main">
              <a:ext uri="{FF2B5EF4-FFF2-40B4-BE49-F238E27FC236}">
                <a16:creationId xmlns:a16="http://schemas.microsoft.com/office/drawing/2014/main" id="{17FD7E12-3066-4740-9F55-6ED406DA1FDD}"/>
              </a:ext>
            </a:extLst>
          </p:cNvPr>
          <p:cNvSpPr>
            <a:spLocks xmlns:a="http://schemas.openxmlformats.org/drawingml/2006/main" noGrp="1"/>
          </p:cNvSpPr>
          <p:nvPr/>
        </p:nvSpPr>
        <p:spPr>
          <a:xfrm xmlns:a="http://schemas.openxmlformats.org/drawingml/2006/main">
            <a:off x="10698480" y="6473952"/>
            <a:ext cx="886968"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r">
              <a:lnSpc>
                <a:spcPct val="120000"/>
              </a:lnSpc>
              <a:spcBef>
                <a:spcPts val="0"/>
              </a:spcBef>
              <a:spcAft>
                <a:spcPts val="500"/>
              </a:spcAft>
              <a:buNone/>
              <a:defRPr sz="950" b="0">
                <a:solidFill>
                  <a:srgbClr val="152C3C"/>
                </a:solidFill>
                <a:latin typeface="Verdana"/>
                <a:ea typeface="Verdana"/>
                <a:cs typeface="Verdana"/>
              </a:defRPr>
            </a:pPr>
            <a:r>
              <a:t>06 / 12</a:t>
            </a:r>
          </a:p>
        </p:txBody>
      </p:sp>
    </p:spTree>
    <p:extLst>
      <p:ext uri="{BB962C8B-B14F-4D97-AF65-F5344CB8AC3E}">
        <p14:creationId xmlns:p14="http://schemas.microsoft.com/office/powerpoint/2010/main" val="113161166"/>
      </p:ext>
    </p:extLst>
  </p:cSld>
</p:sld>
</file>

<file path=ppt/slides/slide7.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477E0D2-D204-4898-9030-1FAD05845ED2}"/>
              </a:ext>
            </a:extLst>
          </p:cNvPr>
          <p:cNvSpPr>
            <a:spLocks xmlns:a="http://schemas.openxmlformats.org/drawingml/2006/main" noGrp="1"/>
          </p:cNvSpPr>
          <p:nvPr/>
        </p:nvSpPr>
        <p:spPr>
          <a:xfrm xmlns:a="http://schemas.openxmlformats.org/drawingml/2006/main">
            <a:off x="603504" y="384048"/>
            <a:ext cx="10972800" cy="2468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50" b="1">
                <a:solidFill>
                  <a:srgbClr val="086F69"/>
                </a:solidFill>
                <a:latin typeface="Verdana"/>
                <a:ea typeface="Verdana"/>
                <a:cs typeface="Verdana"/>
              </a:defRPr>
            </a:pPr>
            <a:r>
              <a:t>05 / KẾT QUẢ TEXT</a:t>
            </a:r>
          </a:p>
        </p:txBody>
      </p:sp>
      <p:sp>
        <p:nvSpPr>
          <p:cNvPr id="3" name="Rectangle 2">
            <a:extLst xmlns:a="http://schemas.openxmlformats.org/drawingml/2006/main">
              <a:ext uri="{FF2B5EF4-FFF2-40B4-BE49-F238E27FC236}">
                <a16:creationId xmlns:a16="http://schemas.microsoft.com/office/drawing/2014/main" id="{62106F5C-E2FD-422C-83F4-9C57721D14B4}"/>
              </a:ext>
            </a:extLst>
          </p:cNvPr>
          <p:cNvSpPr>
            <a:spLocks xmlns:a="http://schemas.openxmlformats.org/drawingml/2006/main" noGrp="1"/>
          </p:cNvSpPr>
          <p:nvPr/>
        </p:nvSpPr>
        <p:spPr>
          <a:xfrm xmlns:a="http://schemas.openxmlformats.org/drawingml/2006/main">
            <a:off x="603504" y="813816"/>
            <a:ext cx="10972800" cy="12801"/>
          </a:xfrm>
          <a:prstGeom xmlns:a="http://schemas.openxmlformats.org/drawingml/2006/main" prst="rect">
            <a:avLst/>
          </a:prstGeom>
          <a:solidFill xmlns:a="http://schemas.openxmlformats.org/drawingml/2006/main">
            <a:srgbClr val="D7DF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DBBB4F3D-7544-4921-A76D-6D08995AADAF}"/>
              </a:ext>
            </a:extLst>
          </p:cNvPr>
          <p:cNvSpPr>
            <a:spLocks xmlns:a="http://schemas.openxmlformats.org/drawingml/2006/main" noGrp="1"/>
          </p:cNvSpPr>
          <p:nvPr/>
        </p:nvSpPr>
        <p:spPr>
          <a:xfrm xmlns:a="http://schemas.openxmlformats.org/drawingml/2006/main">
            <a:off x="603504" y="1005840"/>
            <a:ext cx="10972800" cy="9692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3200" b="1">
                <a:solidFill>
                  <a:srgbClr val="152C3C"/>
                </a:solidFill>
                <a:latin typeface="Georgia"/>
                <a:ea typeface="Georgia"/>
                <a:cs typeface="Georgia"/>
              </a:defRPr>
            </a:pPr>
            <a:r>
              <a:t>BM25 đứng đầu trên benchmark hiện tại</a:t>
            </a:r>
          </a:p>
        </p:txBody>
      </p:sp>
      <p:sp>
        <p:nvSpPr>
          <p:cNvPr id="5" name="TextBox 4">
            <a:extLst xmlns:a="http://schemas.openxmlformats.org/drawingml/2006/main">
              <a:ext uri="{FF2B5EF4-FFF2-40B4-BE49-F238E27FC236}">
                <a16:creationId xmlns:a16="http://schemas.microsoft.com/office/drawing/2014/main" id="{A2C89CF9-D7C8-4CE6-8CBF-44D697ABAB74}"/>
              </a:ext>
            </a:extLst>
          </p:cNvPr>
          <p:cNvSpPr>
            <a:spLocks xmlns:a="http://schemas.openxmlformats.org/drawingml/2006/main" noGrp="1"/>
          </p:cNvSpPr>
          <p:nvPr/>
        </p:nvSpPr>
        <p:spPr>
          <a:xfrm xmlns:a="http://schemas.openxmlformats.org/drawingml/2006/main">
            <a:off x="603504" y="1874519"/>
            <a:ext cx="10972800" cy="4297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0">
                <a:solidFill>
                  <a:srgbClr val="536774"/>
                </a:solidFill>
                <a:latin typeface="Verdana"/>
                <a:ea typeface="Verdana"/>
                <a:cs typeface="Verdana"/>
              </a:defRPr>
            </a:pPr>
            <a:r>
              <a:t>So sánh chất lượng trên cùng 80 truy vấn văn bản.</a:t>
            </a:r>
          </a:p>
        </p:txBody>
      </p:sp>
      <p:sp>
        <p:nvSpPr>
          <p:cNvPr id="6" name="Rectangle 5">
            <a:extLst xmlns:a="http://schemas.openxmlformats.org/drawingml/2006/main">
              <a:ext uri="{FF2B5EF4-FFF2-40B4-BE49-F238E27FC236}">
                <a16:creationId xmlns:a16="http://schemas.microsoft.com/office/drawing/2014/main" id="{98BF8E22-AB85-4C44-8161-291540286B3C}"/>
              </a:ext>
            </a:extLst>
          </p:cNvPr>
          <p:cNvSpPr>
            <a:spLocks xmlns:a="http://schemas.openxmlformats.org/drawingml/2006/main" noGrp="1"/>
          </p:cNvSpPr>
          <p:nvPr/>
        </p:nvSpPr>
        <p:spPr>
          <a:xfrm xmlns:a="http://schemas.openxmlformats.org/drawingml/2006/main">
            <a:off x="603504" y="2542032"/>
            <a:ext cx="10972800" cy="484632"/>
          </a:xfrm>
          <a:prstGeom xmlns:a="http://schemas.openxmlformats.org/drawingml/2006/main" prst="rect">
            <a:avLst/>
          </a:prstGeom>
          <a:solidFill xmlns:a="http://schemas.openxmlformats.org/drawingml/2006/main">
            <a:srgbClr val="152C3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C8E03618-7119-429B-8BDC-8D608CCA8563}"/>
              </a:ext>
            </a:extLst>
          </p:cNvPr>
          <p:cNvSpPr>
            <a:spLocks xmlns:a="http://schemas.openxmlformats.org/drawingml/2006/main" noGrp="1"/>
          </p:cNvSpPr>
          <p:nvPr/>
        </p:nvSpPr>
        <p:spPr>
          <a:xfrm xmlns:a="http://schemas.openxmlformats.org/drawingml/2006/main">
            <a:off x="740664" y="2688336"/>
            <a:ext cx="5303520" cy="2286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1">
                <a:solidFill>
                  <a:srgbClr val="F5F3ED"/>
                </a:solidFill>
                <a:latin typeface="Verdana"/>
                <a:ea typeface="Verdana"/>
                <a:cs typeface="Verdana"/>
              </a:defRPr>
            </a:pPr>
            <a:r>
              <a:t>Cấu hình</a:t>
            </a:r>
          </a:p>
        </p:txBody>
      </p:sp>
      <p:sp>
        <p:nvSpPr>
          <p:cNvPr id="8" name="TextBox 7">
            <a:extLst xmlns:a="http://schemas.openxmlformats.org/drawingml/2006/main">
              <a:ext uri="{FF2B5EF4-FFF2-40B4-BE49-F238E27FC236}">
                <a16:creationId xmlns:a16="http://schemas.microsoft.com/office/drawing/2014/main" id="{EFFD8EFA-A348-4F79-89F9-C7E8CA85D697}"/>
              </a:ext>
            </a:extLst>
          </p:cNvPr>
          <p:cNvSpPr>
            <a:spLocks xmlns:a="http://schemas.openxmlformats.org/drawingml/2006/main" noGrp="1"/>
          </p:cNvSpPr>
          <p:nvPr/>
        </p:nvSpPr>
        <p:spPr>
          <a:xfrm xmlns:a="http://schemas.openxmlformats.org/drawingml/2006/main">
            <a:off x="6355080" y="2688336"/>
            <a:ext cx="1554480" cy="2286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1">
                <a:solidFill>
                  <a:srgbClr val="F5F3ED"/>
                </a:solidFill>
                <a:latin typeface="Verdana"/>
                <a:ea typeface="Verdana"/>
                <a:cs typeface="Verdana"/>
              </a:defRPr>
            </a:pPr>
            <a:r>
              <a:t>Recall@10</a:t>
            </a:r>
          </a:p>
        </p:txBody>
      </p:sp>
      <p:sp>
        <p:nvSpPr>
          <p:cNvPr id="9" name="TextBox 8">
            <a:extLst xmlns:a="http://schemas.openxmlformats.org/drawingml/2006/main">
              <a:ext uri="{FF2B5EF4-FFF2-40B4-BE49-F238E27FC236}">
                <a16:creationId xmlns:a16="http://schemas.microsoft.com/office/drawing/2014/main" id="{DD1F1391-241C-4E86-9358-5AEDC5478D2F}"/>
              </a:ext>
            </a:extLst>
          </p:cNvPr>
          <p:cNvSpPr>
            <a:spLocks xmlns:a="http://schemas.openxmlformats.org/drawingml/2006/main" noGrp="1"/>
          </p:cNvSpPr>
          <p:nvPr/>
        </p:nvSpPr>
        <p:spPr>
          <a:xfrm xmlns:a="http://schemas.openxmlformats.org/drawingml/2006/main">
            <a:off x="8183880" y="2688336"/>
            <a:ext cx="1554480" cy="2286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1">
                <a:solidFill>
                  <a:srgbClr val="F5F3ED"/>
                </a:solidFill>
                <a:latin typeface="Verdana"/>
                <a:ea typeface="Verdana"/>
                <a:cs typeface="Verdana"/>
              </a:defRPr>
            </a:pPr>
            <a:r>
              <a:t>nDCG@10</a:t>
            </a:r>
          </a:p>
        </p:txBody>
      </p:sp>
      <p:sp>
        <p:nvSpPr>
          <p:cNvPr id="10" name="TextBox 9">
            <a:extLst xmlns:a="http://schemas.openxmlformats.org/drawingml/2006/main">
              <a:ext uri="{FF2B5EF4-FFF2-40B4-BE49-F238E27FC236}">
                <a16:creationId xmlns:a16="http://schemas.microsoft.com/office/drawing/2014/main" id="{F629B0E2-DE12-4A92-8F8B-CC34B81AC38A}"/>
              </a:ext>
            </a:extLst>
          </p:cNvPr>
          <p:cNvSpPr>
            <a:spLocks xmlns:a="http://schemas.openxmlformats.org/drawingml/2006/main" noGrp="1"/>
          </p:cNvSpPr>
          <p:nvPr/>
        </p:nvSpPr>
        <p:spPr>
          <a:xfrm xmlns:a="http://schemas.openxmlformats.org/drawingml/2006/main">
            <a:off x="10012680" y="2688336"/>
            <a:ext cx="1426464" cy="2286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1">
                <a:solidFill>
                  <a:srgbClr val="F5F3ED"/>
                </a:solidFill>
                <a:latin typeface="Verdana"/>
                <a:ea typeface="Verdana"/>
                <a:cs typeface="Verdana"/>
              </a:defRPr>
            </a:pPr>
            <a:r>
              <a:t>MRR@10</a:t>
            </a:r>
          </a:p>
        </p:txBody>
      </p:sp>
      <p:sp>
        <p:nvSpPr>
          <p:cNvPr id="11" name="Rectangle 10">
            <a:extLst xmlns:a="http://schemas.openxmlformats.org/drawingml/2006/main">
              <a:ext uri="{FF2B5EF4-FFF2-40B4-BE49-F238E27FC236}">
                <a16:creationId xmlns:a16="http://schemas.microsoft.com/office/drawing/2014/main" id="{50E91DDB-9D30-454A-AB01-E3A870B0196D}"/>
              </a:ext>
            </a:extLst>
          </p:cNvPr>
          <p:cNvSpPr>
            <a:spLocks xmlns:a="http://schemas.openxmlformats.org/drawingml/2006/main" noGrp="1"/>
          </p:cNvSpPr>
          <p:nvPr/>
        </p:nvSpPr>
        <p:spPr>
          <a:xfrm xmlns:a="http://schemas.openxmlformats.org/drawingml/2006/main">
            <a:off x="603504" y="3026664"/>
            <a:ext cx="10972800" cy="438912"/>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309D5AAD-B5A0-4E33-97A3-91A825671275}"/>
              </a:ext>
            </a:extLst>
          </p:cNvPr>
          <p:cNvSpPr>
            <a:spLocks xmlns:a="http://schemas.openxmlformats.org/drawingml/2006/main" noGrp="1"/>
          </p:cNvSpPr>
          <p:nvPr/>
        </p:nvSpPr>
        <p:spPr>
          <a:xfrm xmlns:a="http://schemas.openxmlformats.org/drawingml/2006/main">
            <a:off x="740664" y="3118104"/>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1">
                <a:solidFill>
                  <a:srgbClr val="086F69"/>
                </a:solidFill>
                <a:latin typeface="Verdana"/>
                <a:ea typeface="Verdana"/>
                <a:cs typeface="Verdana"/>
              </a:defRPr>
            </a:pPr>
            <a:r>
              <a:t>BM25</a:t>
            </a:r>
          </a:p>
        </p:txBody>
      </p:sp>
      <p:sp>
        <p:nvSpPr>
          <p:cNvPr id="13" name="TextBox 12">
            <a:extLst xmlns:a="http://schemas.openxmlformats.org/drawingml/2006/main">
              <a:ext uri="{FF2B5EF4-FFF2-40B4-BE49-F238E27FC236}">
                <a16:creationId xmlns:a16="http://schemas.microsoft.com/office/drawing/2014/main" id="{9B98BF22-4969-4438-9E60-27C6DBE18155}"/>
              </a:ext>
            </a:extLst>
          </p:cNvPr>
          <p:cNvSpPr>
            <a:spLocks xmlns:a="http://schemas.openxmlformats.org/drawingml/2006/main" noGrp="1"/>
          </p:cNvSpPr>
          <p:nvPr/>
        </p:nvSpPr>
        <p:spPr>
          <a:xfrm xmlns:a="http://schemas.openxmlformats.org/drawingml/2006/main">
            <a:off x="6355080" y="3118104"/>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1">
                <a:solidFill>
                  <a:srgbClr val="086F69"/>
                </a:solidFill>
                <a:latin typeface="Verdana"/>
                <a:ea typeface="Verdana"/>
                <a:cs typeface="Verdana"/>
              </a:defRPr>
            </a:pPr>
            <a:r>
              <a:t>0,4625</a:t>
            </a:r>
          </a:p>
        </p:txBody>
      </p:sp>
      <p:sp>
        <p:nvSpPr>
          <p:cNvPr id="14" name="TextBox 13">
            <a:extLst xmlns:a="http://schemas.openxmlformats.org/drawingml/2006/main">
              <a:ext uri="{FF2B5EF4-FFF2-40B4-BE49-F238E27FC236}">
                <a16:creationId xmlns:a16="http://schemas.microsoft.com/office/drawing/2014/main" id="{FF804465-3779-461F-99E0-E3C3F9BD31CD}"/>
              </a:ext>
            </a:extLst>
          </p:cNvPr>
          <p:cNvSpPr>
            <a:spLocks xmlns:a="http://schemas.openxmlformats.org/drawingml/2006/main" noGrp="1"/>
          </p:cNvSpPr>
          <p:nvPr/>
        </p:nvSpPr>
        <p:spPr>
          <a:xfrm xmlns:a="http://schemas.openxmlformats.org/drawingml/2006/main">
            <a:off x="8183880" y="3118104"/>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1">
                <a:solidFill>
                  <a:srgbClr val="086F69"/>
                </a:solidFill>
                <a:latin typeface="Verdana"/>
                <a:ea typeface="Verdana"/>
                <a:cs typeface="Verdana"/>
              </a:defRPr>
            </a:pPr>
            <a:r>
              <a:t>0,3568</a:t>
            </a:r>
          </a:p>
        </p:txBody>
      </p:sp>
      <p:sp>
        <p:nvSpPr>
          <p:cNvPr id="15" name="TextBox 14">
            <a:extLst xmlns:a="http://schemas.openxmlformats.org/drawingml/2006/main">
              <a:ext uri="{FF2B5EF4-FFF2-40B4-BE49-F238E27FC236}">
                <a16:creationId xmlns:a16="http://schemas.microsoft.com/office/drawing/2014/main" id="{4716204A-299D-4523-B967-A9FD00ECF419}"/>
              </a:ext>
            </a:extLst>
          </p:cNvPr>
          <p:cNvSpPr>
            <a:spLocks xmlns:a="http://schemas.openxmlformats.org/drawingml/2006/main" noGrp="1"/>
          </p:cNvSpPr>
          <p:nvPr/>
        </p:nvSpPr>
        <p:spPr>
          <a:xfrm xmlns:a="http://schemas.openxmlformats.org/drawingml/2006/main">
            <a:off x="10012680" y="3118104"/>
            <a:ext cx="1426464"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1">
                <a:solidFill>
                  <a:srgbClr val="086F69"/>
                </a:solidFill>
                <a:latin typeface="Verdana"/>
                <a:ea typeface="Verdana"/>
                <a:cs typeface="Verdana"/>
              </a:defRPr>
            </a:pPr>
            <a:r>
              <a:t>0,3249</a:t>
            </a:r>
          </a:p>
        </p:txBody>
      </p:sp>
      <p:sp>
        <p:nvSpPr>
          <p:cNvPr id="16" name="Rectangle 15">
            <a:extLst xmlns:a="http://schemas.openxmlformats.org/drawingml/2006/main">
              <a:ext uri="{FF2B5EF4-FFF2-40B4-BE49-F238E27FC236}">
                <a16:creationId xmlns:a16="http://schemas.microsoft.com/office/drawing/2014/main" id="{51123568-F5B4-4E3F-8F3B-E25D8FA6E49B}"/>
              </a:ext>
            </a:extLst>
          </p:cNvPr>
          <p:cNvSpPr>
            <a:spLocks xmlns:a="http://schemas.openxmlformats.org/drawingml/2006/main" noGrp="1"/>
          </p:cNvSpPr>
          <p:nvPr/>
        </p:nvSpPr>
        <p:spPr>
          <a:xfrm xmlns:a="http://schemas.openxmlformats.org/drawingml/2006/main">
            <a:off x="603504" y="3465576"/>
            <a:ext cx="10972800" cy="438912"/>
          </a:xfrm>
          <a:prstGeom xmlns:a="http://schemas.openxmlformats.org/drawingml/2006/main" prst="rect">
            <a:avLst/>
          </a:prstGeom>
          <a:solidFill xmlns:a="http://schemas.openxmlformats.org/drawingml/2006/main">
            <a:srgbClr val="FFFD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65C93C05-BDA7-43E6-8D60-44FFD3E49D23}"/>
              </a:ext>
            </a:extLst>
          </p:cNvPr>
          <p:cNvSpPr>
            <a:spLocks xmlns:a="http://schemas.openxmlformats.org/drawingml/2006/main" noGrp="1"/>
          </p:cNvSpPr>
          <p:nvPr/>
        </p:nvSpPr>
        <p:spPr>
          <a:xfrm xmlns:a="http://schemas.openxmlformats.org/drawingml/2006/main">
            <a:off x="740664" y="355701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152C3C"/>
                </a:solidFill>
                <a:latin typeface="Verdana"/>
                <a:ea typeface="Verdana"/>
                <a:cs typeface="Verdana"/>
              </a:defRPr>
            </a:pPr>
            <a:r>
              <a:t>Dense text</a:t>
            </a:r>
          </a:p>
        </p:txBody>
      </p:sp>
      <p:sp>
        <p:nvSpPr>
          <p:cNvPr id="18" name="TextBox 17">
            <a:extLst xmlns:a="http://schemas.openxmlformats.org/drawingml/2006/main">
              <a:ext uri="{FF2B5EF4-FFF2-40B4-BE49-F238E27FC236}">
                <a16:creationId xmlns:a16="http://schemas.microsoft.com/office/drawing/2014/main" id="{71DAA543-7726-45E0-931E-FA7051C4D48A}"/>
              </a:ext>
            </a:extLst>
          </p:cNvPr>
          <p:cNvSpPr>
            <a:spLocks xmlns:a="http://schemas.openxmlformats.org/drawingml/2006/main" noGrp="1"/>
          </p:cNvSpPr>
          <p:nvPr/>
        </p:nvSpPr>
        <p:spPr>
          <a:xfrm xmlns:a="http://schemas.openxmlformats.org/drawingml/2006/main">
            <a:off x="6355080" y="3557016"/>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152C3C"/>
                </a:solidFill>
                <a:latin typeface="Verdana"/>
                <a:ea typeface="Verdana"/>
                <a:cs typeface="Verdana"/>
              </a:defRPr>
            </a:pPr>
            <a:r>
              <a:t>0,0125</a:t>
            </a:r>
          </a:p>
        </p:txBody>
      </p:sp>
      <p:sp>
        <p:nvSpPr>
          <p:cNvPr id="19" name="TextBox 18">
            <a:extLst xmlns:a="http://schemas.openxmlformats.org/drawingml/2006/main">
              <a:ext uri="{FF2B5EF4-FFF2-40B4-BE49-F238E27FC236}">
                <a16:creationId xmlns:a16="http://schemas.microsoft.com/office/drawing/2014/main" id="{BB772EF6-E691-4CC4-A166-4DC168E5AD50}"/>
              </a:ext>
            </a:extLst>
          </p:cNvPr>
          <p:cNvSpPr>
            <a:spLocks xmlns:a="http://schemas.openxmlformats.org/drawingml/2006/main" noGrp="1"/>
          </p:cNvSpPr>
          <p:nvPr/>
        </p:nvSpPr>
        <p:spPr>
          <a:xfrm xmlns:a="http://schemas.openxmlformats.org/drawingml/2006/main">
            <a:off x="8183880" y="3557016"/>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152C3C"/>
                </a:solidFill>
                <a:latin typeface="Verdana"/>
                <a:ea typeface="Verdana"/>
                <a:cs typeface="Verdana"/>
              </a:defRPr>
            </a:pPr>
            <a:r>
              <a:t>0,0042</a:t>
            </a:r>
          </a:p>
        </p:txBody>
      </p:sp>
      <p:sp>
        <p:nvSpPr>
          <p:cNvPr id="20" name="TextBox 19">
            <a:extLst xmlns:a="http://schemas.openxmlformats.org/drawingml/2006/main">
              <a:ext uri="{FF2B5EF4-FFF2-40B4-BE49-F238E27FC236}">
                <a16:creationId xmlns:a16="http://schemas.microsoft.com/office/drawing/2014/main" id="{C3F7A209-7B6E-4D09-AF80-0D18BAE0AB74}"/>
              </a:ext>
            </a:extLst>
          </p:cNvPr>
          <p:cNvSpPr>
            <a:spLocks xmlns:a="http://schemas.openxmlformats.org/drawingml/2006/main" noGrp="1"/>
          </p:cNvSpPr>
          <p:nvPr/>
        </p:nvSpPr>
        <p:spPr>
          <a:xfrm xmlns:a="http://schemas.openxmlformats.org/drawingml/2006/main">
            <a:off x="10012680" y="3557016"/>
            <a:ext cx="1426464"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152C3C"/>
                </a:solidFill>
                <a:latin typeface="Verdana"/>
                <a:ea typeface="Verdana"/>
                <a:cs typeface="Verdana"/>
              </a:defRPr>
            </a:pPr>
            <a:r>
              <a:t>0,0018</a:t>
            </a:r>
          </a:p>
        </p:txBody>
      </p:sp>
      <p:sp>
        <p:nvSpPr>
          <p:cNvPr id="21" name="Rectangle 20">
            <a:extLst xmlns:a="http://schemas.openxmlformats.org/drawingml/2006/main">
              <a:ext uri="{FF2B5EF4-FFF2-40B4-BE49-F238E27FC236}">
                <a16:creationId xmlns:a16="http://schemas.microsoft.com/office/drawing/2014/main" id="{49AAC6BB-6743-42E4-B3DF-B2687494D6F0}"/>
              </a:ext>
            </a:extLst>
          </p:cNvPr>
          <p:cNvSpPr>
            <a:spLocks xmlns:a="http://schemas.openxmlformats.org/drawingml/2006/main" noGrp="1"/>
          </p:cNvSpPr>
          <p:nvPr/>
        </p:nvSpPr>
        <p:spPr>
          <a:xfrm xmlns:a="http://schemas.openxmlformats.org/drawingml/2006/main">
            <a:off x="603504" y="3904487"/>
            <a:ext cx="10972800" cy="438912"/>
          </a:xfrm>
          <a:prstGeom xmlns:a="http://schemas.openxmlformats.org/drawingml/2006/main" prst="rect">
            <a:avLst/>
          </a:prstGeom>
          <a:solidFill xmlns:a="http://schemas.openxmlformats.org/drawingml/2006/main">
            <a:srgbClr val="F5F3E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27D70639-0F73-422B-A697-126AD4CBBCF9}"/>
              </a:ext>
            </a:extLst>
          </p:cNvPr>
          <p:cNvSpPr>
            <a:spLocks xmlns:a="http://schemas.openxmlformats.org/drawingml/2006/main" noGrp="1"/>
          </p:cNvSpPr>
          <p:nvPr/>
        </p:nvSpPr>
        <p:spPr>
          <a:xfrm xmlns:a="http://schemas.openxmlformats.org/drawingml/2006/main">
            <a:off x="740664" y="3995927"/>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152C3C"/>
                </a:solidFill>
                <a:latin typeface="Verdana"/>
                <a:ea typeface="Verdana"/>
                <a:cs typeface="Verdana"/>
              </a:defRPr>
            </a:pPr>
            <a:r>
              <a:t>Text → image</a:t>
            </a:r>
          </a:p>
        </p:txBody>
      </p:sp>
      <p:sp>
        <p:nvSpPr>
          <p:cNvPr id="23" name="TextBox 22">
            <a:extLst xmlns:a="http://schemas.openxmlformats.org/drawingml/2006/main">
              <a:ext uri="{FF2B5EF4-FFF2-40B4-BE49-F238E27FC236}">
                <a16:creationId xmlns:a16="http://schemas.microsoft.com/office/drawing/2014/main" id="{8381FBDA-6848-44E5-8029-5331F148EFA9}"/>
              </a:ext>
            </a:extLst>
          </p:cNvPr>
          <p:cNvSpPr>
            <a:spLocks xmlns:a="http://schemas.openxmlformats.org/drawingml/2006/main" noGrp="1"/>
          </p:cNvSpPr>
          <p:nvPr/>
        </p:nvSpPr>
        <p:spPr>
          <a:xfrm xmlns:a="http://schemas.openxmlformats.org/drawingml/2006/main">
            <a:off x="6355080" y="3995927"/>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152C3C"/>
                </a:solidFill>
                <a:latin typeface="Verdana"/>
                <a:ea typeface="Verdana"/>
                <a:cs typeface="Verdana"/>
              </a:defRPr>
            </a:pPr>
            <a:r>
              <a:t>0,0125</a:t>
            </a:r>
          </a:p>
        </p:txBody>
      </p:sp>
      <p:sp>
        <p:nvSpPr>
          <p:cNvPr id="24" name="TextBox 23">
            <a:extLst xmlns:a="http://schemas.openxmlformats.org/drawingml/2006/main">
              <a:ext uri="{FF2B5EF4-FFF2-40B4-BE49-F238E27FC236}">
                <a16:creationId xmlns:a16="http://schemas.microsoft.com/office/drawing/2014/main" id="{3C1E192C-0C04-431D-8041-92C9B26A3B0A}"/>
              </a:ext>
            </a:extLst>
          </p:cNvPr>
          <p:cNvSpPr>
            <a:spLocks xmlns:a="http://schemas.openxmlformats.org/drawingml/2006/main" noGrp="1"/>
          </p:cNvSpPr>
          <p:nvPr/>
        </p:nvSpPr>
        <p:spPr>
          <a:xfrm xmlns:a="http://schemas.openxmlformats.org/drawingml/2006/main">
            <a:off x="8183880" y="3995927"/>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152C3C"/>
                </a:solidFill>
                <a:latin typeface="Verdana"/>
                <a:ea typeface="Verdana"/>
                <a:cs typeface="Verdana"/>
              </a:defRPr>
            </a:pPr>
            <a:r>
              <a:t>0,0036</a:t>
            </a:r>
          </a:p>
        </p:txBody>
      </p:sp>
      <p:sp>
        <p:nvSpPr>
          <p:cNvPr id="25" name="TextBox 24">
            <a:extLst xmlns:a="http://schemas.openxmlformats.org/drawingml/2006/main">
              <a:ext uri="{FF2B5EF4-FFF2-40B4-BE49-F238E27FC236}">
                <a16:creationId xmlns:a16="http://schemas.microsoft.com/office/drawing/2014/main" id="{D137D764-57EA-4602-89F0-C9136D4A24D4}"/>
              </a:ext>
            </a:extLst>
          </p:cNvPr>
          <p:cNvSpPr>
            <a:spLocks xmlns:a="http://schemas.openxmlformats.org/drawingml/2006/main" noGrp="1"/>
          </p:cNvSpPr>
          <p:nvPr/>
        </p:nvSpPr>
        <p:spPr>
          <a:xfrm xmlns:a="http://schemas.openxmlformats.org/drawingml/2006/main">
            <a:off x="10012680" y="3995927"/>
            <a:ext cx="1426464"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152C3C"/>
                </a:solidFill>
                <a:latin typeface="Verdana"/>
                <a:ea typeface="Verdana"/>
                <a:cs typeface="Verdana"/>
              </a:defRPr>
            </a:pPr>
            <a:r>
              <a:t>0,0013</a:t>
            </a:r>
          </a:p>
        </p:txBody>
      </p:sp>
      <p:sp>
        <p:nvSpPr>
          <p:cNvPr id="26" name="Rectangle 25">
            <a:extLst xmlns:a="http://schemas.openxmlformats.org/drawingml/2006/main">
              <a:ext uri="{FF2B5EF4-FFF2-40B4-BE49-F238E27FC236}">
                <a16:creationId xmlns:a16="http://schemas.microsoft.com/office/drawing/2014/main" id="{EBA86111-E0E9-4511-8717-D85FB0637C90}"/>
              </a:ext>
            </a:extLst>
          </p:cNvPr>
          <p:cNvSpPr>
            <a:spLocks xmlns:a="http://schemas.openxmlformats.org/drawingml/2006/main" noGrp="1"/>
          </p:cNvSpPr>
          <p:nvPr/>
        </p:nvSpPr>
        <p:spPr>
          <a:xfrm xmlns:a="http://schemas.openxmlformats.org/drawingml/2006/main">
            <a:off x="603504" y="4343400"/>
            <a:ext cx="10972800" cy="438912"/>
          </a:xfrm>
          <a:prstGeom xmlns:a="http://schemas.openxmlformats.org/drawingml/2006/main" prst="rect">
            <a:avLst/>
          </a:prstGeom>
          <a:solidFill xmlns:a="http://schemas.openxmlformats.org/drawingml/2006/main">
            <a:srgbClr val="FFFD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EBABA02E-8465-43A6-950C-17DE255BE4A1}"/>
              </a:ext>
            </a:extLst>
          </p:cNvPr>
          <p:cNvSpPr>
            <a:spLocks xmlns:a="http://schemas.openxmlformats.org/drawingml/2006/main" noGrp="1"/>
          </p:cNvSpPr>
          <p:nvPr/>
        </p:nvSpPr>
        <p:spPr>
          <a:xfrm xmlns:a="http://schemas.openxmlformats.org/drawingml/2006/main">
            <a:off x="740664" y="4434840"/>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152C3C"/>
                </a:solidFill>
                <a:latin typeface="Verdana"/>
                <a:ea typeface="Verdana"/>
                <a:cs typeface="Verdana"/>
              </a:defRPr>
            </a:pPr>
            <a:r>
              <a:t>Hybrid no RRF</a:t>
            </a:r>
          </a:p>
        </p:txBody>
      </p:sp>
      <p:sp>
        <p:nvSpPr>
          <p:cNvPr id="28" name="TextBox 27">
            <a:extLst xmlns:a="http://schemas.openxmlformats.org/drawingml/2006/main">
              <a:ext uri="{FF2B5EF4-FFF2-40B4-BE49-F238E27FC236}">
                <a16:creationId xmlns:a16="http://schemas.microsoft.com/office/drawing/2014/main" id="{AD2440C8-0525-4BC6-9638-06327B25E13B}"/>
              </a:ext>
            </a:extLst>
          </p:cNvPr>
          <p:cNvSpPr>
            <a:spLocks xmlns:a="http://schemas.openxmlformats.org/drawingml/2006/main" noGrp="1"/>
          </p:cNvSpPr>
          <p:nvPr/>
        </p:nvSpPr>
        <p:spPr>
          <a:xfrm xmlns:a="http://schemas.openxmlformats.org/drawingml/2006/main">
            <a:off x="6355080" y="4434840"/>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152C3C"/>
                </a:solidFill>
                <a:latin typeface="Verdana"/>
                <a:ea typeface="Verdana"/>
                <a:cs typeface="Verdana"/>
              </a:defRPr>
            </a:pPr>
            <a:r>
              <a:t>0,4625</a:t>
            </a:r>
          </a:p>
        </p:txBody>
      </p:sp>
      <p:sp>
        <p:nvSpPr>
          <p:cNvPr id="29" name="TextBox 28">
            <a:extLst xmlns:a="http://schemas.openxmlformats.org/drawingml/2006/main">
              <a:ext uri="{FF2B5EF4-FFF2-40B4-BE49-F238E27FC236}">
                <a16:creationId xmlns:a16="http://schemas.microsoft.com/office/drawing/2014/main" id="{F2EF24A9-0FFA-44A9-9CBE-BC1C470476F7}"/>
              </a:ext>
            </a:extLst>
          </p:cNvPr>
          <p:cNvSpPr>
            <a:spLocks xmlns:a="http://schemas.openxmlformats.org/drawingml/2006/main" noGrp="1"/>
          </p:cNvSpPr>
          <p:nvPr/>
        </p:nvSpPr>
        <p:spPr>
          <a:xfrm xmlns:a="http://schemas.openxmlformats.org/drawingml/2006/main">
            <a:off x="8183880" y="4434840"/>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152C3C"/>
                </a:solidFill>
                <a:latin typeface="Verdana"/>
                <a:ea typeface="Verdana"/>
                <a:cs typeface="Verdana"/>
              </a:defRPr>
            </a:pPr>
            <a:r>
              <a:t>0,3568</a:t>
            </a:r>
          </a:p>
        </p:txBody>
      </p:sp>
      <p:sp>
        <p:nvSpPr>
          <p:cNvPr id="30" name="TextBox 29">
            <a:extLst xmlns:a="http://schemas.openxmlformats.org/drawingml/2006/main">
              <a:ext uri="{FF2B5EF4-FFF2-40B4-BE49-F238E27FC236}">
                <a16:creationId xmlns:a16="http://schemas.microsoft.com/office/drawing/2014/main" id="{100327F9-7B60-454E-935B-5A9DCA42C138}"/>
              </a:ext>
            </a:extLst>
          </p:cNvPr>
          <p:cNvSpPr>
            <a:spLocks xmlns:a="http://schemas.openxmlformats.org/drawingml/2006/main" noGrp="1"/>
          </p:cNvSpPr>
          <p:nvPr/>
        </p:nvSpPr>
        <p:spPr>
          <a:xfrm xmlns:a="http://schemas.openxmlformats.org/drawingml/2006/main">
            <a:off x="10012680" y="4434840"/>
            <a:ext cx="1426464"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152C3C"/>
                </a:solidFill>
                <a:latin typeface="Verdana"/>
                <a:ea typeface="Verdana"/>
                <a:cs typeface="Verdana"/>
              </a:defRPr>
            </a:pPr>
            <a:r>
              <a:t>0,3249</a:t>
            </a:r>
          </a:p>
        </p:txBody>
      </p:sp>
      <p:sp>
        <p:nvSpPr>
          <p:cNvPr id="31" name="Rectangle 30">
            <a:extLst xmlns:a="http://schemas.openxmlformats.org/drawingml/2006/main">
              <a:ext uri="{FF2B5EF4-FFF2-40B4-BE49-F238E27FC236}">
                <a16:creationId xmlns:a16="http://schemas.microsoft.com/office/drawing/2014/main" id="{9B01AAA7-92F9-4DB6-B2EC-96DC2B7B817C}"/>
              </a:ext>
            </a:extLst>
          </p:cNvPr>
          <p:cNvSpPr>
            <a:spLocks xmlns:a="http://schemas.openxmlformats.org/drawingml/2006/main" noGrp="1"/>
          </p:cNvSpPr>
          <p:nvPr/>
        </p:nvSpPr>
        <p:spPr>
          <a:xfrm xmlns:a="http://schemas.openxmlformats.org/drawingml/2006/main">
            <a:off x="603504" y="4782312"/>
            <a:ext cx="10972800" cy="438912"/>
          </a:xfrm>
          <a:prstGeom xmlns:a="http://schemas.openxmlformats.org/drawingml/2006/main" prst="rect">
            <a:avLst/>
          </a:prstGeom>
          <a:solidFill xmlns:a="http://schemas.openxmlformats.org/drawingml/2006/main">
            <a:srgbClr val="F5F3E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C57FF997-8703-4F4A-A4D7-86A08EA8B73A}"/>
              </a:ext>
            </a:extLst>
          </p:cNvPr>
          <p:cNvSpPr>
            <a:spLocks xmlns:a="http://schemas.openxmlformats.org/drawingml/2006/main" noGrp="1"/>
          </p:cNvSpPr>
          <p:nvPr/>
        </p:nvSpPr>
        <p:spPr>
          <a:xfrm xmlns:a="http://schemas.openxmlformats.org/drawingml/2006/main">
            <a:off x="740664" y="4873752"/>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152C3C"/>
                </a:solidFill>
                <a:latin typeface="Verdana"/>
                <a:ea typeface="Verdana"/>
                <a:cs typeface="Verdana"/>
              </a:defRPr>
            </a:pPr>
            <a:r>
              <a:t>Hybrid RRF</a:t>
            </a:r>
          </a:p>
        </p:txBody>
      </p:sp>
      <p:sp>
        <p:nvSpPr>
          <p:cNvPr id="33" name="TextBox 32">
            <a:extLst xmlns:a="http://schemas.openxmlformats.org/drawingml/2006/main">
              <a:ext uri="{FF2B5EF4-FFF2-40B4-BE49-F238E27FC236}">
                <a16:creationId xmlns:a16="http://schemas.microsoft.com/office/drawing/2014/main" id="{B5C078CF-A734-432F-B5EB-27FCBF1E5EC5}"/>
              </a:ext>
            </a:extLst>
          </p:cNvPr>
          <p:cNvSpPr>
            <a:spLocks xmlns:a="http://schemas.openxmlformats.org/drawingml/2006/main" noGrp="1"/>
          </p:cNvSpPr>
          <p:nvPr/>
        </p:nvSpPr>
        <p:spPr>
          <a:xfrm xmlns:a="http://schemas.openxmlformats.org/drawingml/2006/main">
            <a:off x="6355080" y="4873752"/>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152C3C"/>
                </a:solidFill>
                <a:latin typeface="Verdana"/>
                <a:ea typeface="Verdana"/>
                <a:cs typeface="Verdana"/>
              </a:defRPr>
            </a:pPr>
            <a:r>
              <a:t>0,3250</a:t>
            </a:r>
          </a:p>
        </p:txBody>
      </p:sp>
      <p:sp>
        <p:nvSpPr>
          <p:cNvPr id="34" name="TextBox 33">
            <a:extLst xmlns:a="http://schemas.openxmlformats.org/drawingml/2006/main">
              <a:ext uri="{FF2B5EF4-FFF2-40B4-BE49-F238E27FC236}">
                <a16:creationId xmlns:a16="http://schemas.microsoft.com/office/drawing/2014/main" id="{3F95F92B-C61A-48D1-A3BB-0D370BB11C57}"/>
              </a:ext>
            </a:extLst>
          </p:cNvPr>
          <p:cNvSpPr>
            <a:spLocks xmlns:a="http://schemas.openxmlformats.org/drawingml/2006/main" noGrp="1"/>
          </p:cNvSpPr>
          <p:nvPr/>
        </p:nvSpPr>
        <p:spPr>
          <a:xfrm xmlns:a="http://schemas.openxmlformats.org/drawingml/2006/main">
            <a:off x="8183880" y="4873752"/>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152C3C"/>
                </a:solidFill>
                <a:latin typeface="Verdana"/>
                <a:ea typeface="Verdana"/>
                <a:cs typeface="Verdana"/>
              </a:defRPr>
            </a:pPr>
            <a:r>
              <a:t>0,1846</a:t>
            </a:r>
          </a:p>
        </p:txBody>
      </p:sp>
      <p:sp>
        <p:nvSpPr>
          <p:cNvPr id="35" name="TextBox 34">
            <a:extLst xmlns:a="http://schemas.openxmlformats.org/drawingml/2006/main">
              <a:ext uri="{FF2B5EF4-FFF2-40B4-BE49-F238E27FC236}">
                <a16:creationId xmlns:a16="http://schemas.microsoft.com/office/drawing/2014/main" id="{8C0B4D9E-7B4F-404D-A405-6A4BA14FBFD4}"/>
              </a:ext>
            </a:extLst>
          </p:cNvPr>
          <p:cNvSpPr>
            <a:spLocks xmlns:a="http://schemas.openxmlformats.org/drawingml/2006/main" noGrp="1"/>
          </p:cNvSpPr>
          <p:nvPr/>
        </p:nvSpPr>
        <p:spPr>
          <a:xfrm xmlns:a="http://schemas.openxmlformats.org/drawingml/2006/main">
            <a:off x="10012680" y="4873752"/>
            <a:ext cx="1426464"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152C3C"/>
                </a:solidFill>
                <a:latin typeface="Verdana"/>
                <a:ea typeface="Verdana"/>
                <a:cs typeface="Verdana"/>
              </a:defRPr>
            </a:pPr>
            <a:r>
              <a:t>0,1414</a:t>
            </a:r>
          </a:p>
        </p:txBody>
      </p:sp>
      <p:sp>
        <p:nvSpPr>
          <p:cNvPr id="36" name="Rectangle 35">
            <a:extLst xmlns:a="http://schemas.openxmlformats.org/drawingml/2006/main">
              <a:ext uri="{FF2B5EF4-FFF2-40B4-BE49-F238E27FC236}">
                <a16:creationId xmlns:a16="http://schemas.microsoft.com/office/drawing/2014/main" id="{8EAD28DF-A367-4DC1-9D12-56B26303F8C7}"/>
              </a:ext>
            </a:extLst>
          </p:cNvPr>
          <p:cNvSpPr>
            <a:spLocks xmlns:a="http://schemas.openxmlformats.org/drawingml/2006/main" noGrp="1"/>
          </p:cNvSpPr>
          <p:nvPr/>
        </p:nvSpPr>
        <p:spPr>
          <a:xfrm xmlns:a="http://schemas.openxmlformats.org/drawingml/2006/main">
            <a:off x="603504" y="5715000"/>
            <a:ext cx="10972800" cy="521207"/>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Rectangle 36">
            <a:extLst xmlns:a="http://schemas.openxmlformats.org/drawingml/2006/main">
              <a:ext uri="{FF2B5EF4-FFF2-40B4-BE49-F238E27FC236}">
                <a16:creationId xmlns:a16="http://schemas.microsoft.com/office/drawing/2014/main" id="{10EC1501-64A3-4E89-BE05-B4BEC3A36501}"/>
              </a:ext>
            </a:extLst>
          </p:cNvPr>
          <p:cNvSpPr>
            <a:spLocks xmlns:a="http://schemas.openxmlformats.org/drawingml/2006/main" noGrp="1"/>
          </p:cNvSpPr>
          <p:nvPr/>
        </p:nvSpPr>
        <p:spPr>
          <a:xfrm xmlns:a="http://schemas.openxmlformats.org/drawingml/2006/main">
            <a:off x="603504" y="5715000"/>
            <a:ext cx="32004" cy="521207"/>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TextBox 37">
            <a:extLst xmlns:a="http://schemas.openxmlformats.org/drawingml/2006/main">
              <a:ext uri="{FF2B5EF4-FFF2-40B4-BE49-F238E27FC236}">
                <a16:creationId xmlns:a16="http://schemas.microsoft.com/office/drawing/2014/main" id="{66B865A1-4966-424B-A580-3AC66E58E94C}"/>
              </a:ext>
            </a:extLst>
          </p:cNvPr>
          <p:cNvSpPr>
            <a:spLocks xmlns:a="http://schemas.openxmlformats.org/drawingml/2006/main" noGrp="1"/>
          </p:cNvSpPr>
          <p:nvPr/>
        </p:nvSpPr>
        <p:spPr>
          <a:xfrm xmlns:a="http://schemas.openxmlformats.org/drawingml/2006/main">
            <a:off x="758952" y="5833872"/>
            <a:ext cx="10652760" cy="3383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250" b="0">
                <a:solidFill>
                  <a:srgbClr val="086F69"/>
                </a:solidFill>
                <a:latin typeface="Verdana"/>
                <a:ea typeface="Verdana"/>
                <a:cs typeface="Verdana"/>
              </a:defRPr>
            </a:pPr>
            <a:r>
              <a:t>BM25 và Hybrid no RRF cùng Recall@10 = 0,4625; RRF giảm còn 0,3250.</a:t>
            </a:r>
          </a:p>
        </p:txBody>
      </p:sp>
      <p:sp>
        <p:nvSpPr>
          <p:cNvPr id="39" name="TextBox 38">
            <a:extLst xmlns:a="http://schemas.openxmlformats.org/drawingml/2006/main">
              <a:ext uri="{FF2B5EF4-FFF2-40B4-BE49-F238E27FC236}">
                <a16:creationId xmlns:a16="http://schemas.microsoft.com/office/drawing/2014/main" id="{5FA6CD33-AE47-45C7-AB75-729F2B5D63F2}"/>
              </a:ext>
            </a:extLst>
          </p:cNvPr>
          <p:cNvSpPr>
            <a:spLocks xmlns:a="http://schemas.openxmlformats.org/drawingml/2006/main" noGrp="1"/>
          </p:cNvSpPr>
          <p:nvPr/>
        </p:nvSpPr>
        <p:spPr>
          <a:xfrm xmlns:a="http://schemas.openxmlformats.org/drawingml/2006/main">
            <a:off x="603504" y="6473952"/>
            <a:ext cx="9875520"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950" b="0">
                <a:solidFill>
                  <a:srgbClr val="536774"/>
                </a:solidFill>
                <a:latin typeface="Verdana"/>
                <a:ea typeface="Verdana"/>
                <a:cs typeface="Verdana"/>
              </a:defRPr>
            </a:pPr>
            <a:r>
              <a:t>Nguồn: báo cáo Nhóm 4 · PDF tr. 5–6</a:t>
            </a:r>
          </a:p>
        </p:txBody>
      </p:sp>
      <p:sp>
        <p:nvSpPr>
          <p:cNvPr id="40" name="TextBox 39">
            <a:extLst xmlns:a="http://schemas.openxmlformats.org/drawingml/2006/main">
              <a:ext uri="{FF2B5EF4-FFF2-40B4-BE49-F238E27FC236}">
                <a16:creationId xmlns:a16="http://schemas.microsoft.com/office/drawing/2014/main" id="{ADF76C52-B2A5-4063-B19B-61AF2EF1AC07}"/>
              </a:ext>
            </a:extLst>
          </p:cNvPr>
          <p:cNvSpPr>
            <a:spLocks xmlns:a="http://schemas.openxmlformats.org/drawingml/2006/main" noGrp="1"/>
          </p:cNvSpPr>
          <p:nvPr/>
        </p:nvSpPr>
        <p:spPr>
          <a:xfrm xmlns:a="http://schemas.openxmlformats.org/drawingml/2006/main">
            <a:off x="10698480" y="6473952"/>
            <a:ext cx="886968"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r">
              <a:lnSpc>
                <a:spcPct val="120000"/>
              </a:lnSpc>
              <a:spcBef>
                <a:spcPts val="0"/>
              </a:spcBef>
              <a:spcAft>
                <a:spcPts val="500"/>
              </a:spcAft>
              <a:buNone/>
              <a:defRPr sz="950" b="0">
                <a:solidFill>
                  <a:srgbClr val="152C3C"/>
                </a:solidFill>
                <a:latin typeface="Verdana"/>
                <a:ea typeface="Verdana"/>
                <a:cs typeface="Verdana"/>
              </a:defRPr>
            </a:pPr>
            <a:r>
              <a:t>07 / 12</a:t>
            </a:r>
          </a:p>
        </p:txBody>
      </p:sp>
    </p:spTree>
    <p:extLst>
      <p:ext uri="{BB962C8B-B14F-4D97-AF65-F5344CB8AC3E}">
        <p14:creationId xmlns:p14="http://schemas.microsoft.com/office/powerpoint/2010/main" val="1183490532"/>
      </p:ext>
    </p:extLst>
  </p:cSld>
</p:sld>
</file>

<file path=ppt/slides/slide8.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76EC43A-7AA1-41B3-BFEA-E503B876C0C5}"/>
              </a:ext>
            </a:extLst>
          </p:cNvPr>
          <p:cNvSpPr>
            <a:spLocks xmlns:a="http://schemas.openxmlformats.org/drawingml/2006/main" noGrp="1"/>
          </p:cNvSpPr>
          <p:nvPr/>
        </p:nvSpPr>
        <p:spPr>
          <a:xfrm xmlns:a="http://schemas.openxmlformats.org/drawingml/2006/main">
            <a:off x="603504" y="384048"/>
            <a:ext cx="10972800" cy="2468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50" b="1">
                <a:solidFill>
                  <a:srgbClr val="086F69"/>
                </a:solidFill>
                <a:latin typeface="Verdana"/>
                <a:ea typeface="Verdana"/>
                <a:cs typeface="Verdana"/>
              </a:defRPr>
            </a:pPr>
            <a:r>
              <a:t>05 / ĐỘ TRỄ</a:t>
            </a:r>
          </a:p>
        </p:txBody>
      </p:sp>
      <p:sp>
        <p:nvSpPr>
          <p:cNvPr id="3" name="Rectangle 2">
            <a:extLst xmlns:a="http://schemas.openxmlformats.org/drawingml/2006/main">
              <a:ext uri="{FF2B5EF4-FFF2-40B4-BE49-F238E27FC236}">
                <a16:creationId xmlns:a16="http://schemas.microsoft.com/office/drawing/2014/main" id="{4BB85967-0B5D-4809-B947-42FAC8096543}"/>
              </a:ext>
            </a:extLst>
          </p:cNvPr>
          <p:cNvSpPr>
            <a:spLocks xmlns:a="http://schemas.openxmlformats.org/drawingml/2006/main" noGrp="1"/>
          </p:cNvSpPr>
          <p:nvPr/>
        </p:nvSpPr>
        <p:spPr>
          <a:xfrm xmlns:a="http://schemas.openxmlformats.org/drawingml/2006/main">
            <a:off x="603504" y="813816"/>
            <a:ext cx="10972800" cy="12801"/>
          </a:xfrm>
          <a:prstGeom xmlns:a="http://schemas.openxmlformats.org/drawingml/2006/main" prst="rect">
            <a:avLst/>
          </a:prstGeom>
          <a:solidFill xmlns:a="http://schemas.openxmlformats.org/drawingml/2006/main">
            <a:srgbClr val="D7DF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8D400E65-DCB5-4703-B00A-B31464B4A898}"/>
              </a:ext>
            </a:extLst>
          </p:cNvPr>
          <p:cNvSpPr>
            <a:spLocks xmlns:a="http://schemas.openxmlformats.org/drawingml/2006/main" noGrp="1"/>
          </p:cNvSpPr>
          <p:nvPr/>
        </p:nvSpPr>
        <p:spPr>
          <a:xfrm xmlns:a="http://schemas.openxmlformats.org/drawingml/2006/main">
            <a:off x="603504" y="1005840"/>
            <a:ext cx="10972800" cy="9692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3200" b="1">
                <a:solidFill>
                  <a:srgbClr val="152C3C"/>
                </a:solidFill>
                <a:latin typeface="Georgia"/>
                <a:ea typeface="Georgia"/>
                <a:cs typeface="Georgia"/>
              </a:defRPr>
            </a:pPr>
            <a:r>
              <a:t>Chất lượng tốt hơn, độ trễ thấp hơn</a:t>
            </a:r>
          </a:p>
        </p:txBody>
      </p:sp>
      <p:sp>
        <p:nvSpPr>
          <p:cNvPr id="5" name="TextBox 4">
            <a:extLst xmlns:a="http://schemas.openxmlformats.org/drawingml/2006/main">
              <a:ext uri="{FF2B5EF4-FFF2-40B4-BE49-F238E27FC236}">
                <a16:creationId xmlns:a16="http://schemas.microsoft.com/office/drawing/2014/main" id="{609194BB-26B1-4274-9879-A2B41722D27B}"/>
              </a:ext>
            </a:extLst>
          </p:cNvPr>
          <p:cNvSpPr>
            <a:spLocks xmlns:a="http://schemas.openxmlformats.org/drawingml/2006/main" noGrp="1"/>
          </p:cNvSpPr>
          <p:nvPr/>
        </p:nvSpPr>
        <p:spPr>
          <a:xfrm xmlns:a="http://schemas.openxmlformats.org/drawingml/2006/main">
            <a:off x="603504" y="1874519"/>
            <a:ext cx="10972800" cy="4297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0">
                <a:solidFill>
                  <a:srgbClr val="536774"/>
                </a:solidFill>
                <a:latin typeface="Verdana"/>
                <a:ea typeface="Verdana"/>
                <a:cs typeface="Verdana"/>
              </a:defRPr>
            </a:pPr>
            <a:r>
              <a:t>Text query · latency p50/p95 (ms) · cùng các cấu hình E0–E4.</a:t>
            </a:r>
          </a:p>
        </p:txBody>
      </p:sp>
      <p:sp>
        <p:nvSpPr>
          <p:cNvPr id="6" name="TextBox 5">
            <a:extLst xmlns:a="http://schemas.openxmlformats.org/drawingml/2006/main">
              <a:ext uri="{FF2B5EF4-FFF2-40B4-BE49-F238E27FC236}">
                <a16:creationId xmlns:a16="http://schemas.microsoft.com/office/drawing/2014/main" id="{333AD40C-DDC1-4841-AC63-D0BF8398BEED}"/>
              </a:ext>
            </a:extLst>
          </p:cNvPr>
          <p:cNvSpPr>
            <a:spLocks xmlns:a="http://schemas.openxmlformats.org/drawingml/2006/main" noGrp="1"/>
          </p:cNvSpPr>
          <p:nvPr/>
        </p:nvSpPr>
        <p:spPr>
          <a:xfrm xmlns:a="http://schemas.openxmlformats.org/drawingml/2006/main">
            <a:off x="3291840" y="2423160"/>
            <a:ext cx="8229600" cy="2011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100" b="0">
                <a:solidFill>
                  <a:srgbClr val="536774"/>
                </a:solidFill>
                <a:latin typeface="Verdana"/>
                <a:ea typeface="Verdana"/>
                <a:cs typeface="Verdana"/>
              </a:defRPr>
            </a:pPr>
            <a:r>
              <a:t>p50: teal     p95: xanh nhạt                 Trục chung 0–120 ms</a:t>
            </a:r>
          </a:p>
        </p:txBody>
      </p:sp>
      <p:sp>
        <p:nvSpPr>
          <p:cNvPr id="7" name="TextBox 6">
            <a:extLst xmlns:a="http://schemas.openxmlformats.org/drawingml/2006/main">
              <a:ext uri="{FF2B5EF4-FFF2-40B4-BE49-F238E27FC236}">
                <a16:creationId xmlns:a16="http://schemas.microsoft.com/office/drawing/2014/main" id="{D35E4473-86DA-40AE-A966-934671D8F4C8}"/>
              </a:ext>
            </a:extLst>
          </p:cNvPr>
          <p:cNvSpPr>
            <a:spLocks xmlns:a="http://schemas.openxmlformats.org/drawingml/2006/main" noGrp="1"/>
          </p:cNvSpPr>
          <p:nvPr/>
        </p:nvSpPr>
        <p:spPr>
          <a:xfrm xmlns:a="http://schemas.openxmlformats.org/drawingml/2006/main">
            <a:off x="621792" y="2889504"/>
            <a:ext cx="256032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152C3C"/>
                </a:solidFill>
                <a:latin typeface="Verdana"/>
                <a:ea typeface="Verdana"/>
                <a:cs typeface="Verdana"/>
              </a:defRPr>
            </a:pPr>
            <a:r>
              <a:t>BM25</a:t>
            </a:r>
          </a:p>
        </p:txBody>
      </p:sp>
      <p:sp>
        <p:nvSpPr>
          <p:cNvPr id="8" name="Rectangle 7">
            <a:extLst xmlns:a="http://schemas.openxmlformats.org/drawingml/2006/main">
              <a:ext uri="{FF2B5EF4-FFF2-40B4-BE49-F238E27FC236}">
                <a16:creationId xmlns:a16="http://schemas.microsoft.com/office/drawing/2014/main" id="{32DF9DBA-1DDA-4AF5-806F-95AE2611FC63}"/>
              </a:ext>
            </a:extLst>
          </p:cNvPr>
          <p:cNvSpPr>
            <a:spLocks xmlns:a="http://schemas.openxmlformats.org/drawingml/2006/main" noGrp="1"/>
          </p:cNvSpPr>
          <p:nvPr/>
        </p:nvSpPr>
        <p:spPr>
          <a:xfrm xmlns:a="http://schemas.openxmlformats.org/drawingml/2006/main">
            <a:off x="3291840" y="2816352"/>
            <a:ext cx="1537014" cy="155448"/>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CC5BF030-3D33-4C10-96FF-85933498BD47}"/>
              </a:ext>
            </a:extLst>
          </p:cNvPr>
          <p:cNvSpPr>
            <a:spLocks xmlns:a="http://schemas.openxmlformats.org/drawingml/2006/main" noGrp="1"/>
          </p:cNvSpPr>
          <p:nvPr/>
        </p:nvSpPr>
        <p:spPr>
          <a:xfrm xmlns:a="http://schemas.openxmlformats.org/drawingml/2006/main">
            <a:off x="4938582" y="2793492"/>
            <a:ext cx="777240" cy="2011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50" b="0">
                <a:solidFill>
                  <a:srgbClr val="152C3C"/>
                </a:solidFill>
                <a:latin typeface="Verdana"/>
                <a:ea typeface="Verdana"/>
                <a:cs typeface="Verdana"/>
              </a:defRPr>
            </a:pPr>
            <a:r>
              <a:t>25,86</a:t>
            </a:r>
          </a:p>
        </p:txBody>
      </p:sp>
      <p:sp>
        <p:nvSpPr>
          <p:cNvPr id="10" name="Rectangle 9">
            <a:extLst xmlns:a="http://schemas.openxmlformats.org/drawingml/2006/main">
              <a:ext uri="{FF2B5EF4-FFF2-40B4-BE49-F238E27FC236}">
                <a16:creationId xmlns:a16="http://schemas.microsoft.com/office/drawing/2014/main" id="{F41FEBF3-E461-4230-A356-F012C79787FF}"/>
              </a:ext>
            </a:extLst>
          </p:cNvPr>
          <p:cNvSpPr>
            <a:spLocks xmlns:a="http://schemas.openxmlformats.org/drawingml/2006/main" noGrp="1"/>
          </p:cNvSpPr>
          <p:nvPr/>
        </p:nvSpPr>
        <p:spPr>
          <a:xfrm xmlns:a="http://schemas.openxmlformats.org/drawingml/2006/main">
            <a:off x="3291840" y="3026664"/>
            <a:ext cx="2663921" cy="155448"/>
          </a:xfrm>
          <a:prstGeom xmlns:a="http://schemas.openxmlformats.org/drawingml/2006/main" prst="rect">
            <a:avLst/>
          </a:prstGeom>
          <a:solidFill xmlns:a="http://schemas.openxmlformats.org/drawingml/2006/main">
            <a:srgbClr val="A9C8C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54308E83-BA15-4321-9376-ED3A7A13DE55}"/>
              </a:ext>
            </a:extLst>
          </p:cNvPr>
          <p:cNvSpPr>
            <a:spLocks xmlns:a="http://schemas.openxmlformats.org/drawingml/2006/main" noGrp="1"/>
          </p:cNvSpPr>
          <p:nvPr/>
        </p:nvSpPr>
        <p:spPr>
          <a:xfrm xmlns:a="http://schemas.openxmlformats.org/drawingml/2006/main">
            <a:off x="6065489" y="3003804"/>
            <a:ext cx="777240" cy="2011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50" b="0">
                <a:solidFill>
                  <a:srgbClr val="152C3C"/>
                </a:solidFill>
                <a:latin typeface="Verdana"/>
                <a:ea typeface="Verdana"/>
                <a:cs typeface="Verdana"/>
              </a:defRPr>
            </a:pPr>
            <a:r>
              <a:t>44,82</a:t>
            </a:r>
          </a:p>
        </p:txBody>
      </p:sp>
      <p:sp>
        <p:nvSpPr>
          <p:cNvPr id="12" name="TextBox 11">
            <a:extLst xmlns:a="http://schemas.openxmlformats.org/drawingml/2006/main">
              <a:ext uri="{FF2B5EF4-FFF2-40B4-BE49-F238E27FC236}">
                <a16:creationId xmlns:a16="http://schemas.microsoft.com/office/drawing/2014/main" id="{9F916551-4375-457A-ABE9-D90B874693EA}"/>
              </a:ext>
            </a:extLst>
          </p:cNvPr>
          <p:cNvSpPr>
            <a:spLocks xmlns:a="http://schemas.openxmlformats.org/drawingml/2006/main" noGrp="1"/>
          </p:cNvSpPr>
          <p:nvPr/>
        </p:nvSpPr>
        <p:spPr>
          <a:xfrm xmlns:a="http://schemas.openxmlformats.org/drawingml/2006/main">
            <a:off x="621792" y="3392424"/>
            <a:ext cx="256032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152C3C"/>
                </a:solidFill>
                <a:latin typeface="Verdana"/>
                <a:ea typeface="Verdana"/>
                <a:cs typeface="Verdana"/>
              </a:defRPr>
            </a:pPr>
            <a:r>
              <a:t>Dense text</a:t>
            </a:r>
          </a:p>
        </p:txBody>
      </p:sp>
      <p:sp>
        <p:nvSpPr>
          <p:cNvPr id="13" name="Rectangle 12">
            <a:extLst xmlns:a="http://schemas.openxmlformats.org/drawingml/2006/main">
              <a:ext uri="{FF2B5EF4-FFF2-40B4-BE49-F238E27FC236}">
                <a16:creationId xmlns:a16="http://schemas.microsoft.com/office/drawing/2014/main" id="{0D1AECA7-4BC0-4292-9EE3-A03B5C887ACE}"/>
              </a:ext>
            </a:extLst>
          </p:cNvPr>
          <p:cNvSpPr>
            <a:spLocks xmlns:a="http://schemas.openxmlformats.org/drawingml/2006/main" noGrp="1"/>
          </p:cNvSpPr>
          <p:nvPr/>
        </p:nvSpPr>
        <p:spPr>
          <a:xfrm xmlns:a="http://schemas.openxmlformats.org/drawingml/2006/main">
            <a:off x="3291840" y="3319272"/>
            <a:ext cx="3047878" cy="155448"/>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85C54B07-073D-443C-A49B-2FE1D7B919E6}"/>
              </a:ext>
            </a:extLst>
          </p:cNvPr>
          <p:cNvSpPr>
            <a:spLocks xmlns:a="http://schemas.openxmlformats.org/drawingml/2006/main" noGrp="1"/>
          </p:cNvSpPr>
          <p:nvPr/>
        </p:nvSpPr>
        <p:spPr>
          <a:xfrm xmlns:a="http://schemas.openxmlformats.org/drawingml/2006/main">
            <a:off x="6449446" y="3296412"/>
            <a:ext cx="777240" cy="2011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50" b="0">
                <a:solidFill>
                  <a:srgbClr val="152C3C"/>
                </a:solidFill>
                <a:latin typeface="Verdana"/>
                <a:ea typeface="Verdana"/>
                <a:cs typeface="Verdana"/>
              </a:defRPr>
            </a:pPr>
            <a:r>
              <a:t>51,28</a:t>
            </a:r>
          </a:p>
        </p:txBody>
      </p:sp>
      <p:sp>
        <p:nvSpPr>
          <p:cNvPr id="15" name="Rectangle 14">
            <a:extLst xmlns:a="http://schemas.openxmlformats.org/drawingml/2006/main">
              <a:ext uri="{FF2B5EF4-FFF2-40B4-BE49-F238E27FC236}">
                <a16:creationId xmlns:a16="http://schemas.microsoft.com/office/drawing/2014/main" id="{C4F5B62B-F5FE-4C63-8443-033DA01BF367}"/>
              </a:ext>
            </a:extLst>
          </p:cNvPr>
          <p:cNvSpPr>
            <a:spLocks xmlns:a="http://schemas.openxmlformats.org/drawingml/2006/main" noGrp="1"/>
          </p:cNvSpPr>
          <p:nvPr/>
        </p:nvSpPr>
        <p:spPr>
          <a:xfrm xmlns:a="http://schemas.openxmlformats.org/drawingml/2006/main">
            <a:off x="3291840" y="3529584"/>
            <a:ext cx="5746272" cy="155448"/>
          </a:xfrm>
          <a:prstGeom xmlns:a="http://schemas.openxmlformats.org/drawingml/2006/main" prst="rect">
            <a:avLst/>
          </a:prstGeom>
          <a:solidFill xmlns:a="http://schemas.openxmlformats.org/drawingml/2006/main">
            <a:srgbClr val="A9C8C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4707474C-FC7D-4CAD-A628-643FF98421E4}"/>
              </a:ext>
            </a:extLst>
          </p:cNvPr>
          <p:cNvSpPr>
            <a:spLocks xmlns:a="http://schemas.openxmlformats.org/drawingml/2006/main" noGrp="1"/>
          </p:cNvSpPr>
          <p:nvPr/>
        </p:nvSpPr>
        <p:spPr>
          <a:xfrm xmlns:a="http://schemas.openxmlformats.org/drawingml/2006/main">
            <a:off x="9147840" y="3506724"/>
            <a:ext cx="777240" cy="2011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50" b="0">
                <a:solidFill>
                  <a:srgbClr val="152C3C"/>
                </a:solidFill>
                <a:latin typeface="Verdana"/>
                <a:ea typeface="Verdana"/>
                <a:cs typeface="Verdana"/>
              </a:defRPr>
            </a:pPr>
            <a:r>
              <a:t>96,68</a:t>
            </a:r>
          </a:p>
        </p:txBody>
      </p:sp>
      <p:sp>
        <p:nvSpPr>
          <p:cNvPr id="17" name="TextBox 16">
            <a:extLst xmlns:a="http://schemas.openxmlformats.org/drawingml/2006/main">
              <a:ext uri="{FF2B5EF4-FFF2-40B4-BE49-F238E27FC236}">
                <a16:creationId xmlns:a16="http://schemas.microsoft.com/office/drawing/2014/main" id="{8EA7010D-CFC3-4394-A55D-7EB6C42ED34E}"/>
              </a:ext>
            </a:extLst>
          </p:cNvPr>
          <p:cNvSpPr>
            <a:spLocks xmlns:a="http://schemas.openxmlformats.org/drawingml/2006/main" noGrp="1"/>
          </p:cNvSpPr>
          <p:nvPr/>
        </p:nvSpPr>
        <p:spPr>
          <a:xfrm xmlns:a="http://schemas.openxmlformats.org/drawingml/2006/main">
            <a:off x="621792" y="3895344"/>
            <a:ext cx="256032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152C3C"/>
                </a:solidFill>
                <a:latin typeface="Verdana"/>
                <a:ea typeface="Verdana"/>
                <a:cs typeface="Verdana"/>
              </a:defRPr>
            </a:pPr>
            <a:r>
              <a:t>Text → image</a:t>
            </a:r>
          </a:p>
        </p:txBody>
      </p:sp>
      <p:sp>
        <p:nvSpPr>
          <p:cNvPr id="18" name="Rectangle 17">
            <a:extLst xmlns:a="http://schemas.openxmlformats.org/drawingml/2006/main">
              <a:ext uri="{FF2B5EF4-FFF2-40B4-BE49-F238E27FC236}">
                <a16:creationId xmlns:a16="http://schemas.microsoft.com/office/drawing/2014/main" id="{D6F1E034-99C7-4C28-B51A-2A79364B6E5D}"/>
              </a:ext>
            </a:extLst>
          </p:cNvPr>
          <p:cNvSpPr>
            <a:spLocks xmlns:a="http://schemas.openxmlformats.org/drawingml/2006/main" noGrp="1"/>
          </p:cNvSpPr>
          <p:nvPr/>
        </p:nvSpPr>
        <p:spPr>
          <a:xfrm xmlns:a="http://schemas.openxmlformats.org/drawingml/2006/main">
            <a:off x="3291840" y="3822191"/>
            <a:ext cx="2410724" cy="155448"/>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A55688A6-F447-4F5C-89BA-40D4E8F9A7DF}"/>
              </a:ext>
            </a:extLst>
          </p:cNvPr>
          <p:cNvSpPr>
            <a:spLocks xmlns:a="http://schemas.openxmlformats.org/drawingml/2006/main" noGrp="1"/>
          </p:cNvSpPr>
          <p:nvPr/>
        </p:nvSpPr>
        <p:spPr>
          <a:xfrm xmlns:a="http://schemas.openxmlformats.org/drawingml/2006/main">
            <a:off x="5812292" y="3799331"/>
            <a:ext cx="777240" cy="2011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50" b="0">
                <a:solidFill>
                  <a:srgbClr val="152C3C"/>
                </a:solidFill>
                <a:latin typeface="Verdana"/>
                <a:ea typeface="Verdana"/>
                <a:cs typeface="Verdana"/>
              </a:defRPr>
            </a:pPr>
            <a:r>
              <a:t>40,56</a:t>
            </a:r>
          </a:p>
        </p:txBody>
      </p:sp>
      <p:sp>
        <p:nvSpPr>
          <p:cNvPr id="20" name="Rectangle 19">
            <a:extLst xmlns:a="http://schemas.openxmlformats.org/drawingml/2006/main">
              <a:ext uri="{FF2B5EF4-FFF2-40B4-BE49-F238E27FC236}">
                <a16:creationId xmlns:a16="http://schemas.microsoft.com/office/drawing/2014/main" id="{52B1D9E9-7B47-458F-A9BE-630F0810493F}"/>
              </a:ext>
            </a:extLst>
          </p:cNvPr>
          <p:cNvSpPr>
            <a:spLocks xmlns:a="http://schemas.openxmlformats.org/drawingml/2006/main" noGrp="1"/>
          </p:cNvSpPr>
          <p:nvPr/>
        </p:nvSpPr>
        <p:spPr>
          <a:xfrm xmlns:a="http://schemas.openxmlformats.org/drawingml/2006/main">
            <a:off x="3291840" y="4032504"/>
            <a:ext cx="3538225" cy="155448"/>
          </a:xfrm>
          <a:prstGeom xmlns:a="http://schemas.openxmlformats.org/drawingml/2006/main" prst="rect">
            <a:avLst/>
          </a:prstGeom>
          <a:solidFill xmlns:a="http://schemas.openxmlformats.org/drawingml/2006/main">
            <a:srgbClr val="A9C8C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5E8698A8-ECFF-40E2-8082-93C5EF61B743}"/>
              </a:ext>
            </a:extLst>
          </p:cNvPr>
          <p:cNvSpPr>
            <a:spLocks xmlns:a="http://schemas.openxmlformats.org/drawingml/2006/main" noGrp="1"/>
          </p:cNvSpPr>
          <p:nvPr/>
        </p:nvSpPr>
        <p:spPr>
          <a:xfrm xmlns:a="http://schemas.openxmlformats.org/drawingml/2006/main">
            <a:off x="6939793" y="4009644"/>
            <a:ext cx="777240" cy="2011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50" b="0">
                <a:solidFill>
                  <a:srgbClr val="152C3C"/>
                </a:solidFill>
                <a:latin typeface="Verdana"/>
                <a:ea typeface="Verdana"/>
                <a:cs typeface="Verdana"/>
              </a:defRPr>
            </a:pPr>
            <a:r>
              <a:t>59,53</a:t>
            </a:r>
          </a:p>
        </p:txBody>
      </p:sp>
      <p:sp>
        <p:nvSpPr>
          <p:cNvPr id="22" name="TextBox 21">
            <a:extLst xmlns:a="http://schemas.openxmlformats.org/drawingml/2006/main">
              <a:ext uri="{FF2B5EF4-FFF2-40B4-BE49-F238E27FC236}">
                <a16:creationId xmlns:a16="http://schemas.microsoft.com/office/drawing/2014/main" id="{9B6008AA-2127-44BA-84CB-FE376515B1B8}"/>
              </a:ext>
            </a:extLst>
          </p:cNvPr>
          <p:cNvSpPr>
            <a:spLocks xmlns:a="http://schemas.openxmlformats.org/drawingml/2006/main" noGrp="1"/>
          </p:cNvSpPr>
          <p:nvPr/>
        </p:nvSpPr>
        <p:spPr>
          <a:xfrm xmlns:a="http://schemas.openxmlformats.org/drawingml/2006/main">
            <a:off x="621792" y="4398264"/>
            <a:ext cx="256032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152C3C"/>
                </a:solidFill>
                <a:latin typeface="Verdana"/>
                <a:ea typeface="Verdana"/>
                <a:cs typeface="Verdana"/>
              </a:defRPr>
            </a:pPr>
            <a:r>
              <a:t>Hybrid no RRF</a:t>
            </a:r>
          </a:p>
        </p:txBody>
      </p:sp>
      <p:sp>
        <p:nvSpPr>
          <p:cNvPr id="23" name="Rectangle 22">
            <a:extLst xmlns:a="http://schemas.openxmlformats.org/drawingml/2006/main">
              <a:ext uri="{FF2B5EF4-FFF2-40B4-BE49-F238E27FC236}">
                <a16:creationId xmlns:a16="http://schemas.microsoft.com/office/drawing/2014/main" id="{F13D71AD-21CB-4E75-85D8-4BEB06785F28}"/>
              </a:ext>
            </a:extLst>
          </p:cNvPr>
          <p:cNvSpPr>
            <a:spLocks xmlns:a="http://schemas.openxmlformats.org/drawingml/2006/main" noGrp="1"/>
          </p:cNvSpPr>
          <p:nvPr/>
        </p:nvSpPr>
        <p:spPr>
          <a:xfrm xmlns:a="http://schemas.openxmlformats.org/drawingml/2006/main">
            <a:off x="3291840" y="4325112"/>
            <a:ext cx="3984589" cy="155448"/>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1105EB72-2902-4F73-90D0-B701E57E928C}"/>
              </a:ext>
            </a:extLst>
          </p:cNvPr>
          <p:cNvSpPr>
            <a:spLocks xmlns:a="http://schemas.openxmlformats.org/drawingml/2006/main" noGrp="1"/>
          </p:cNvSpPr>
          <p:nvPr/>
        </p:nvSpPr>
        <p:spPr>
          <a:xfrm xmlns:a="http://schemas.openxmlformats.org/drawingml/2006/main">
            <a:off x="7386157" y="4302252"/>
            <a:ext cx="777240" cy="2011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50" b="0">
                <a:solidFill>
                  <a:srgbClr val="152C3C"/>
                </a:solidFill>
                <a:latin typeface="Verdana"/>
                <a:ea typeface="Verdana"/>
                <a:cs typeface="Verdana"/>
              </a:defRPr>
            </a:pPr>
            <a:r>
              <a:t>67,04</a:t>
            </a:r>
          </a:p>
        </p:txBody>
      </p:sp>
      <p:sp>
        <p:nvSpPr>
          <p:cNvPr id="25" name="Rectangle 24">
            <a:extLst xmlns:a="http://schemas.openxmlformats.org/drawingml/2006/main">
              <a:ext uri="{FF2B5EF4-FFF2-40B4-BE49-F238E27FC236}">
                <a16:creationId xmlns:a16="http://schemas.microsoft.com/office/drawing/2014/main" id="{AB89ED3A-5B6E-4FD7-A7C3-9DC52DB38FF2}"/>
              </a:ext>
            </a:extLst>
          </p:cNvPr>
          <p:cNvSpPr>
            <a:spLocks xmlns:a="http://schemas.openxmlformats.org/drawingml/2006/main" noGrp="1"/>
          </p:cNvSpPr>
          <p:nvPr/>
        </p:nvSpPr>
        <p:spPr>
          <a:xfrm xmlns:a="http://schemas.openxmlformats.org/drawingml/2006/main">
            <a:off x="3291840" y="4535424"/>
            <a:ext cx="6093973" cy="155448"/>
          </a:xfrm>
          <a:prstGeom xmlns:a="http://schemas.openxmlformats.org/drawingml/2006/main" prst="rect">
            <a:avLst/>
          </a:prstGeom>
          <a:solidFill xmlns:a="http://schemas.openxmlformats.org/drawingml/2006/main">
            <a:srgbClr val="A9C8C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5622F6F4-17CA-48D8-9F7B-3FC86FE81500}"/>
              </a:ext>
            </a:extLst>
          </p:cNvPr>
          <p:cNvSpPr>
            <a:spLocks xmlns:a="http://schemas.openxmlformats.org/drawingml/2006/main" noGrp="1"/>
          </p:cNvSpPr>
          <p:nvPr/>
        </p:nvSpPr>
        <p:spPr>
          <a:xfrm xmlns:a="http://schemas.openxmlformats.org/drawingml/2006/main">
            <a:off x="9495541" y="4512564"/>
            <a:ext cx="777240" cy="2011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50" b="0">
                <a:solidFill>
                  <a:srgbClr val="152C3C"/>
                </a:solidFill>
                <a:latin typeface="Verdana"/>
                <a:ea typeface="Verdana"/>
                <a:cs typeface="Verdana"/>
              </a:defRPr>
            </a:pPr>
            <a:r>
              <a:t>102,53</a:t>
            </a:r>
          </a:p>
        </p:txBody>
      </p:sp>
      <p:sp>
        <p:nvSpPr>
          <p:cNvPr id="27" name="TextBox 26">
            <a:extLst xmlns:a="http://schemas.openxmlformats.org/drawingml/2006/main">
              <a:ext uri="{FF2B5EF4-FFF2-40B4-BE49-F238E27FC236}">
                <a16:creationId xmlns:a16="http://schemas.microsoft.com/office/drawing/2014/main" id="{0C48EE10-92B2-46BB-8233-71042C2C173B}"/>
              </a:ext>
            </a:extLst>
          </p:cNvPr>
          <p:cNvSpPr>
            <a:spLocks xmlns:a="http://schemas.openxmlformats.org/drawingml/2006/main" noGrp="1"/>
          </p:cNvSpPr>
          <p:nvPr/>
        </p:nvSpPr>
        <p:spPr>
          <a:xfrm xmlns:a="http://schemas.openxmlformats.org/drawingml/2006/main">
            <a:off x="621792" y="4901184"/>
            <a:ext cx="256032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152C3C"/>
                </a:solidFill>
                <a:latin typeface="Verdana"/>
                <a:ea typeface="Verdana"/>
                <a:cs typeface="Verdana"/>
              </a:defRPr>
            </a:pPr>
            <a:r>
              <a:t>Hybrid RRF</a:t>
            </a:r>
          </a:p>
        </p:txBody>
      </p:sp>
      <p:sp>
        <p:nvSpPr>
          <p:cNvPr id="28" name="Rectangle 27">
            <a:extLst xmlns:a="http://schemas.openxmlformats.org/drawingml/2006/main">
              <a:ext uri="{FF2B5EF4-FFF2-40B4-BE49-F238E27FC236}">
                <a16:creationId xmlns:a16="http://schemas.microsoft.com/office/drawing/2014/main" id="{50261B1D-5F5F-404E-8D62-79137BCF6A29}"/>
              </a:ext>
            </a:extLst>
          </p:cNvPr>
          <p:cNvSpPr>
            <a:spLocks xmlns:a="http://schemas.openxmlformats.org/drawingml/2006/main" noGrp="1"/>
          </p:cNvSpPr>
          <p:nvPr/>
        </p:nvSpPr>
        <p:spPr>
          <a:xfrm xmlns:a="http://schemas.openxmlformats.org/drawingml/2006/main">
            <a:off x="3291840" y="4828032"/>
            <a:ext cx="3889491" cy="155448"/>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TextBox 28">
            <a:extLst xmlns:a="http://schemas.openxmlformats.org/drawingml/2006/main">
              <a:ext uri="{FF2B5EF4-FFF2-40B4-BE49-F238E27FC236}">
                <a16:creationId xmlns:a16="http://schemas.microsoft.com/office/drawing/2014/main" id="{496EA095-C08A-4FEA-93E4-AC13BDE2A2C2}"/>
              </a:ext>
            </a:extLst>
          </p:cNvPr>
          <p:cNvSpPr>
            <a:spLocks xmlns:a="http://schemas.openxmlformats.org/drawingml/2006/main" noGrp="1"/>
          </p:cNvSpPr>
          <p:nvPr/>
        </p:nvSpPr>
        <p:spPr>
          <a:xfrm xmlns:a="http://schemas.openxmlformats.org/drawingml/2006/main">
            <a:off x="7291059" y="4805172"/>
            <a:ext cx="777240" cy="2011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50" b="0">
                <a:solidFill>
                  <a:srgbClr val="152C3C"/>
                </a:solidFill>
                <a:latin typeface="Verdana"/>
                <a:ea typeface="Verdana"/>
                <a:cs typeface="Verdana"/>
              </a:defRPr>
            </a:pPr>
            <a:r>
              <a:t>65,44</a:t>
            </a:r>
          </a:p>
        </p:txBody>
      </p:sp>
      <p:sp>
        <p:nvSpPr>
          <p:cNvPr id="30" name="Rectangle 29">
            <a:extLst xmlns:a="http://schemas.openxmlformats.org/drawingml/2006/main">
              <a:ext uri="{FF2B5EF4-FFF2-40B4-BE49-F238E27FC236}">
                <a16:creationId xmlns:a16="http://schemas.microsoft.com/office/drawing/2014/main" id="{3837CE93-B3D6-4A31-BB96-9BEC675CCDB6}"/>
              </a:ext>
            </a:extLst>
          </p:cNvPr>
          <p:cNvSpPr>
            <a:spLocks xmlns:a="http://schemas.openxmlformats.org/drawingml/2006/main" noGrp="1"/>
          </p:cNvSpPr>
          <p:nvPr/>
        </p:nvSpPr>
        <p:spPr>
          <a:xfrm xmlns:a="http://schemas.openxmlformats.org/drawingml/2006/main">
            <a:off x="3291840" y="5038344"/>
            <a:ext cx="5559643" cy="155448"/>
          </a:xfrm>
          <a:prstGeom xmlns:a="http://schemas.openxmlformats.org/drawingml/2006/main" prst="rect">
            <a:avLst/>
          </a:prstGeom>
          <a:solidFill xmlns:a="http://schemas.openxmlformats.org/drawingml/2006/main">
            <a:srgbClr val="A9C8C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TextBox 30">
            <a:extLst xmlns:a="http://schemas.openxmlformats.org/drawingml/2006/main">
              <a:ext uri="{FF2B5EF4-FFF2-40B4-BE49-F238E27FC236}">
                <a16:creationId xmlns:a16="http://schemas.microsoft.com/office/drawing/2014/main" id="{6D8BBCE3-5F50-44F5-8B34-76CD2A391415}"/>
              </a:ext>
            </a:extLst>
          </p:cNvPr>
          <p:cNvSpPr>
            <a:spLocks xmlns:a="http://schemas.openxmlformats.org/drawingml/2006/main" noGrp="1"/>
          </p:cNvSpPr>
          <p:nvPr/>
        </p:nvSpPr>
        <p:spPr>
          <a:xfrm xmlns:a="http://schemas.openxmlformats.org/drawingml/2006/main">
            <a:off x="8961211" y="5015484"/>
            <a:ext cx="777240" cy="2011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50" b="0">
                <a:solidFill>
                  <a:srgbClr val="152C3C"/>
                </a:solidFill>
                <a:latin typeface="Verdana"/>
                <a:ea typeface="Verdana"/>
                <a:cs typeface="Verdana"/>
              </a:defRPr>
            </a:pPr>
            <a:r>
              <a:t>93,54</a:t>
            </a:r>
          </a:p>
        </p:txBody>
      </p:sp>
      <p:sp>
        <p:nvSpPr>
          <p:cNvPr id="32" name="Rectangle 31">
            <a:extLst xmlns:a="http://schemas.openxmlformats.org/drawingml/2006/main">
              <a:ext uri="{FF2B5EF4-FFF2-40B4-BE49-F238E27FC236}">
                <a16:creationId xmlns:a16="http://schemas.microsoft.com/office/drawing/2014/main" id="{1E7AD299-AF95-435F-9561-D74FD9677148}"/>
              </a:ext>
            </a:extLst>
          </p:cNvPr>
          <p:cNvSpPr>
            <a:spLocks xmlns:a="http://schemas.openxmlformats.org/drawingml/2006/main" noGrp="1"/>
          </p:cNvSpPr>
          <p:nvPr/>
        </p:nvSpPr>
        <p:spPr>
          <a:xfrm xmlns:a="http://schemas.openxmlformats.org/drawingml/2006/main">
            <a:off x="603504" y="5715000"/>
            <a:ext cx="10972800" cy="521207"/>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Rectangle 32">
            <a:extLst xmlns:a="http://schemas.openxmlformats.org/drawingml/2006/main">
              <a:ext uri="{FF2B5EF4-FFF2-40B4-BE49-F238E27FC236}">
                <a16:creationId xmlns:a16="http://schemas.microsoft.com/office/drawing/2014/main" id="{B45E9462-A856-4B7C-90DD-1EBF9799BF37}"/>
              </a:ext>
            </a:extLst>
          </p:cNvPr>
          <p:cNvSpPr>
            <a:spLocks xmlns:a="http://schemas.openxmlformats.org/drawingml/2006/main" noGrp="1"/>
          </p:cNvSpPr>
          <p:nvPr/>
        </p:nvSpPr>
        <p:spPr>
          <a:xfrm xmlns:a="http://schemas.openxmlformats.org/drawingml/2006/main">
            <a:off x="603504" y="5715000"/>
            <a:ext cx="32004" cy="521207"/>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E77DF650-24FF-4514-95B4-EB7C29BA29CB}"/>
              </a:ext>
            </a:extLst>
          </p:cNvPr>
          <p:cNvSpPr>
            <a:spLocks xmlns:a="http://schemas.openxmlformats.org/drawingml/2006/main" noGrp="1"/>
          </p:cNvSpPr>
          <p:nvPr/>
        </p:nvSpPr>
        <p:spPr>
          <a:xfrm xmlns:a="http://schemas.openxmlformats.org/drawingml/2006/main">
            <a:off x="758952" y="5833872"/>
            <a:ext cx="10652760" cy="3383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250" b="0">
                <a:solidFill>
                  <a:srgbClr val="086F69"/>
                </a:solidFill>
                <a:latin typeface="Verdana"/>
                <a:ea typeface="Verdana"/>
                <a:cs typeface="Verdana"/>
              </a:defRPr>
            </a:pPr>
            <a:r>
              <a:t>Hybrid RRF: p50 65,44 ms — khoảng 2,53 lần BM25 (25,86 ms).</a:t>
            </a:r>
          </a:p>
        </p:txBody>
      </p:sp>
      <p:sp>
        <p:nvSpPr>
          <p:cNvPr id="35" name="TextBox 34">
            <a:extLst xmlns:a="http://schemas.openxmlformats.org/drawingml/2006/main">
              <a:ext uri="{FF2B5EF4-FFF2-40B4-BE49-F238E27FC236}">
                <a16:creationId xmlns:a16="http://schemas.microsoft.com/office/drawing/2014/main" id="{F20F7751-0A31-47BB-B3FB-DCEEF6077C09}"/>
              </a:ext>
            </a:extLst>
          </p:cNvPr>
          <p:cNvSpPr>
            <a:spLocks xmlns:a="http://schemas.openxmlformats.org/drawingml/2006/main" noGrp="1"/>
          </p:cNvSpPr>
          <p:nvPr/>
        </p:nvSpPr>
        <p:spPr>
          <a:xfrm xmlns:a="http://schemas.openxmlformats.org/drawingml/2006/main">
            <a:off x="603504" y="6473952"/>
            <a:ext cx="9875520"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950" b="0">
                <a:solidFill>
                  <a:srgbClr val="536774"/>
                </a:solidFill>
                <a:latin typeface="Verdana"/>
                <a:ea typeface="Verdana"/>
                <a:cs typeface="Verdana"/>
              </a:defRPr>
            </a:pPr>
            <a:r>
              <a:t>Nguồn: báo cáo Nhóm 4 · PDF tr. 5–6</a:t>
            </a:r>
          </a:p>
        </p:txBody>
      </p:sp>
      <p:sp>
        <p:nvSpPr>
          <p:cNvPr id="36" name="TextBox 35">
            <a:extLst xmlns:a="http://schemas.openxmlformats.org/drawingml/2006/main">
              <a:ext uri="{FF2B5EF4-FFF2-40B4-BE49-F238E27FC236}">
                <a16:creationId xmlns:a16="http://schemas.microsoft.com/office/drawing/2014/main" id="{D419E557-60EC-4DDA-AF53-1925D31211EB}"/>
              </a:ext>
            </a:extLst>
          </p:cNvPr>
          <p:cNvSpPr>
            <a:spLocks xmlns:a="http://schemas.openxmlformats.org/drawingml/2006/main" noGrp="1"/>
          </p:cNvSpPr>
          <p:nvPr/>
        </p:nvSpPr>
        <p:spPr>
          <a:xfrm xmlns:a="http://schemas.openxmlformats.org/drawingml/2006/main">
            <a:off x="10698480" y="6473952"/>
            <a:ext cx="886968"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r">
              <a:lnSpc>
                <a:spcPct val="120000"/>
              </a:lnSpc>
              <a:spcBef>
                <a:spcPts val="0"/>
              </a:spcBef>
              <a:spcAft>
                <a:spcPts val="500"/>
              </a:spcAft>
              <a:buNone/>
              <a:defRPr sz="950" b="0">
                <a:solidFill>
                  <a:srgbClr val="152C3C"/>
                </a:solidFill>
                <a:latin typeface="Verdana"/>
                <a:ea typeface="Verdana"/>
                <a:cs typeface="Verdana"/>
              </a:defRPr>
            </a:pPr>
            <a:r>
              <a:t>08 / 12</a:t>
            </a:r>
          </a:p>
        </p:txBody>
      </p:sp>
    </p:spTree>
    <p:extLst>
      <p:ext uri="{BB962C8B-B14F-4D97-AF65-F5344CB8AC3E}">
        <p14:creationId xmlns:p14="http://schemas.microsoft.com/office/powerpoint/2010/main" val="715280084"/>
      </p:ext>
    </p:extLst>
  </p:cSld>
</p:sld>
</file>

<file path=ppt/slides/slide9.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FCFAA11-778E-4825-BA31-28BBB77E0943}"/>
              </a:ext>
            </a:extLst>
          </p:cNvPr>
          <p:cNvSpPr>
            <a:spLocks xmlns:a="http://schemas.openxmlformats.org/drawingml/2006/main" noGrp="1"/>
          </p:cNvSpPr>
          <p:nvPr/>
        </p:nvSpPr>
        <p:spPr>
          <a:xfrm xmlns:a="http://schemas.openxmlformats.org/drawingml/2006/main">
            <a:off x="603504" y="384048"/>
            <a:ext cx="10972800" cy="2468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50" b="1">
                <a:solidFill>
                  <a:srgbClr val="086F69"/>
                </a:solidFill>
                <a:latin typeface="Verdana"/>
                <a:ea typeface="Verdana"/>
                <a:cs typeface="Verdana"/>
              </a:defRPr>
            </a:pPr>
            <a:r>
              <a:t>05 / DENSE VÀ HYBRID RRF</a:t>
            </a:r>
          </a:p>
        </p:txBody>
      </p:sp>
      <p:sp>
        <p:nvSpPr>
          <p:cNvPr id="3" name="Rectangle 2">
            <a:extLst xmlns:a="http://schemas.openxmlformats.org/drawingml/2006/main">
              <a:ext uri="{FF2B5EF4-FFF2-40B4-BE49-F238E27FC236}">
                <a16:creationId xmlns:a16="http://schemas.microsoft.com/office/drawing/2014/main" id="{15015DC6-9B2D-4840-9A01-C49409FB6F67}"/>
              </a:ext>
            </a:extLst>
          </p:cNvPr>
          <p:cNvSpPr>
            <a:spLocks xmlns:a="http://schemas.openxmlformats.org/drawingml/2006/main" noGrp="1"/>
          </p:cNvSpPr>
          <p:nvPr/>
        </p:nvSpPr>
        <p:spPr>
          <a:xfrm xmlns:a="http://schemas.openxmlformats.org/drawingml/2006/main">
            <a:off x="603504" y="813816"/>
            <a:ext cx="10972800" cy="12801"/>
          </a:xfrm>
          <a:prstGeom xmlns:a="http://schemas.openxmlformats.org/drawingml/2006/main" prst="rect">
            <a:avLst/>
          </a:prstGeom>
          <a:solidFill xmlns:a="http://schemas.openxmlformats.org/drawingml/2006/main">
            <a:srgbClr val="D7DF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7C74D4A5-5DD2-4F10-97A3-AC7B7F74B766}"/>
              </a:ext>
            </a:extLst>
          </p:cNvPr>
          <p:cNvSpPr>
            <a:spLocks xmlns:a="http://schemas.openxmlformats.org/drawingml/2006/main" noGrp="1"/>
          </p:cNvSpPr>
          <p:nvPr/>
        </p:nvSpPr>
        <p:spPr>
          <a:xfrm xmlns:a="http://schemas.openxmlformats.org/drawingml/2006/main">
            <a:off x="603504" y="1005840"/>
            <a:ext cx="10972800" cy="9692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3200" b="1">
                <a:solidFill>
                  <a:srgbClr val="152C3C"/>
                </a:solidFill>
                <a:latin typeface="Georgia"/>
                <a:ea typeface="Georgia"/>
                <a:cs typeface="Georgia"/>
              </a:defRPr>
            </a:pPr>
            <a:r>
              <a:t>Dense và Hybrid RRF còn yếu</a:t>
            </a:r>
          </a:p>
        </p:txBody>
      </p:sp>
      <p:sp>
        <p:nvSpPr>
          <p:cNvPr id="5" name="TextBox 4">
            <a:extLst xmlns:a="http://schemas.openxmlformats.org/drawingml/2006/main">
              <a:ext uri="{FF2B5EF4-FFF2-40B4-BE49-F238E27FC236}">
                <a16:creationId xmlns:a16="http://schemas.microsoft.com/office/drawing/2014/main" id="{F7B851D9-EB1F-4BFC-9F6B-30CC37087B58}"/>
              </a:ext>
            </a:extLst>
          </p:cNvPr>
          <p:cNvSpPr>
            <a:spLocks xmlns:a="http://schemas.openxmlformats.org/drawingml/2006/main" noGrp="1"/>
          </p:cNvSpPr>
          <p:nvPr/>
        </p:nvSpPr>
        <p:spPr>
          <a:xfrm xmlns:a="http://schemas.openxmlformats.org/drawingml/2006/main">
            <a:off x="603504" y="1874519"/>
            <a:ext cx="10972800" cy="4297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0">
                <a:solidFill>
                  <a:srgbClr val="536774"/>
                </a:solidFill>
                <a:latin typeface="Verdana"/>
                <a:ea typeface="Verdana"/>
                <a:cs typeface="Verdana"/>
              </a:defRPr>
            </a:pPr>
            <a:r>
              <a:t>Dense text và text → image đều Recall@10 = 0,0125; BM25 tương ứng 37/80.</a:t>
            </a:r>
          </a:p>
        </p:txBody>
      </p:sp>
      <p:sp>
        <p:nvSpPr>
          <p:cNvPr id="6" name="Rectangle 5">
            <a:extLst xmlns:a="http://schemas.openxmlformats.org/drawingml/2006/main">
              <a:ext uri="{FF2B5EF4-FFF2-40B4-BE49-F238E27FC236}">
                <a16:creationId xmlns:a16="http://schemas.microsoft.com/office/drawing/2014/main" id="{3CC5EA92-5700-46DA-A9E6-7701D66D653A}"/>
              </a:ext>
            </a:extLst>
          </p:cNvPr>
          <p:cNvSpPr>
            <a:spLocks xmlns:a="http://schemas.openxmlformats.org/drawingml/2006/main" noGrp="1"/>
          </p:cNvSpPr>
          <p:nvPr/>
        </p:nvSpPr>
        <p:spPr>
          <a:xfrm xmlns:a="http://schemas.openxmlformats.org/drawingml/2006/main">
            <a:off x="603504" y="2542032"/>
            <a:ext cx="5394959" cy="1298448"/>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0E56C2FA-3528-443C-8CBB-A7351BB4737F}"/>
              </a:ext>
            </a:extLst>
          </p:cNvPr>
          <p:cNvSpPr>
            <a:spLocks xmlns:a="http://schemas.openxmlformats.org/drawingml/2006/main" noGrp="1"/>
          </p:cNvSpPr>
          <p:nvPr/>
        </p:nvSpPr>
        <p:spPr>
          <a:xfrm xmlns:a="http://schemas.openxmlformats.org/drawingml/2006/main">
            <a:off x="603504" y="2542032"/>
            <a:ext cx="5394959" cy="32004"/>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7CEC6B98-15D2-4BAF-B299-C34FCC07819F}"/>
              </a:ext>
            </a:extLst>
          </p:cNvPr>
          <p:cNvSpPr>
            <a:spLocks xmlns:a="http://schemas.openxmlformats.org/drawingml/2006/main" noGrp="1"/>
          </p:cNvSpPr>
          <p:nvPr/>
        </p:nvSpPr>
        <p:spPr>
          <a:xfrm xmlns:a="http://schemas.openxmlformats.org/drawingml/2006/main">
            <a:off x="804672" y="2679191"/>
            <a:ext cx="4992623" cy="3200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700" b="1">
                <a:solidFill>
                  <a:srgbClr val="152C3C"/>
                </a:solidFill>
                <a:latin typeface="Verdana"/>
                <a:ea typeface="Verdana"/>
                <a:cs typeface="Verdana"/>
              </a:defRPr>
            </a:pPr>
            <a:r>
              <a:t>Encoder / domain</a:t>
            </a:r>
          </a:p>
        </p:txBody>
      </p:sp>
      <p:sp>
        <p:nvSpPr>
          <p:cNvPr id="9" name="TextBox 8">
            <a:extLst xmlns:a="http://schemas.openxmlformats.org/drawingml/2006/main">
              <a:ext uri="{FF2B5EF4-FFF2-40B4-BE49-F238E27FC236}">
                <a16:creationId xmlns:a16="http://schemas.microsoft.com/office/drawing/2014/main" id="{91F96E24-9132-4A94-A8E9-8DCE7B0BF31B}"/>
              </a:ext>
            </a:extLst>
          </p:cNvPr>
          <p:cNvSpPr>
            <a:spLocks xmlns:a="http://schemas.openxmlformats.org/drawingml/2006/main" noGrp="1"/>
          </p:cNvSpPr>
          <p:nvPr/>
        </p:nvSpPr>
        <p:spPr>
          <a:xfrm xmlns:a="http://schemas.openxmlformats.org/drawingml/2006/main">
            <a:off x="804672" y="3081527"/>
            <a:ext cx="4992623" cy="6583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12000"/>
              </a:lnSpc>
              <a:spcBef>
                <a:spcPts val="0"/>
              </a:spcBef>
              <a:spcAft>
                <a:spcPts val="0"/>
              </a:spcAft>
              <a:buNone/>
              <a:defRPr sz="1400" b="0">
                <a:solidFill>
                  <a:srgbClr val="536774"/>
                </a:solidFill>
                <a:latin typeface="Verdana"/>
                <a:ea typeface="Verdana"/>
                <a:cs typeface="Verdana"/>
              </a:defRPr>
            </a:pPr>
            <a:r>
              <a:t>SigLIP2 chưa fine-tune riêng</a:t>
            </a:r>
          </a:p>
          <a:p xmlns:a="http://schemas.openxmlformats.org/drawingml/2006/main">
            <a:pPr>
              <a:lnSpc>
                <a:spcPct val="112000"/>
              </a:lnSpc>
              <a:spcBef>
                <a:spcPts val="0"/>
              </a:spcBef>
              <a:spcAft>
                <a:spcPts val="0"/>
              </a:spcAft>
              <a:buNone/>
              <a:defRPr sz="1400" b="0">
                <a:solidFill>
                  <a:srgbClr val="536774"/>
                </a:solidFill>
                <a:latin typeface="Verdana"/>
                <a:ea typeface="Verdana"/>
                <a:cs typeface="Verdana"/>
              </a:defRPr>
            </a:pPr>
            <a:r>
              <a:t>cho product retrieval trên ABO.</a:t>
            </a:r>
          </a:p>
        </p:txBody>
      </p:sp>
      <p:sp>
        <p:nvSpPr>
          <p:cNvPr id="10" name="Rectangle 9">
            <a:extLst xmlns:a="http://schemas.openxmlformats.org/drawingml/2006/main">
              <a:ext uri="{FF2B5EF4-FFF2-40B4-BE49-F238E27FC236}">
                <a16:creationId xmlns:a16="http://schemas.microsoft.com/office/drawing/2014/main" id="{83106E34-36B8-479C-8FEA-A0054644D585}"/>
              </a:ext>
            </a:extLst>
          </p:cNvPr>
          <p:cNvSpPr>
            <a:spLocks xmlns:a="http://schemas.openxmlformats.org/drawingml/2006/main" noGrp="1"/>
          </p:cNvSpPr>
          <p:nvPr/>
        </p:nvSpPr>
        <p:spPr>
          <a:xfrm xmlns:a="http://schemas.openxmlformats.org/drawingml/2006/main">
            <a:off x="6181344" y="2542032"/>
            <a:ext cx="5394959" cy="1298448"/>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5D31D606-31A1-4AA0-891D-C9F1F684D2BF}"/>
              </a:ext>
            </a:extLst>
          </p:cNvPr>
          <p:cNvSpPr>
            <a:spLocks xmlns:a="http://schemas.openxmlformats.org/drawingml/2006/main" noGrp="1"/>
          </p:cNvSpPr>
          <p:nvPr/>
        </p:nvSpPr>
        <p:spPr>
          <a:xfrm xmlns:a="http://schemas.openxmlformats.org/drawingml/2006/main">
            <a:off x="6181344" y="2542032"/>
            <a:ext cx="5394959" cy="32004"/>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38253DFB-B78A-4FC8-A3F7-A78EE9499448}"/>
              </a:ext>
            </a:extLst>
          </p:cNvPr>
          <p:cNvSpPr>
            <a:spLocks xmlns:a="http://schemas.openxmlformats.org/drawingml/2006/main" noGrp="1"/>
          </p:cNvSpPr>
          <p:nvPr/>
        </p:nvSpPr>
        <p:spPr>
          <a:xfrm xmlns:a="http://schemas.openxmlformats.org/drawingml/2006/main">
            <a:off x="6382512" y="2679191"/>
            <a:ext cx="4992623" cy="3200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700" b="1">
                <a:solidFill>
                  <a:srgbClr val="152C3C"/>
                </a:solidFill>
                <a:latin typeface="Verdana"/>
                <a:ea typeface="Verdana"/>
                <a:cs typeface="Verdana"/>
              </a:defRPr>
            </a:pPr>
            <a:r>
              <a:t>Representation</a:t>
            </a:r>
          </a:p>
        </p:txBody>
      </p:sp>
      <p:sp>
        <p:nvSpPr>
          <p:cNvPr id="13" name="TextBox 12">
            <a:extLst xmlns:a="http://schemas.openxmlformats.org/drawingml/2006/main">
              <a:ext uri="{FF2B5EF4-FFF2-40B4-BE49-F238E27FC236}">
                <a16:creationId xmlns:a16="http://schemas.microsoft.com/office/drawing/2014/main" id="{49E8A04A-6FF7-4669-BCA8-0ECEC9AB1D19}"/>
              </a:ext>
            </a:extLst>
          </p:cNvPr>
          <p:cNvSpPr>
            <a:spLocks xmlns:a="http://schemas.openxmlformats.org/drawingml/2006/main" noGrp="1"/>
          </p:cNvSpPr>
          <p:nvPr/>
        </p:nvSpPr>
        <p:spPr>
          <a:xfrm xmlns:a="http://schemas.openxmlformats.org/drawingml/2006/main">
            <a:off x="6382512" y="3081527"/>
            <a:ext cx="4992623" cy="6583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12000"/>
              </a:lnSpc>
              <a:spcBef>
                <a:spcPts val="0"/>
              </a:spcBef>
              <a:spcAft>
                <a:spcPts val="0"/>
              </a:spcAft>
              <a:buNone/>
              <a:defRPr sz="1400" b="0">
                <a:solidFill>
                  <a:srgbClr val="536774"/>
                </a:solidFill>
                <a:latin typeface="Verdana"/>
                <a:ea typeface="Verdana"/>
                <a:cs typeface="Verdana"/>
              </a:defRPr>
            </a:pPr>
            <a:r>
              <a:t>search_text dài so với query ngắn</a:t>
            </a:r>
          </a:p>
          <a:p xmlns:a="http://schemas.openxmlformats.org/drawingml/2006/main">
            <a:pPr>
              <a:lnSpc>
                <a:spcPct val="112000"/>
              </a:lnSpc>
              <a:spcBef>
                <a:spcPts val="0"/>
              </a:spcBef>
              <a:spcAft>
                <a:spcPts val="0"/>
              </a:spcAft>
              <a:buNone/>
              <a:defRPr sz="1400" b="0">
                <a:solidFill>
                  <a:srgbClr val="536774"/>
                </a:solidFill>
                <a:latin typeface="Verdana"/>
                <a:ea typeface="Verdana"/>
                <a:cs typeface="Verdana"/>
              </a:defRPr>
            </a:pPr>
            <a:r>
              <a:t>có thể làm loãng tín hiệu.</a:t>
            </a:r>
          </a:p>
        </p:txBody>
      </p:sp>
      <p:sp>
        <p:nvSpPr>
          <p:cNvPr id="14" name="Rectangle 13">
            <a:extLst xmlns:a="http://schemas.openxmlformats.org/drawingml/2006/main">
              <a:ext uri="{FF2B5EF4-FFF2-40B4-BE49-F238E27FC236}">
                <a16:creationId xmlns:a16="http://schemas.microsoft.com/office/drawing/2014/main" id="{6A74E8C5-D500-4371-9662-2DA8F5F7346B}"/>
              </a:ext>
            </a:extLst>
          </p:cNvPr>
          <p:cNvSpPr>
            <a:spLocks xmlns:a="http://schemas.openxmlformats.org/drawingml/2006/main" noGrp="1"/>
          </p:cNvSpPr>
          <p:nvPr/>
        </p:nvSpPr>
        <p:spPr>
          <a:xfrm xmlns:a="http://schemas.openxmlformats.org/drawingml/2006/main">
            <a:off x="603504" y="4023359"/>
            <a:ext cx="5394959" cy="1298448"/>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Rectangle 14">
            <a:extLst xmlns:a="http://schemas.openxmlformats.org/drawingml/2006/main">
              <a:ext uri="{FF2B5EF4-FFF2-40B4-BE49-F238E27FC236}">
                <a16:creationId xmlns:a16="http://schemas.microsoft.com/office/drawing/2014/main" id="{64BD2ACA-A6C7-4754-8E88-09C98D35C24D}"/>
              </a:ext>
            </a:extLst>
          </p:cNvPr>
          <p:cNvSpPr>
            <a:spLocks xmlns:a="http://schemas.openxmlformats.org/drawingml/2006/main" noGrp="1"/>
          </p:cNvSpPr>
          <p:nvPr/>
        </p:nvSpPr>
        <p:spPr>
          <a:xfrm xmlns:a="http://schemas.openxmlformats.org/drawingml/2006/main">
            <a:off x="603504" y="4023359"/>
            <a:ext cx="5394959" cy="32004"/>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FDFDBF94-D6AF-4993-8482-43AFA7D559BF}"/>
              </a:ext>
            </a:extLst>
          </p:cNvPr>
          <p:cNvSpPr>
            <a:spLocks xmlns:a="http://schemas.openxmlformats.org/drawingml/2006/main" noGrp="1"/>
          </p:cNvSpPr>
          <p:nvPr/>
        </p:nvSpPr>
        <p:spPr>
          <a:xfrm xmlns:a="http://schemas.openxmlformats.org/drawingml/2006/main">
            <a:off x="804672" y="4160520"/>
            <a:ext cx="4992623" cy="3200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700" b="1">
                <a:solidFill>
                  <a:srgbClr val="152C3C"/>
                </a:solidFill>
                <a:latin typeface="Verdana"/>
                <a:ea typeface="Verdana"/>
                <a:cs typeface="Verdana"/>
              </a:defRPr>
            </a:pPr>
            <a:r>
              <a:t>Tính nhất quán</a:t>
            </a:r>
          </a:p>
        </p:txBody>
      </p:sp>
      <p:sp>
        <p:nvSpPr>
          <p:cNvPr id="17" name="TextBox 16">
            <a:extLst xmlns:a="http://schemas.openxmlformats.org/drawingml/2006/main">
              <a:ext uri="{FF2B5EF4-FFF2-40B4-BE49-F238E27FC236}">
                <a16:creationId xmlns:a16="http://schemas.microsoft.com/office/drawing/2014/main" id="{C534B2B0-A81E-40B4-9CDC-F782B2247165}"/>
              </a:ext>
            </a:extLst>
          </p:cNvPr>
          <p:cNvSpPr>
            <a:spLocks xmlns:a="http://schemas.openxmlformats.org/drawingml/2006/main" noGrp="1"/>
          </p:cNvSpPr>
          <p:nvPr/>
        </p:nvSpPr>
        <p:spPr>
          <a:xfrm xmlns:a="http://schemas.openxmlformats.org/drawingml/2006/main">
            <a:off x="804672" y="4562855"/>
            <a:ext cx="4992623" cy="6583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12000"/>
              </a:lnSpc>
              <a:spcBef>
                <a:spcPts val="0"/>
              </a:spcBef>
              <a:spcAft>
                <a:spcPts val="0"/>
              </a:spcAft>
              <a:buNone/>
              <a:defRPr sz="1400" b="0">
                <a:solidFill>
                  <a:srgbClr val="536774"/>
                </a:solidFill>
                <a:latin typeface="Verdana"/>
                <a:ea typeface="Verdana"/>
                <a:cs typeface="Verdana"/>
              </a:defRPr>
            </a:pPr>
            <a:r>
              <a:t>Chưa pin model_revision; kiểm tra</a:t>
            </a:r>
          </a:p>
          <a:p xmlns:a="http://schemas.openxmlformats.org/drawingml/2006/main">
            <a:pPr>
              <a:lnSpc>
                <a:spcPct val="112000"/>
              </a:lnSpc>
              <a:spcBef>
                <a:spcPts val="0"/>
              </a:spcBef>
              <a:spcAft>
                <a:spcPts val="0"/>
              </a:spcAft>
              <a:buNone/>
              <a:defRPr sz="1400" b="0">
                <a:solidFill>
                  <a:srgbClr val="536774"/>
                </a:solidFill>
                <a:latin typeface="Verdana"/>
                <a:ea typeface="Verdana"/>
                <a:cs typeface="Verdana"/>
              </a:defRPr>
            </a:pPr>
            <a:r>
              <a:t>padding và encode đơn lẻ/batch.</a:t>
            </a:r>
          </a:p>
        </p:txBody>
      </p:sp>
      <p:sp>
        <p:nvSpPr>
          <p:cNvPr id="18" name="Rectangle 17">
            <a:extLst xmlns:a="http://schemas.openxmlformats.org/drawingml/2006/main">
              <a:ext uri="{FF2B5EF4-FFF2-40B4-BE49-F238E27FC236}">
                <a16:creationId xmlns:a16="http://schemas.microsoft.com/office/drawing/2014/main" id="{7E2DD45F-AA53-4DA0-B24F-DC2CEE5C9A63}"/>
              </a:ext>
            </a:extLst>
          </p:cNvPr>
          <p:cNvSpPr>
            <a:spLocks xmlns:a="http://schemas.openxmlformats.org/drawingml/2006/main" noGrp="1"/>
          </p:cNvSpPr>
          <p:nvPr/>
        </p:nvSpPr>
        <p:spPr>
          <a:xfrm xmlns:a="http://schemas.openxmlformats.org/drawingml/2006/main">
            <a:off x="6181344" y="4023359"/>
            <a:ext cx="5394959" cy="1298448"/>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Rectangle 18">
            <a:extLst xmlns:a="http://schemas.openxmlformats.org/drawingml/2006/main">
              <a:ext uri="{FF2B5EF4-FFF2-40B4-BE49-F238E27FC236}">
                <a16:creationId xmlns:a16="http://schemas.microsoft.com/office/drawing/2014/main" id="{7FA8C99D-7721-4C0C-B315-EEF3DD9C26F9}"/>
              </a:ext>
            </a:extLst>
          </p:cNvPr>
          <p:cNvSpPr>
            <a:spLocks xmlns:a="http://schemas.openxmlformats.org/drawingml/2006/main" noGrp="1"/>
          </p:cNvSpPr>
          <p:nvPr/>
        </p:nvSpPr>
        <p:spPr>
          <a:xfrm xmlns:a="http://schemas.openxmlformats.org/drawingml/2006/main">
            <a:off x="6181344" y="4023359"/>
            <a:ext cx="5394959" cy="32004"/>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3180430C-F7C2-4455-9B0C-D0B6C90D5773}"/>
              </a:ext>
            </a:extLst>
          </p:cNvPr>
          <p:cNvSpPr>
            <a:spLocks xmlns:a="http://schemas.openxmlformats.org/drawingml/2006/main" noGrp="1"/>
          </p:cNvSpPr>
          <p:nvPr/>
        </p:nvSpPr>
        <p:spPr>
          <a:xfrm xmlns:a="http://schemas.openxmlformats.org/drawingml/2006/main">
            <a:off x="6382512" y="4160520"/>
            <a:ext cx="4992623" cy="3200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700" b="1">
                <a:solidFill>
                  <a:srgbClr val="152C3C"/>
                </a:solidFill>
                <a:latin typeface="Verdana"/>
                <a:ea typeface="Verdana"/>
                <a:cs typeface="Verdana"/>
              </a:defRPr>
            </a:pPr>
            <a:r>
              <a:t>Qrels</a:t>
            </a:r>
          </a:p>
        </p:txBody>
      </p:sp>
      <p:sp>
        <p:nvSpPr>
          <p:cNvPr id="21" name="TextBox 20">
            <a:extLst xmlns:a="http://schemas.openxmlformats.org/drawingml/2006/main">
              <a:ext uri="{FF2B5EF4-FFF2-40B4-BE49-F238E27FC236}">
                <a16:creationId xmlns:a16="http://schemas.microsoft.com/office/drawing/2014/main" id="{58783222-292A-4B87-A97D-E7AD5757CD99}"/>
              </a:ext>
            </a:extLst>
          </p:cNvPr>
          <p:cNvSpPr>
            <a:spLocks xmlns:a="http://schemas.openxmlformats.org/drawingml/2006/main" noGrp="1"/>
          </p:cNvSpPr>
          <p:nvPr/>
        </p:nvSpPr>
        <p:spPr>
          <a:xfrm xmlns:a="http://schemas.openxmlformats.org/drawingml/2006/main">
            <a:off x="6382512" y="4562855"/>
            <a:ext cx="4992623" cy="6583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12000"/>
              </a:lnSpc>
              <a:spcBef>
                <a:spcPts val="0"/>
              </a:spcBef>
              <a:spcAft>
                <a:spcPts val="0"/>
              </a:spcAft>
              <a:buNone/>
              <a:defRPr sz="1400" b="0">
                <a:solidFill>
                  <a:srgbClr val="536774"/>
                </a:solidFill>
                <a:latin typeface="Verdana"/>
                <a:ea typeface="Verdana"/>
                <a:cs typeface="Verdana"/>
              </a:defRPr>
            </a:pPr>
            <a:r>
              <a:t>Một positive/query; semantic neighbor</a:t>
            </a:r>
          </a:p>
          <a:p xmlns:a="http://schemas.openxmlformats.org/drawingml/2006/main">
            <a:pPr>
              <a:lnSpc>
                <a:spcPct val="112000"/>
              </a:lnSpc>
              <a:spcBef>
                <a:spcPts val="0"/>
              </a:spcBef>
              <a:spcAft>
                <a:spcPts val="0"/>
              </a:spcAft>
              <a:buNone/>
              <a:defRPr sz="1400" b="0">
                <a:solidFill>
                  <a:srgbClr val="536774"/>
                </a:solidFill>
                <a:latin typeface="Verdana"/>
                <a:ea typeface="Verdana"/>
                <a:cs typeface="Verdana"/>
              </a:defRPr>
            </a:pPr>
            <a:r>
              <a:t>hợp lý vẫn có thể không được chấm.</a:t>
            </a:r>
          </a:p>
        </p:txBody>
      </p:sp>
      <p:sp>
        <p:nvSpPr>
          <p:cNvPr id="22" name="Rectangle 21">
            <a:extLst xmlns:a="http://schemas.openxmlformats.org/drawingml/2006/main">
              <a:ext uri="{FF2B5EF4-FFF2-40B4-BE49-F238E27FC236}">
                <a16:creationId xmlns:a16="http://schemas.microsoft.com/office/drawing/2014/main" id="{392F2E27-67CC-4500-9A76-3A704034DF87}"/>
              </a:ext>
            </a:extLst>
          </p:cNvPr>
          <p:cNvSpPr>
            <a:spLocks xmlns:a="http://schemas.openxmlformats.org/drawingml/2006/main" noGrp="1"/>
          </p:cNvSpPr>
          <p:nvPr/>
        </p:nvSpPr>
        <p:spPr>
          <a:xfrm xmlns:a="http://schemas.openxmlformats.org/drawingml/2006/main">
            <a:off x="603504" y="5715000"/>
            <a:ext cx="10972800" cy="521207"/>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Rectangle 22">
            <a:extLst xmlns:a="http://schemas.openxmlformats.org/drawingml/2006/main">
              <a:ext uri="{FF2B5EF4-FFF2-40B4-BE49-F238E27FC236}">
                <a16:creationId xmlns:a16="http://schemas.microsoft.com/office/drawing/2014/main" id="{71F24353-9ED2-4C53-9FC8-AB640B396068}"/>
              </a:ext>
            </a:extLst>
          </p:cNvPr>
          <p:cNvSpPr>
            <a:spLocks xmlns:a="http://schemas.openxmlformats.org/drawingml/2006/main" noGrp="1"/>
          </p:cNvSpPr>
          <p:nvPr/>
        </p:nvSpPr>
        <p:spPr>
          <a:xfrm xmlns:a="http://schemas.openxmlformats.org/drawingml/2006/main">
            <a:off x="603504" y="5715000"/>
            <a:ext cx="32004" cy="521207"/>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EB5422E8-C14C-47DB-9C34-5659313E659A}"/>
              </a:ext>
            </a:extLst>
          </p:cNvPr>
          <p:cNvSpPr>
            <a:spLocks xmlns:a="http://schemas.openxmlformats.org/drawingml/2006/main" noGrp="1"/>
          </p:cNvSpPr>
          <p:nvPr/>
        </p:nvSpPr>
        <p:spPr>
          <a:xfrm xmlns:a="http://schemas.openxmlformats.org/drawingml/2006/main">
            <a:off x="758952" y="5833872"/>
            <a:ext cx="10652760" cy="3383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250" b="0">
                <a:solidFill>
                  <a:srgbClr val="086F69"/>
                </a:solidFill>
                <a:latin typeface="Verdana"/>
                <a:ea typeface="Verdana"/>
                <a:cs typeface="Verdana"/>
              </a:defRPr>
            </a:pPr>
            <a:r>
              <a:t>RRF giảm Recall 29,7% so với BM25. Các nguyên nhân dense yếu cần ablation để xác nhận.</a:t>
            </a:r>
          </a:p>
        </p:txBody>
      </p:sp>
      <p:sp>
        <p:nvSpPr>
          <p:cNvPr id="25" name="TextBox 24">
            <a:extLst xmlns:a="http://schemas.openxmlformats.org/drawingml/2006/main">
              <a:ext uri="{FF2B5EF4-FFF2-40B4-BE49-F238E27FC236}">
                <a16:creationId xmlns:a16="http://schemas.microsoft.com/office/drawing/2014/main" id="{FF489ADB-176D-4F94-A158-9EE5683FA305}"/>
              </a:ext>
            </a:extLst>
          </p:cNvPr>
          <p:cNvSpPr>
            <a:spLocks xmlns:a="http://schemas.openxmlformats.org/drawingml/2006/main" noGrp="1"/>
          </p:cNvSpPr>
          <p:nvPr/>
        </p:nvSpPr>
        <p:spPr>
          <a:xfrm xmlns:a="http://schemas.openxmlformats.org/drawingml/2006/main">
            <a:off x="603504" y="6473952"/>
            <a:ext cx="9875520"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950" b="0">
                <a:solidFill>
                  <a:srgbClr val="536774"/>
                </a:solidFill>
                <a:latin typeface="Verdana"/>
                <a:ea typeface="Verdana"/>
                <a:cs typeface="Verdana"/>
              </a:defRPr>
            </a:pPr>
            <a:r>
              <a:t>Nguồn: báo cáo Nhóm 4 · PDF tr. 5–7</a:t>
            </a:r>
          </a:p>
        </p:txBody>
      </p:sp>
      <p:sp>
        <p:nvSpPr>
          <p:cNvPr id="26" name="TextBox 25">
            <a:extLst xmlns:a="http://schemas.openxmlformats.org/drawingml/2006/main">
              <a:ext uri="{FF2B5EF4-FFF2-40B4-BE49-F238E27FC236}">
                <a16:creationId xmlns:a16="http://schemas.microsoft.com/office/drawing/2014/main" id="{6AD166AF-7045-4D29-ADAF-E07AB422F11F}"/>
              </a:ext>
            </a:extLst>
          </p:cNvPr>
          <p:cNvSpPr>
            <a:spLocks xmlns:a="http://schemas.openxmlformats.org/drawingml/2006/main" noGrp="1"/>
          </p:cNvSpPr>
          <p:nvPr/>
        </p:nvSpPr>
        <p:spPr>
          <a:xfrm xmlns:a="http://schemas.openxmlformats.org/drawingml/2006/main">
            <a:off x="10698480" y="6473952"/>
            <a:ext cx="886968"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r">
              <a:lnSpc>
                <a:spcPct val="120000"/>
              </a:lnSpc>
              <a:spcBef>
                <a:spcPts val="0"/>
              </a:spcBef>
              <a:spcAft>
                <a:spcPts val="500"/>
              </a:spcAft>
              <a:buNone/>
              <a:defRPr sz="950" b="0">
                <a:solidFill>
                  <a:srgbClr val="152C3C"/>
                </a:solidFill>
                <a:latin typeface="Verdana"/>
                <a:ea typeface="Verdana"/>
                <a:cs typeface="Verdana"/>
              </a:defRPr>
            </a:pPr>
            <a:r>
              <a:t>09 / 12</a:t>
            </a:r>
          </a:p>
        </p:txBody>
      </p:sp>
    </p:spTree>
    <p:extLst>
      <p:ext uri="{BB962C8B-B14F-4D97-AF65-F5344CB8AC3E}">
        <p14:creationId xmlns:p14="http://schemas.microsoft.com/office/powerpoint/2010/main" val="1612948280"/>
      </p:ext>
    </p:extLst>
  </p:cSld>
</p:sld>
</file>

<file path=ppt/slides/slide10.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24C786A-4ACF-4BFF-A64B-CB3A1B7B21BF}"/>
              </a:ext>
            </a:extLst>
          </p:cNvPr>
          <p:cNvSpPr>
            <a:spLocks xmlns:a="http://schemas.openxmlformats.org/drawingml/2006/main" noGrp="1"/>
          </p:cNvSpPr>
          <p:nvPr/>
        </p:nvSpPr>
        <p:spPr>
          <a:xfrm xmlns:a="http://schemas.openxmlformats.org/drawingml/2006/main">
            <a:off x="603504" y="384048"/>
            <a:ext cx="10972800" cy="2468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50" b="1">
                <a:solidFill>
                  <a:srgbClr val="086F69"/>
                </a:solidFill>
                <a:latin typeface="Verdana"/>
                <a:ea typeface="Verdana"/>
                <a:cs typeface="Verdana"/>
              </a:defRPr>
            </a:pPr>
            <a:r>
              <a:t>05 / KẾT QUẢ IMAGE</a:t>
            </a:r>
          </a:p>
        </p:txBody>
      </p:sp>
      <p:sp>
        <p:nvSpPr>
          <p:cNvPr id="3" name="Rectangle 2">
            <a:extLst xmlns:a="http://schemas.openxmlformats.org/drawingml/2006/main">
              <a:ext uri="{FF2B5EF4-FFF2-40B4-BE49-F238E27FC236}">
                <a16:creationId xmlns:a16="http://schemas.microsoft.com/office/drawing/2014/main" id="{ED296A7E-0ACD-4058-A84D-9F1693FFEFEE}"/>
              </a:ext>
            </a:extLst>
          </p:cNvPr>
          <p:cNvSpPr>
            <a:spLocks xmlns:a="http://schemas.openxmlformats.org/drawingml/2006/main" noGrp="1"/>
          </p:cNvSpPr>
          <p:nvPr/>
        </p:nvSpPr>
        <p:spPr>
          <a:xfrm xmlns:a="http://schemas.openxmlformats.org/drawingml/2006/main">
            <a:off x="603504" y="813816"/>
            <a:ext cx="10972800" cy="12801"/>
          </a:xfrm>
          <a:prstGeom xmlns:a="http://schemas.openxmlformats.org/drawingml/2006/main" prst="rect">
            <a:avLst/>
          </a:prstGeom>
          <a:solidFill xmlns:a="http://schemas.openxmlformats.org/drawingml/2006/main">
            <a:srgbClr val="D7DF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54F9A764-9838-4BDE-9F9F-69B4CE84830E}"/>
              </a:ext>
            </a:extLst>
          </p:cNvPr>
          <p:cNvSpPr>
            <a:spLocks xmlns:a="http://schemas.openxmlformats.org/drawingml/2006/main" noGrp="1"/>
          </p:cNvSpPr>
          <p:nvPr/>
        </p:nvSpPr>
        <p:spPr>
          <a:xfrm xmlns:a="http://schemas.openxmlformats.org/drawingml/2006/main">
            <a:off x="603504" y="1005840"/>
            <a:ext cx="10972800" cy="9692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3200" b="1">
                <a:solidFill>
                  <a:srgbClr val="152C3C"/>
                </a:solidFill>
                <a:latin typeface="Georgia"/>
                <a:ea typeface="Georgia"/>
                <a:cs typeface="Georgia"/>
              </a:defRPr>
            </a:pPr>
            <a:r>
              <a:t>1,0 trên ảnh catalog biến đổi nhẹ</a:t>
            </a:r>
          </a:p>
        </p:txBody>
      </p:sp>
      <p:sp>
        <p:nvSpPr>
          <p:cNvPr id="5" name="TextBox 4">
            <a:extLst xmlns:a="http://schemas.openxmlformats.org/drawingml/2006/main">
              <a:ext uri="{FF2B5EF4-FFF2-40B4-BE49-F238E27FC236}">
                <a16:creationId xmlns:a16="http://schemas.microsoft.com/office/drawing/2014/main" id="{156DEDFE-7A69-4655-A015-971DEB5C1150}"/>
              </a:ext>
            </a:extLst>
          </p:cNvPr>
          <p:cNvSpPr>
            <a:spLocks xmlns:a="http://schemas.openxmlformats.org/drawingml/2006/main" noGrp="1"/>
          </p:cNvSpPr>
          <p:nvPr/>
        </p:nvSpPr>
        <p:spPr>
          <a:xfrm xmlns:a="http://schemas.openxmlformats.org/drawingml/2006/main">
            <a:off x="603504" y="1874519"/>
            <a:ext cx="10972800" cy="4297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0">
                <a:solidFill>
                  <a:srgbClr val="536774"/>
                </a:solidFill>
                <a:latin typeface="Verdana"/>
                <a:ea typeface="Verdana"/>
                <a:cs typeface="Verdana"/>
              </a:defRPr>
            </a:pPr>
            <a:r>
              <a:t>Tập riêng: 20 image query · p50 140,82 ms · p95 230,01 ms.</a:t>
            </a:r>
          </a:p>
        </p:txBody>
      </p:sp>
      <p:sp>
        <p:nvSpPr>
          <p:cNvPr id="6" name="Rectangle 5">
            <a:extLst xmlns:a="http://schemas.openxmlformats.org/drawingml/2006/main">
              <a:ext uri="{FF2B5EF4-FFF2-40B4-BE49-F238E27FC236}">
                <a16:creationId xmlns:a16="http://schemas.microsoft.com/office/drawing/2014/main" id="{9F544750-B5CB-409F-8A99-FFF0494362B9}"/>
              </a:ext>
            </a:extLst>
          </p:cNvPr>
          <p:cNvSpPr>
            <a:spLocks xmlns:a="http://schemas.openxmlformats.org/drawingml/2006/main" noGrp="1"/>
          </p:cNvSpPr>
          <p:nvPr/>
        </p:nvSpPr>
        <p:spPr>
          <a:xfrm xmlns:a="http://schemas.openxmlformats.org/drawingml/2006/main">
            <a:off x="603504" y="2606040"/>
            <a:ext cx="3474720" cy="13716"/>
          </a:xfrm>
          <a:prstGeom xmlns:a="http://schemas.openxmlformats.org/drawingml/2006/main" prst="rect">
            <a:avLst/>
          </a:prstGeom>
          <a:solidFill xmlns:a="http://schemas.openxmlformats.org/drawingml/2006/main">
            <a:srgbClr val="D7DF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4D007D4-B25E-4C07-BD8B-37FD0645BB38}"/>
              </a:ext>
            </a:extLst>
          </p:cNvPr>
          <p:cNvSpPr>
            <a:spLocks xmlns:a="http://schemas.openxmlformats.org/drawingml/2006/main" noGrp="1"/>
          </p:cNvSpPr>
          <p:nvPr/>
        </p:nvSpPr>
        <p:spPr>
          <a:xfrm xmlns:a="http://schemas.openxmlformats.org/drawingml/2006/main">
            <a:off x="603504" y="2752344"/>
            <a:ext cx="3474720" cy="685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4400" b="1">
                <a:solidFill>
                  <a:srgbClr val="086F69"/>
                </a:solidFill>
                <a:latin typeface="Georgia"/>
                <a:ea typeface="Georgia"/>
                <a:cs typeface="Georgia"/>
              </a:defRPr>
            </a:pPr>
            <a:r>
              <a:t>1,0000</a:t>
            </a:r>
          </a:p>
        </p:txBody>
      </p:sp>
      <p:sp>
        <p:nvSpPr>
          <p:cNvPr id="8" name="TextBox 7">
            <a:extLst xmlns:a="http://schemas.openxmlformats.org/drawingml/2006/main">
              <a:ext uri="{FF2B5EF4-FFF2-40B4-BE49-F238E27FC236}">
                <a16:creationId xmlns:a16="http://schemas.microsoft.com/office/drawing/2014/main" id="{CDDCAF41-822F-4A33-AB5C-E8BC5CC66C8E}"/>
              </a:ext>
            </a:extLst>
          </p:cNvPr>
          <p:cNvSpPr>
            <a:spLocks xmlns:a="http://schemas.openxmlformats.org/drawingml/2006/main" noGrp="1"/>
          </p:cNvSpPr>
          <p:nvPr/>
        </p:nvSpPr>
        <p:spPr>
          <a:xfrm xmlns:a="http://schemas.openxmlformats.org/drawingml/2006/main">
            <a:off x="603504" y="3511296"/>
            <a:ext cx="3474720"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500" b="0">
                <a:solidFill>
                  <a:srgbClr val="536774"/>
                </a:solidFill>
                <a:latin typeface="Verdana"/>
                <a:ea typeface="Verdana"/>
                <a:cs typeface="Verdana"/>
              </a:defRPr>
            </a:pPr>
            <a:r>
              <a:t>Recall@10</a:t>
            </a:r>
          </a:p>
        </p:txBody>
      </p:sp>
      <p:sp>
        <p:nvSpPr>
          <p:cNvPr id="9" name="Rectangle 8">
            <a:extLst xmlns:a="http://schemas.openxmlformats.org/drawingml/2006/main">
              <a:ext uri="{FF2B5EF4-FFF2-40B4-BE49-F238E27FC236}">
                <a16:creationId xmlns:a16="http://schemas.microsoft.com/office/drawing/2014/main" id="{AA778F88-DA0A-463C-A143-4195BDD5101F}"/>
              </a:ext>
            </a:extLst>
          </p:cNvPr>
          <p:cNvSpPr>
            <a:spLocks xmlns:a="http://schemas.openxmlformats.org/drawingml/2006/main" noGrp="1"/>
          </p:cNvSpPr>
          <p:nvPr/>
        </p:nvSpPr>
        <p:spPr>
          <a:xfrm xmlns:a="http://schemas.openxmlformats.org/drawingml/2006/main">
            <a:off x="4261104" y="2606040"/>
            <a:ext cx="3474720" cy="13716"/>
          </a:xfrm>
          <a:prstGeom xmlns:a="http://schemas.openxmlformats.org/drawingml/2006/main" prst="rect">
            <a:avLst/>
          </a:prstGeom>
          <a:solidFill xmlns:a="http://schemas.openxmlformats.org/drawingml/2006/main">
            <a:srgbClr val="D7DF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64D954D0-89D6-4F49-9F49-5CB28666DEA3}"/>
              </a:ext>
            </a:extLst>
          </p:cNvPr>
          <p:cNvSpPr>
            <a:spLocks xmlns:a="http://schemas.openxmlformats.org/drawingml/2006/main" noGrp="1"/>
          </p:cNvSpPr>
          <p:nvPr/>
        </p:nvSpPr>
        <p:spPr>
          <a:xfrm xmlns:a="http://schemas.openxmlformats.org/drawingml/2006/main">
            <a:off x="4261104" y="2752344"/>
            <a:ext cx="3474720" cy="685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4400" b="1">
                <a:solidFill>
                  <a:srgbClr val="086F69"/>
                </a:solidFill>
                <a:latin typeface="Georgia"/>
                <a:ea typeface="Georgia"/>
                <a:cs typeface="Georgia"/>
              </a:defRPr>
            </a:pPr>
            <a:r>
              <a:t>1,0000</a:t>
            </a:r>
          </a:p>
        </p:txBody>
      </p:sp>
      <p:sp>
        <p:nvSpPr>
          <p:cNvPr id="11" name="TextBox 10">
            <a:extLst xmlns:a="http://schemas.openxmlformats.org/drawingml/2006/main">
              <a:ext uri="{FF2B5EF4-FFF2-40B4-BE49-F238E27FC236}">
                <a16:creationId xmlns:a16="http://schemas.microsoft.com/office/drawing/2014/main" id="{FF3A6E4D-E36B-4FA4-98F8-9E4D26BD2462}"/>
              </a:ext>
            </a:extLst>
          </p:cNvPr>
          <p:cNvSpPr>
            <a:spLocks xmlns:a="http://schemas.openxmlformats.org/drawingml/2006/main" noGrp="1"/>
          </p:cNvSpPr>
          <p:nvPr/>
        </p:nvSpPr>
        <p:spPr>
          <a:xfrm xmlns:a="http://schemas.openxmlformats.org/drawingml/2006/main">
            <a:off x="4261104" y="3511296"/>
            <a:ext cx="3474720"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500" b="0">
                <a:solidFill>
                  <a:srgbClr val="536774"/>
                </a:solidFill>
                <a:latin typeface="Verdana"/>
                <a:ea typeface="Verdana"/>
                <a:cs typeface="Verdana"/>
              </a:defRPr>
            </a:pPr>
            <a:r>
              <a:t>nDCG@10</a:t>
            </a:r>
          </a:p>
        </p:txBody>
      </p:sp>
      <p:sp>
        <p:nvSpPr>
          <p:cNvPr id="12" name="Rectangle 11">
            <a:extLst xmlns:a="http://schemas.openxmlformats.org/drawingml/2006/main">
              <a:ext uri="{FF2B5EF4-FFF2-40B4-BE49-F238E27FC236}">
                <a16:creationId xmlns:a16="http://schemas.microsoft.com/office/drawing/2014/main" id="{DE66F422-61D5-4606-9651-944914668B81}"/>
              </a:ext>
            </a:extLst>
          </p:cNvPr>
          <p:cNvSpPr>
            <a:spLocks xmlns:a="http://schemas.openxmlformats.org/drawingml/2006/main" noGrp="1"/>
          </p:cNvSpPr>
          <p:nvPr/>
        </p:nvSpPr>
        <p:spPr>
          <a:xfrm xmlns:a="http://schemas.openxmlformats.org/drawingml/2006/main">
            <a:off x="7918704" y="2606040"/>
            <a:ext cx="3474720" cy="13716"/>
          </a:xfrm>
          <a:prstGeom xmlns:a="http://schemas.openxmlformats.org/drawingml/2006/main" prst="rect">
            <a:avLst/>
          </a:prstGeom>
          <a:solidFill xmlns:a="http://schemas.openxmlformats.org/drawingml/2006/main">
            <a:srgbClr val="D7DF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DC74739B-6444-4594-9534-C0D99A988FB7}"/>
              </a:ext>
            </a:extLst>
          </p:cNvPr>
          <p:cNvSpPr>
            <a:spLocks xmlns:a="http://schemas.openxmlformats.org/drawingml/2006/main" noGrp="1"/>
          </p:cNvSpPr>
          <p:nvPr/>
        </p:nvSpPr>
        <p:spPr>
          <a:xfrm xmlns:a="http://schemas.openxmlformats.org/drawingml/2006/main">
            <a:off x="7918704" y="2752344"/>
            <a:ext cx="3474720" cy="685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4400" b="1">
                <a:solidFill>
                  <a:srgbClr val="086F69"/>
                </a:solidFill>
                <a:latin typeface="Georgia"/>
                <a:ea typeface="Georgia"/>
                <a:cs typeface="Georgia"/>
              </a:defRPr>
            </a:pPr>
            <a:r>
              <a:t>1,0000</a:t>
            </a:r>
          </a:p>
        </p:txBody>
      </p:sp>
      <p:sp>
        <p:nvSpPr>
          <p:cNvPr id="14" name="TextBox 13">
            <a:extLst xmlns:a="http://schemas.openxmlformats.org/drawingml/2006/main">
              <a:ext uri="{FF2B5EF4-FFF2-40B4-BE49-F238E27FC236}">
                <a16:creationId xmlns:a16="http://schemas.microsoft.com/office/drawing/2014/main" id="{BEAAF86A-8DDA-4AEE-88C9-D893C90071F3}"/>
              </a:ext>
            </a:extLst>
          </p:cNvPr>
          <p:cNvSpPr>
            <a:spLocks xmlns:a="http://schemas.openxmlformats.org/drawingml/2006/main" noGrp="1"/>
          </p:cNvSpPr>
          <p:nvPr/>
        </p:nvSpPr>
        <p:spPr>
          <a:xfrm xmlns:a="http://schemas.openxmlformats.org/drawingml/2006/main">
            <a:off x="7918704" y="3511296"/>
            <a:ext cx="3474720"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500" b="0">
                <a:solidFill>
                  <a:srgbClr val="536774"/>
                </a:solidFill>
                <a:latin typeface="Verdana"/>
                <a:ea typeface="Verdana"/>
                <a:cs typeface="Verdana"/>
              </a:defRPr>
            </a:pPr>
            <a:r>
              <a:t>MRR@10</a:t>
            </a:r>
          </a:p>
        </p:txBody>
      </p:sp>
      <p:sp>
        <p:nvSpPr>
          <p:cNvPr id="15" name="Rectangle 14">
            <a:extLst xmlns:a="http://schemas.openxmlformats.org/drawingml/2006/main">
              <a:ext uri="{FF2B5EF4-FFF2-40B4-BE49-F238E27FC236}">
                <a16:creationId xmlns:a16="http://schemas.microsoft.com/office/drawing/2014/main" id="{38FA9832-EE60-41C4-A79C-47F65C94ED41}"/>
              </a:ext>
            </a:extLst>
          </p:cNvPr>
          <p:cNvSpPr>
            <a:spLocks xmlns:a="http://schemas.openxmlformats.org/drawingml/2006/main" noGrp="1"/>
          </p:cNvSpPr>
          <p:nvPr/>
        </p:nvSpPr>
        <p:spPr>
          <a:xfrm xmlns:a="http://schemas.openxmlformats.org/drawingml/2006/main">
            <a:off x="603504" y="4434840"/>
            <a:ext cx="2640330" cy="777240"/>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8B51031C-9D71-48FD-95DB-1916DD15D2F1}"/>
              </a:ext>
            </a:extLst>
          </p:cNvPr>
          <p:cNvSpPr>
            <a:spLocks xmlns:a="http://schemas.openxmlformats.org/drawingml/2006/main" noGrp="1"/>
          </p:cNvSpPr>
          <p:nvPr/>
        </p:nvSpPr>
        <p:spPr>
          <a:xfrm xmlns:a="http://schemas.openxmlformats.org/drawingml/2006/main">
            <a:off x="749808" y="4544568"/>
            <a:ext cx="2347722" cy="16459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00" b="1">
                <a:solidFill>
                  <a:srgbClr val="086F69"/>
                </a:solidFill>
                <a:latin typeface="Verdana"/>
                <a:ea typeface="Verdana"/>
                <a:cs typeface="Verdana"/>
              </a:defRPr>
            </a:pPr>
            <a:r>
              <a:t>01</a:t>
            </a:r>
          </a:p>
        </p:txBody>
      </p:sp>
      <p:sp>
        <p:nvSpPr>
          <p:cNvPr id="17" name="TextBox 16">
            <a:extLst xmlns:a="http://schemas.openxmlformats.org/drawingml/2006/main">
              <a:ext uri="{FF2B5EF4-FFF2-40B4-BE49-F238E27FC236}">
                <a16:creationId xmlns:a16="http://schemas.microsoft.com/office/drawing/2014/main" id="{B61D1CD5-851A-41F4-94C1-23783ECC639C}"/>
              </a:ext>
            </a:extLst>
          </p:cNvPr>
          <p:cNvSpPr>
            <a:spLocks xmlns:a="http://schemas.openxmlformats.org/drawingml/2006/main" noGrp="1"/>
          </p:cNvSpPr>
          <p:nvPr/>
        </p:nvSpPr>
        <p:spPr>
          <a:xfrm xmlns:a="http://schemas.openxmlformats.org/drawingml/2006/main">
            <a:off x="749808" y="4782312"/>
            <a:ext cx="2347722"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300" b="0">
                <a:solidFill>
                  <a:srgbClr val="152C3C"/>
                </a:solidFill>
                <a:latin typeface="Verdana"/>
                <a:ea typeface="Verdana"/>
                <a:cs typeface="Verdana"/>
              </a:defRPr>
            </a:pPr>
            <a:r>
              <a:t>Ảnh catalog</a:t>
            </a:r>
          </a:p>
        </p:txBody>
      </p:sp>
      <p:sp>
        <p:nvSpPr>
          <p:cNvPr id="18" name="Rectangle 17">
            <a:extLst xmlns:a="http://schemas.openxmlformats.org/drawingml/2006/main">
              <a:ext uri="{FF2B5EF4-FFF2-40B4-BE49-F238E27FC236}">
                <a16:creationId xmlns:a16="http://schemas.microsoft.com/office/drawing/2014/main" id="{777DE4E5-5015-42ED-A907-AC2A40CCD8A7}"/>
              </a:ext>
            </a:extLst>
          </p:cNvPr>
          <p:cNvSpPr>
            <a:spLocks xmlns:a="http://schemas.openxmlformats.org/drawingml/2006/main" noGrp="1"/>
          </p:cNvSpPr>
          <p:nvPr/>
        </p:nvSpPr>
        <p:spPr>
          <a:xfrm xmlns:a="http://schemas.openxmlformats.org/drawingml/2006/main">
            <a:off x="3380994" y="4434840"/>
            <a:ext cx="2640330" cy="777240"/>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C5B93C4E-973F-43B0-8E83-A313772D9715}"/>
              </a:ext>
            </a:extLst>
          </p:cNvPr>
          <p:cNvSpPr>
            <a:spLocks xmlns:a="http://schemas.openxmlformats.org/drawingml/2006/main" noGrp="1"/>
          </p:cNvSpPr>
          <p:nvPr/>
        </p:nvSpPr>
        <p:spPr>
          <a:xfrm xmlns:a="http://schemas.openxmlformats.org/drawingml/2006/main">
            <a:off x="3527298" y="4544568"/>
            <a:ext cx="2347722" cy="16459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00" b="1">
                <a:solidFill>
                  <a:srgbClr val="086F69"/>
                </a:solidFill>
                <a:latin typeface="Verdana"/>
                <a:ea typeface="Verdana"/>
                <a:cs typeface="Verdana"/>
              </a:defRPr>
            </a:pPr>
            <a:r>
              <a:t>02</a:t>
            </a:r>
          </a:p>
        </p:txBody>
      </p:sp>
      <p:sp>
        <p:nvSpPr>
          <p:cNvPr id="20" name="TextBox 19">
            <a:extLst xmlns:a="http://schemas.openxmlformats.org/drawingml/2006/main">
              <a:ext uri="{FF2B5EF4-FFF2-40B4-BE49-F238E27FC236}">
                <a16:creationId xmlns:a16="http://schemas.microsoft.com/office/drawing/2014/main" id="{80E2F5A7-F0E8-4E7C-9A96-B30E35632D21}"/>
              </a:ext>
            </a:extLst>
          </p:cNvPr>
          <p:cNvSpPr>
            <a:spLocks xmlns:a="http://schemas.openxmlformats.org/drawingml/2006/main" noGrp="1"/>
          </p:cNvSpPr>
          <p:nvPr/>
        </p:nvSpPr>
        <p:spPr>
          <a:xfrm xmlns:a="http://schemas.openxmlformats.org/drawingml/2006/main">
            <a:off x="3527298" y="4782312"/>
            <a:ext cx="2347722"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300" b="0">
                <a:solidFill>
                  <a:srgbClr val="152C3C"/>
                </a:solidFill>
                <a:latin typeface="Verdana"/>
                <a:ea typeface="Verdana"/>
                <a:cs typeface="Verdana"/>
              </a:defRPr>
            </a:pPr>
            <a:r>
              <a:t>Crop + resize</a:t>
            </a:r>
          </a:p>
        </p:txBody>
      </p:sp>
      <p:sp>
        <p:nvSpPr>
          <p:cNvPr id="21" name="Rectangle 20">
            <a:extLst xmlns:a="http://schemas.openxmlformats.org/drawingml/2006/main">
              <a:ext uri="{FF2B5EF4-FFF2-40B4-BE49-F238E27FC236}">
                <a16:creationId xmlns:a16="http://schemas.microsoft.com/office/drawing/2014/main" id="{88FCA17E-1DD7-44D0-ACB4-E1555E5C057C}"/>
              </a:ext>
            </a:extLst>
          </p:cNvPr>
          <p:cNvSpPr>
            <a:spLocks xmlns:a="http://schemas.openxmlformats.org/drawingml/2006/main" noGrp="1"/>
          </p:cNvSpPr>
          <p:nvPr/>
        </p:nvSpPr>
        <p:spPr>
          <a:xfrm xmlns:a="http://schemas.openxmlformats.org/drawingml/2006/main">
            <a:off x="6158484" y="4434840"/>
            <a:ext cx="2640330" cy="777240"/>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677CD624-4458-4736-99E5-436630B7253B}"/>
              </a:ext>
            </a:extLst>
          </p:cNvPr>
          <p:cNvSpPr>
            <a:spLocks xmlns:a="http://schemas.openxmlformats.org/drawingml/2006/main" noGrp="1"/>
          </p:cNvSpPr>
          <p:nvPr/>
        </p:nvSpPr>
        <p:spPr>
          <a:xfrm xmlns:a="http://schemas.openxmlformats.org/drawingml/2006/main">
            <a:off x="6304788" y="4544568"/>
            <a:ext cx="2347722" cy="16459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00" b="1">
                <a:solidFill>
                  <a:srgbClr val="086F69"/>
                </a:solidFill>
                <a:latin typeface="Verdana"/>
                <a:ea typeface="Verdana"/>
                <a:cs typeface="Verdana"/>
              </a:defRPr>
            </a:pPr>
            <a:r>
              <a:t>03</a:t>
            </a:r>
          </a:p>
        </p:txBody>
      </p:sp>
      <p:sp>
        <p:nvSpPr>
          <p:cNvPr id="23" name="TextBox 22">
            <a:extLst xmlns:a="http://schemas.openxmlformats.org/drawingml/2006/main">
              <a:ext uri="{FF2B5EF4-FFF2-40B4-BE49-F238E27FC236}">
                <a16:creationId xmlns:a16="http://schemas.microsoft.com/office/drawing/2014/main" id="{E157CAAB-66B7-4874-8D2A-393A82E68705}"/>
              </a:ext>
            </a:extLst>
          </p:cNvPr>
          <p:cNvSpPr>
            <a:spLocks xmlns:a="http://schemas.openxmlformats.org/drawingml/2006/main" noGrp="1"/>
          </p:cNvSpPr>
          <p:nvPr/>
        </p:nvSpPr>
        <p:spPr>
          <a:xfrm xmlns:a="http://schemas.openxmlformats.org/drawingml/2006/main">
            <a:off x="6304788" y="4782312"/>
            <a:ext cx="2347722"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300" b="0">
                <a:solidFill>
                  <a:srgbClr val="152C3C"/>
                </a:solidFill>
                <a:latin typeface="Verdana"/>
                <a:ea typeface="Verdana"/>
                <a:cs typeface="Verdana"/>
              </a:defRPr>
            </a:pPr>
            <a:r>
              <a:t>Contrast + JPEG</a:t>
            </a:r>
          </a:p>
        </p:txBody>
      </p:sp>
      <p:sp>
        <p:nvSpPr>
          <p:cNvPr id="24" name="Rectangle 23">
            <a:extLst xmlns:a="http://schemas.openxmlformats.org/drawingml/2006/main">
              <a:ext uri="{FF2B5EF4-FFF2-40B4-BE49-F238E27FC236}">
                <a16:creationId xmlns:a16="http://schemas.microsoft.com/office/drawing/2014/main" id="{13E8702C-915B-4432-8B7B-9189337A484F}"/>
              </a:ext>
            </a:extLst>
          </p:cNvPr>
          <p:cNvSpPr>
            <a:spLocks xmlns:a="http://schemas.openxmlformats.org/drawingml/2006/main" noGrp="1"/>
          </p:cNvSpPr>
          <p:nvPr/>
        </p:nvSpPr>
        <p:spPr>
          <a:xfrm xmlns:a="http://schemas.openxmlformats.org/drawingml/2006/main">
            <a:off x="8935974" y="4434840"/>
            <a:ext cx="2640330" cy="777240"/>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TextBox 24">
            <a:extLst xmlns:a="http://schemas.openxmlformats.org/drawingml/2006/main">
              <a:ext uri="{FF2B5EF4-FFF2-40B4-BE49-F238E27FC236}">
                <a16:creationId xmlns:a16="http://schemas.microsoft.com/office/drawing/2014/main" id="{8CEB8E49-13E7-4FCC-9B4B-0CD56D5A7C75}"/>
              </a:ext>
            </a:extLst>
          </p:cNvPr>
          <p:cNvSpPr>
            <a:spLocks xmlns:a="http://schemas.openxmlformats.org/drawingml/2006/main" noGrp="1"/>
          </p:cNvSpPr>
          <p:nvPr/>
        </p:nvSpPr>
        <p:spPr>
          <a:xfrm xmlns:a="http://schemas.openxmlformats.org/drawingml/2006/main">
            <a:off x="9082278" y="4544568"/>
            <a:ext cx="2347722" cy="16459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00" b="1">
                <a:solidFill>
                  <a:srgbClr val="086F69"/>
                </a:solidFill>
                <a:latin typeface="Verdana"/>
                <a:ea typeface="Verdana"/>
                <a:cs typeface="Verdana"/>
              </a:defRPr>
            </a:pPr>
            <a:r>
              <a:t>04</a:t>
            </a:r>
          </a:p>
        </p:txBody>
      </p:sp>
      <p:sp>
        <p:nvSpPr>
          <p:cNvPr id="26" name="TextBox 25">
            <a:extLst xmlns:a="http://schemas.openxmlformats.org/drawingml/2006/main">
              <a:ext uri="{FF2B5EF4-FFF2-40B4-BE49-F238E27FC236}">
                <a16:creationId xmlns:a16="http://schemas.microsoft.com/office/drawing/2014/main" id="{64E72BF5-A4CC-40D7-ADE0-B394C78AA3D9}"/>
              </a:ext>
            </a:extLst>
          </p:cNvPr>
          <p:cNvSpPr>
            <a:spLocks xmlns:a="http://schemas.openxmlformats.org/drawingml/2006/main" noGrp="1"/>
          </p:cNvSpPr>
          <p:nvPr/>
        </p:nvSpPr>
        <p:spPr>
          <a:xfrm xmlns:a="http://schemas.openxmlformats.org/drawingml/2006/main">
            <a:off x="9082278" y="4782312"/>
            <a:ext cx="2347722"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300" b="0">
                <a:solidFill>
                  <a:srgbClr val="152C3C"/>
                </a:solidFill>
                <a:latin typeface="Verdana"/>
                <a:ea typeface="Verdana"/>
                <a:cs typeface="Verdana"/>
              </a:defRPr>
            </a:pPr>
            <a:r>
              <a:t>Image kNN</a:t>
            </a:r>
          </a:p>
        </p:txBody>
      </p:sp>
      <p:sp>
        <p:nvSpPr>
          <p:cNvPr id="27" name="Rectangle 26">
            <a:extLst xmlns:a="http://schemas.openxmlformats.org/drawingml/2006/main">
              <a:ext uri="{FF2B5EF4-FFF2-40B4-BE49-F238E27FC236}">
                <a16:creationId xmlns:a16="http://schemas.microsoft.com/office/drawing/2014/main" id="{4BCDF56D-70E2-45AC-99B4-C285B64D61EA}"/>
              </a:ext>
            </a:extLst>
          </p:cNvPr>
          <p:cNvSpPr>
            <a:spLocks xmlns:a="http://schemas.openxmlformats.org/drawingml/2006/main" noGrp="1"/>
          </p:cNvSpPr>
          <p:nvPr/>
        </p:nvSpPr>
        <p:spPr>
          <a:xfrm xmlns:a="http://schemas.openxmlformats.org/drawingml/2006/main">
            <a:off x="603504" y="5715000"/>
            <a:ext cx="10972800" cy="521207"/>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Rectangle 27">
            <a:extLst xmlns:a="http://schemas.openxmlformats.org/drawingml/2006/main">
              <a:ext uri="{FF2B5EF4-FFF2-40B4-BE49-F238E27FC236}">
                <a16:creationId xmlns:a16="http://schemas.microsoft.com/office/drawing/2014/main" id="{39F25C02-91D8-48F4-8201-447A7E42F6A6}"/>
              </a:ext>
            </a:extLst>
          </p:cNvPr>
          <p:cNvSpPr>
            <a:spLocks xmlns:a="http://schemas.openxmlformats.org/drawingml/2006/main" noGrp="1"/>
          </p:cNvSpPr>
          <p:nvPr/>
        </p:nvSpPr>
        <p:spPr>
          <a:xfrm xmlns:a="http://schemas.openxmlformats.org/drawingml/2006/main">
            <a:off x="603504" y="5715000"/>
            <a:ext cx="32004" cy="521207"/>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TextBox 28">
            <a:extLst xmlns:a="http://schemas.openxmlformats.org/drawingml/2006/main">
              <a:ext uri="{FF2B5EF4-FFF2-40B4-BE49-F238E27FC236}">
                <a16:creationId xmlns:a16="http://schemas.microsoft.com/office/drawing/2014/main" id="{DB09E70E-AB92-4C12-B958-FC49D765035E}"/>
              </a:ext>
            </a:extLst>
          </p:cNvPr>
          <p:cNvSpPr>
            <a:spLocks xmlns:a="http://schemas.openxmlformats.org/drawingml/2006/main" noGrp="1"/>
          </p:cNvSpPr>
          <p:nvPr/>
        </p:nvSpPr>
        <p:spPr>
          <a:xfrm xmlns:a="http://schemas.openxmlformats.org/drawingml/2006/main">
            <a:off x="758952" y="5833872"/>
            <a:ext cx="10652760" cy="3383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250" b="0">
                <a:solidFill>
                  <a:srgbClr val="086F69"/>
                </a:solidFill>
                <a:latin typeface="Verdana"/>
                <a:ea typeface="Verdana"/>
                <a:cs typeface="Verdana"/>
              </a:defRPr>
            </a:pPr>
            <a:r>
              <a:t>Đo độ ổn định với biến đổi nhẹ; cần ảnh chụp độc lập để đánh giá tình huống thực tế.</a:t>
            </a:r>
          </a:p>
        </p:txBody>
      </p:sp>
      <p:sp>
        <p:nvSpPr>
          <p:cNvPr id="30" name="TextBox 29">
            <a:extLst xmlns:a="http://schemas.openxmlformats.org/drawingml/2006/main">
              <a:ext uri="{FF2B5EF4-FFF2-40B4-BE49-F238E27FC236}">
                <a16:creationId xmlns:a16="http://schemas.microsoft.com/office/drawing/2014/main" id="{D02759B8-38D3-4DF5-BE9F-5E24E9E931EA}"/>
              </a:ext>
            </a:extLst>
          </p:cNvPr>
          <p:cNvSpPr>
            <a:spLocks xmlns:a="http://schemas.openxmlformats.org/drawingml/2006/main" noGrp="1"/>
          </p:cNvSpPr>
          <p:nvPr/>
        </p:nvSpPr>
        <p:spPr>
          <a:xfrm xmlns:a="http://schemas.openxmlformats.org/drawingml/2006/main">
            <a:off x="603504" y="6473952"/>
            <a:ext cx="9875520"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950" b="0">
                <a:solidFill>
                  <a:srgbClr val="536774"/>
                </a:solidFill>
                <a:latin typeface="Verdana"/>
                <a:ea typeface="Verdana"/>
                <a:cs typeface="Verdana"/>
              </a:defRPr>
            </a:pPr>
            <a:r>
              <a:t>Nguồn: báo cáo Nhóm 4 · PDF tr. 5–6</a:t>
            </a:r>
          </a:p>
        </p:txBody>
      </p:sp>
      <p:sp>
        <p:nvSpPr>
          <p:cNvPr id="31" name="TextBox 30">
            <a:extLst xmlns:a="http://schemas.openxmlformats.org/drawingml/2006/main">
              <a:ext uri="{FF2B5EF4-FFF2-40B4-BE49-F238E27FC236}">
                <a16:creationId xmlns:a16="http://schemas.microsoft.com/office/drawing/2014/main" id="{F8636F92-FB24-45FB-AFE6-8B309D6DA4AE}"/>
              </a:ext>
            </a:extLst>
          </p:cNvPr>
          <p:cNvSpPr>
            <a:spLocks xmlns:a="http://schemas.openxmlformats.org/drawingml/2006/main" noGrp="1"/>
          </p:cNvSpPr>
          <p:nvPr/>
        </p:nvSpPr>
        <p:spPr>
          <a:xfrm xmlns:a="http://schemas.openxmlformats.org/drawingml/2006/main">
            <a:off x="10698480" y="6473952"/>
            <a:ext cx="886968"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r">
              <a:lnSpc>
                <a:spcPct val="120000"/>
              </a:lnSpc>
              <a:spcBef>
                <a:spcPts val="0"/>
              </a:spcBef>
              <a:spcAft>
                <a:spcPts val="500"/>
              </a:spcAft>
              <a:buNone/>
              <a:defRPr sz="950" b="0">
                <a:solidFill>
                  <a:srgbClr val="152C3C"/>
                </a:solidFill>
                <a:latin typeface="Verdana"/>
                <a:ea typeface="Verdana"/>
                <a:cs typeface="Verdana"/>
              </a:defRPr>
            </a:pPr>
            <a:r>
              <a:t>10 / 12</a:t>
            </a:r>
          </a:p>
        </p:txBody>
      </p:sp>
    </p:spTree>
    <p:extLst>
      <p:ext uri="{BB962C8B-B14F-4D97-AF65-F5344CB8AC3E}">
        <p14:creationId xmlns:p14="http://schemas.microsoft.com/office/powerpoint/2010/main" val="890284175"/>
      </p:ext>
    </p:extLst>
  </p:cSld>
</p:sld>
</file>

<file path=ppt/slides/slide11.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DBDE026-BBDC-4BCE-9A5A-D72040CE53F0}"/>
              </a:ext>
            </a:extLst>
          </p:cNvPr>
          <p:cNvSpPr>
            <a:spLocks xmlns:a="http://schemas.openxmlformats.org/drawingml/2006/main" noGrp="1"/>
          </p:cNvSpPr>
          <p:nvPr/>
        </p:nvSpPr>
        <p:spPr>
          <a:xfrm xmlns:a="http://schemas.openxmlformats.org/drawingml/2006/main">
            <a:off x="603504" y="384048"/>
            <a:ext cx="10972800" cy="2468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50" b="1">
                <a:solidFill>
                  <a:srgbClr val="086F69"/>
                </a:solidFill>
                <a:latin typeface="Verdana"/>
                <a:ea typeface="Verdana"/>
                <a:cs typeface="Verdana"/>
              </a:defRPr>
            </a:pPr>
            <a:r>
              <a:t>06 / LỖI VÀ GIỚI HẠN</a:t>
            </a:r>
          </a:p>
        </p:txBody>
      </p:sp>
      <p:sp>
        <p:nvSpPr>
          <p:cNvPr id="3" name="Rectangle 2">
            <a:extLst xmlns:a="http://schemas.openxmlformats.org/drawingml/2006/main">
              <a:ext uri="{FF2B5EF4-FFF2-40B4-BE49-F238E27FC236}">
                <a16:creationId xmlns:a16="http://schemas.microsoft.com/office/drawing/2014/main" id="{A48A42BC-0085-41D7-B52F-2700F450E44B}"/>
              </a:ext>
            </a:extLst>
          </p:cNvPr>
          <p:cNvSpPr>
            <a:spLocks xmlns:a="http://schemas.openxmlformats.org/drawingml/2006/main" noGrp="1"/>
          </p:cNvSpPr>
          <p:nvPr/>
        </p:nvSpPr>
        <p:spPr>
          <a:xfrm xmlns:a="http://schemas.openxmlformats.org/drawingml/2006/main">
            <a:off x="603504" y="813816"/>
            <a:ext cx="10972800" cy="12801"/>
          </a:xfrm>
          <a:prstGeom xmlns:a="http://schemas.openxmlformats.org/drawingml/2006/main" prst="rect">
            <a:avLst/>
          </a:prstGeom>
          <a:solidFill xmlns:a="http://schemas.openxmlformats.org/drawingml/2006/main">
            <a:srgbClr val="D7DF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A600E074-E44A-4E1D-A9FE-FDDAE4F5CC62}"/>
              </a:ext>
            </a:extLst>
          </p:cNvPr>
          <p:cNvSpPr>
            <a:spLocks xmlns:a="http://schemas.openxmlformats.org/drawingml/2006/main" noGrp="1"/>
          </p:cNvSpPr>
          <p:nvPr/>
        </p:nvSpPr>
        <p:spPr>
          <a:xfrm xmlns:a="http://schemas.openxmlformats.org/drawingml/2006/main">
            <a:off x="603504" y="1005840"/>
            <a:ext cx="10972800" cy="9692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3200" b="1">
                <a:solidFill>
                  <a:srgbClr val="152C3C"/>
                </a:solidFill>
                <a:latin typeface="Georgia"/>
                <a:ea typeface="Georgia"/>
                <a:cs typeface="Georgia"/>
              </a:defRPr>
            </a:pPr>
            <a:r>
              <a:t>Metric cần được đọc cùng giới hạn</a:t>
            </a:r>
          </a:p>
        </p:txBody>
      </p:sp>
      <p:sp>
        <p:nvSpPr>
          <p:cNvPr id="5" name="TextBox 4">
            <a:extLst xmlns:a="http://schemas.openxmlformats.org/drawingml/2006/main">
              <a:ext uri="{FF2B5EF4-FFF2-40B4-BE49-F238E27FC236}">
                <a16:creationId xmlns:a16="http://schemas.microsoft.com/office/drawing/2014/main" id="{92B7FAFC-8042-483E-8419-5D5B36D1CEC9}"/>
              </a:ext>
            </a:extLst>
          </p:cNvPr>
          <p:cNvSpPr>
            <a:spLocks xmlns:a="http://schemas.openxmlformats.org/drawingml/2006/main" noGrp="1"/>
          </p:cNvSpPr>
          <p:nvPr/>
        </p:nvSpPr>
        <p:spPr>
          <a:xfrm xmlns:a="http://schemas.openxmlformats.org/drawingml/2006/main">
            <a:off x="603504" y="1874519"/>
            <a:ext cx="10972800" cy="4297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0">
                <a:solidFill>
                  <a:srgbClr val="536774"/>
                </a:solidFill>
                <a:latin typeface="Verdana"/>
                <a:ea typeface="Verdana"/>
                <a:cs typeface="Verdana"/>
              </a:defRPr>
            </a:pPr>
            <a:r>
              <a:t>Các kết quả hiện tại phục vụ chẩn đoán và so sánh nội bộ.</a:t>
            </a:r>
          </a:p>
        </p:txBody>
      </p:sp>
      <p:sp>
        <p:nvSpPr>
          <p:cNvPr id="6" name="Rectangle 5">
            <a:extLst xmlns:a="http://schemas.openxmlformats.org/drawingml/2006/main">
              <a:ext uri="{FF2B5EF4-FFF2-40B4-BE49-F238E27FC236}">
                <a16:creationId xmlns:a16="http://schemas.microsoft.com/office/drawing/2014/main" id="{176E28C0-29B7-49EB-837E-2A59CCB91B8C}"/>
              </a:ext>
            </a:extLst>
          </p:cNvPr>
          <p:cNvSpPr>
            <a:spLocks xmlns:a="http://schemas.openxmlformats.org/drawingml/2006/main" noGrp="1"/>
          </p:cNvSpPr>
          <p:nvPr/>
        </p:nvSpPr>
        <p:spPr>
          <a:xfrm xmlns:a="http://schemas.openxmlformats.org/drawingml/2006/main">
            <a:off x="603504" y="2542032"/>
            <a:ext cx="3535680" cy="2779776"/>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85064548-CC3A-458C-A68B-AF4C35DF4986}"/>
              </a:ext>
            </a:extLst>
          </p:cNvPr>
          <p:cNvSpPr>
            <a:spLocks xmlns:a="http://schemas.openxmlformats.org/drawingml/2006/main" noGrp="1"/>
          </p:cNvSpPr>
          <p:nvPr/>
        </p:nvSpPr>
        <p:spPr>
          <a:xfrm xmlns:a="http://schemas.openxmlformats.org/drawingml/2006/main">
            <a:off x="603504" y="2542032"/>
            <a:ext cx="3535680" cy="32004"/>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0360B7A8-31A0-4619-9A3E-37E184274347}"/>
              </a:ext>
            </a:extLst>
          </p:cNvPr>
          <p:cNvSpPr>
            <a:spLocks xmlns:a="http://schemas.openxmlformats.org/drawingml/2006/main" noGrp="1"/>
          </p:cNvSpPr>
          <p:nvPr/>
        </p:nvSpPr>
        <p:spPr>
          <a:xfrm xmlns:a="http://schemas.openxmlformats.org/drawingml/2006/main">
            <a:off x="804672" y="2706624"/>
            <a:ext cx="3133344"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00" b="1">
                <a:solidFill>
                  <a:srgbClr val="086F69"/>
                </a:solidFill>
                <a:latin typeface="Verdana"/>
                <a:ea typeface="Verdana"/>
                <a:cs typeface="Verdana"/>
              </a:defRPr>
            </a:pPr>
            <a:r>
              <a:t>01</a:t>
            </a:r>
          </a:p>
        </p:txBody>
      </p:sp>
      <p:sp>
        <p:nvSpPr>
          <p:cNvPr id="9" name="TextBox 8">
            <a:extLst xmlns:a="http://schemas.openxmlformats.org/drawingml/2006/main">
              <a:ext uri="{FF2B5EF4-FFF2-40B4-BE49-F238E27FC236}">
                <a16:creationId xmlns:a16="http://schemas.microsoft.com/office/drawing/2014/main" id="{78BCCD4B-5AD3-4EC2-AD1B-EF2E54DA6609}"/>
              </a:ext>
            </a:extLst>
          </p:cNvPr>
          <p:cNvSpPr>
            <a:spLocks xmlns:a="http://schemas.openxmlformats.org/drawingml/2006/main" noGrp="1"/>
          </p:cNvSpPr>
          <p:nvPr/>
        </p:nvSpPr>
        <p:spPr>
          <a:xfrm xmlns:a="http://schemas.openxmlformats.org/drawingml/2006/main">
            <a:off x="804672" y="3044952"/>
            <a:ext cx="3133344"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900" b="1">
                <a:solidFill>
                  <a:srgbClr val="152C3C"/>
                </a:solidFill>
                <a:latin typeface="Verdana"/>
                <a:ea typeface="Verdana"/>
                <a:cs typeface="Verdana"/>
              </a:defRPr>
            </a:pPr>
            <a:r>
              <a:t>Qrels chưa review</a:t>
            </a:r>
          </a:p>
        </p:txBody>
      </p:sp>
      <p:sp>
        <p:nvSpPr>
          <p:cNvPr id="10" name="TextBox 9">
            <a:extLst xmlns:a="http://schemas.openxmlformats.org/drawingml/2006/main">
              <a:ext uri="{FF2B5EF4-FFF2-40B4-BE49-F238E27FC236}">
                <a16:creationId xmlns:a16="http://schemas.microsoft.com/office/drawing/2014/main" id="{A2A6BCC7-06FF-4CC9-B32D-3FDC02BF9EB6}"/>
              </a:ext>
            </a:extLst>
          </p:cNvPr>
          <p:cNvSpPr>
            <a:spLocks xmlns:a="http://schemas.openxmlformats.org/drawingml/2006/main" noGrp="1"/>
          </p:cNvSpPr>
          <p:nvPr/>
        </p:nvSpPr>
        <p:spPr>
          <a:xfrm xmlns:a="http://schemas.openxmlformats.org/drawingml/2006/main">
            <a:off x="804672" y="3648456"/>
            <a:ext cx="3133344" cy="157276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536774"/>
                </a:solidFill>
                <a:latin typeface="Verdana"/>
                <a:ea typeface="Verdana"/>
                <a:cs typeface="Verdana"/>
              </a:defRPr>
            </a:pPr>
            <a:r>
              <a:t>Hai reviewer + adjudication còn thiếu.</a:t>
            </a:r>
          </a:p>
          <a:p xmlns:a="http://schemas.openxmlformats.org/drawingml/2006/main">
            <a:pPr>
              <a:lnSpc>
                <a:spcPct val="120000"/>
              </a:lnSpc>
              <a:spcBef>
                <a:spcPts val="0"/>
              </a:spcBef>
              <a:spcAft>
                <a:spcPts val="500"/>
              </a:spcAft>
              <a:buNone/>
              <a:defRPr sz="1600" b="0">
                <a:solidFill>
                  <a:srgbClr val="536774"/>
                </a:solidFill>
                <a:latin typeface="Verdana"/>
                <a:ea typeface="Verdana"/>
                <a:cs typeface="Verdana"/>
              </a:defRPr>
            </a:pPr>
            <a:r>
              <a:t>Chỉ 1 positive/query; grade 1 chưa dùng.</a:t>
            </a:r>
          </a:p>
        </p:txBody>
      </p:sp>
      <p:sp>
        <p:nvSpPr>
          <p:cNvPr id="11" name="Rectangle 10">
            <a:extLst xmlns:a="http://schemas.openxmlformats.org/drawingml/2006/main">
              <a:ext uri="{FF2B5EF4-FFF2-40B4-BE49-F238E27FC236}">
                <a16:creationId xmlns:a16="http://schemas.microsoft.com/office/drawing/2014/main" id="{A0ED7DB7-D3EE-4613-B38F-9DB18364469F}"/>
              </a:ext>
            </a:extLst>
          </p:cNvPr>
          <p:cNvSpPr>
            <a:spLocks xmlns:a="http://schemas.openxmlformats.org/drawingml/2006/main" noGrp="1"/>
          </p:cNvSpPr>
          <p:nvPr/>
        </p:nvSpPr>
        <p:spPr>
          <a:xfrm xmlns:a="http://schemas.openxmlformats.org/drawingml/2006/main">
            <a:off x="4322064" y="2542032"/>
            <a:ext cx="3535680" cy="2779776"/>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67917723-F781-48BD-B2B6-EFB1F82971F3}"/>
              </a:ext>
            </a:extLst>
          </p:cNvPr>
          <p:cNvSpPr>
            <a:spLocks xmlns:a="http://schemas.openxmlformats.org/drawingml/2006/main" noGrp="1"/>
          </p:cNvSpPr>
          <p:nvPr/>
        </p:nvSpPr>
        <p:spPr>
          <a:xfrm xmlns:a="http://schemas.openxmlformats.org/drawingml/2006/main">
            <a:off x="4322064" y="2542032"/>
            <a:ext cx="3535680" cy="32004"/>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F33CF6F9-1AFA-4212-A9CA-BF94285D6684}"/>
              </a:ext>
            </a:extLst>
          </p:cNvPr>
          <p:cNvSpPr>
            <a:spLocks xmlns:a="http://schemas.openxmlformats.org/drawingml/2006/main" noGrp="1"/>
          </p:cNvSpPr>
          <p:nvPr/>
        </p:nvSpPr>
        <p:spPr>
          <a:xfrm xmlns:a="http://schemas.openxmlformats.org/drawingml/2006/main">
            <a:off x="4523232" y="2706624"/>
            <a:ext cx="3133344"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00" b="1">
                <a:solidFill>
                  <a:srgbClr val="086F69"/>
                </a:solidFill>
                <a:latin typeface="Verdana"/>
                <a:ea typeface="Verdana"/>
                <a:cs typeface="Verdana"/>
              </a:defRPr>
            </a:pPr>
            <a:r>
              <a:t>02</a:t>
            </a:r>
          </a:p>
        </p:txBody>
      </p:sp>
      <p:sp>
        <p:nvSpPr>
          <p:cNvPr id="14" name="TextBox 13">
            <a:extLst xmlns:a="http://schemas.openxmlformats.org/drawingml/2006/main">
              <a:ext uri="{FF2B5EF4-FFF2-40B4-BE49-F238E27FC236}">
                <a16:creationId xmlns:a16="http://schemas.microsoft.com/office/drawing/2014/main" id="{A1A4DBC9-A037-4571-91E3-A7B18EEAD07F}"/>
              </a:ext>
            </a:extLst>
          </p:cNvPr>
          <p:cNvSpPr>
            <a:spLocks xmlns:a="http://schemas.openxmlformats.org/drawingml/2006/main" noGrp="1"/>
          </p:cNvSpPr>
          <p:nvPr/>
        </p:nvSpPr>
        <p:spPr>
          <a:xfrm xmlns:a="http://schemas.openxmlformats.org/drawingml/2006/main">
            <a:off x="4523232" y="3044952"/>
            <a:ext cx="3133344"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900" b="1">
                <a:solidFill>
                  <a:srgbClr val="152C3C"/>
                </a:solidFill>
                <a:latin typeface="Verdana"/>
                <a:ea typeface="Verdana"/>
                <a:cs typeface="Verdana"/>
              </a:defRPr>
            </a:pPr>
            <a:r>
              <a:t>20 failure cases</a:t>
            </a:r>
          </a:p>
        </p:txBody>
      </p:sp>
      <p:sp>
        <p:nvSpPr>
          <p:cNvPr id="15" name="TextBox 14">
            <a:extLst xmlns:a="http://schemas.openxmlformats.org/drawingml/2006/main">
              <a:ext uri="{FF2B5EF4-FFF2-40B4-BE49-F238E27FC236}">
                <a16:creationId xmlns:a16="http://schemas.microsoft.com/office/drawing/2014/main" id="{009ADCA9-24B5-46B9-AB2E-A4A6BB14FDD4}"/>
              </a:ext>
            </a:extLst>
          </p:cNvPr>
          <p:cNvSpPr>
            <a:spLocks xmlns:a="http://schemas.openxmlformats.org/drawingml/2006/main" noGrp="1"/>
          </p:cNvSpPr>
          <p:nvPr/>
        </p:nvSpPr>
        <p:spPr>
          <a:xfrm xmlns:a="http://schemas.openxmlformats.org/drawingml/2006/main">
            <a:off x="4523232" y="3648456"/>
            <a:ext cx="3133344" cy="157276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536774"/>
                </a:solidFill>
                <a:latin typeface="Verdana"/>
                <a:ea typeface="Verdana"/>
                <a:cs typeface="Verdana"/>
              </a:defRPr>
            </a:pPr>
            <a:r>
              <a:t>Nhãn lexical_mismatch / semantic_confusion</a:t>
            </a:r>
          </a:p>
          <a:p xmlns:a="http://schemas.openxmlformats.org/drawingml/2006/main">
            <a:pPr>
              <a:lnSpc>
                <a:spcPct val="120000"/>
              </a:lnSpc>
              <a:spcBef>
                <a:spcPts val="0"/>
              </a:spcBef>
              <a:spcAft>
                <a:spcPts val="500"/>
              </a:spcAft>
              <a:buNone/>
              <a:defRPr sz="1600" b="0">
                <a:solidFill>
                  <a:srgbClr val="536774"/>
                </a:solidFill>
                <a:latin typeface="Verdana"/>
                <a:ea typeface="Verdana"/>
                <a:cs typeface="Verdana"/>
              </a:defRPr>
            </a:pPr>
            <a:r>
              <a:t>là gợi ý; reviewer_note còn trống.</a:t>
            </a:r>
          </a:p>
        </p:txBody>
      </p:sp>
      <p:sp>
        <p:nvSpPr>
          <p:cNvPr id="16" name="Rectangle 15">
            <a:extLst xmlns:a="http://schemas.openxmlformats.org/drawingml/2006/main">
              <a:ext uri="{FF2B5EF4-FFF2-40B4-BE49-F238E27FC236}">
                <a16:creationId xmlns:a16="http://schemas.microsoft.com/office/drawing/2014/main" id="{E2F856B2-4BF5-4E1A-BC9E-6DD3B1794B4E}"/>
              </a:ext>
            </a:extLst>
          </p:cNvPr>
          <p:cNvSpPr>
            <a:spLocks xmlns:a="http://schemas.openxmlformats.org/drawingml/2006/main" noGrp="1"/>
          </p:cNvSpPr>
          <p:nvPr/>
        </p:nvSpPr>
        <p:spPr>
          <a:xfrm xmlns:a="http://schemas.openxmlformats.org/drawingml/2006/main">
            <a:off x="8040624" y="2542032"/>
            <a:ext cx="3535680" cy="2779776"/>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FC3FD8E3-1243-4BCD-BC83-3D124801ED2F}"/>
              </a:ext>
            </a:extLst>
          </p:cNvPr>
          <p:cNvSpPr>
            <a:spLocks xmlns:a="http://schemas.openxmlformats.org/drawingml/2006/main" noGrp="1"/>
          </p:cNvSpPr>
          <p:nvPr/>
        </p:nvSpPr>
        <p:spPr>
          <a:xfrm xmlns:a="http://schemas.openxmlformats.org/drawingml/2006/main">
            <a:off x="8040624" y="2542032"/>
            <a:ext cx="3535680" cy="32004"/>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571C0598-4D5A-4A61-9DE3-4202FCDF1875}"/>
              </a:ext>
            </a:extLst>
          </p:cNvPr>
          <p:cNvSpPr>
            <a:spLocks xmlns:a="http://schemas.openxmlformats.org/drawingml/2006/main" noGrp="1"/>
          </p:cNvSpPr>
          <p:nvPr/>
        </p:nvSpPr>
        <p:spPr>
          <a:xfrm xmlns:a="http://schemas.openxmlformats.org/drawingml/2006/main">
            <a:off x="8241792" y="2706624"/>
            <a:ext cx="3133344"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00" b="1">
                <a:solidFill>
                  <a:srgbClr val="086F69"/>
                </a:solidFill>
                <a:latin typeface="Verdana"/>
                <a:ea typeface="Verdana"/>
                <a:cs typeface="Verdana"/>
              </a:defRPr>
            </a:pPr>
            <a:r>
              <a:t>03</a:t>
            </a:r>
          </a:p>
        </p:txBody>
      </p:sp>
      <p:sp>
        <p:nvSpPr>
          <p:cNvPr id="19" name="TextBox 18">
            <a:extLst xmlns:a="http://schemas.openxmlformats.org/drawingml/2006/main">
              <a:ext uri="{FF2B5EF4-FFF2-40B4-BE49-F238E27FC236}">
                <a16:creationId xmlns:a16="http://schemas.microsoft.com/office/drawing/2014/main" id="{DF7AE259-E1E0-4B78-9A6F-80D2CD1C976D}"/>
              </a:ext>
            </a:extLst>
          </p:cNvPr>
          <p:cNvSpPr>
            <a:spLocks xmlns:a="http://schemas.openxmlformats.org/drawingml/2006/main" noGrp="1"/>
          </p:cNvSpPr>
          <p:nvPr/>
        </p:nvSpPr>
        <p:spPr>
          <a:xfrm xmlns:a="http://schemas.openxmlformats.org/drawingml/2006/main">
            <a:off x="8241792" y="3044952"/>
            <a:ext cx="3133344"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900" b="1">
                <a:solidFill>
                  <a:srgbClr val="152C3C"/>
                </a:solidFill>
                <a:latin typeface="Verdana"/>
                <a:ea typeface="Verdana"/>
                <a:cs typeface="Verdana"/>
              </a:defRPr>
            </a:pPr>
            <a:r>
              <a:t>Độ đại diện</a:t>
            </a:r>
          </a:p>
        </p:txBody>
      </p:sp>
      <p:sp>
        <p:nvSpPr>
          <p:cNvPr id="20" name="TextBox 19">
            <a:extLst xmlns:a="http://schemas.openxmlformats.org/drawingml/2006/main">
              <a:ext uri="{FF2B5EF4-FFF2-40B4-BE49-F238E27FC236}">
                <a16:creationId xmlns:a16="http://schemas.microsoft.com/office/drawing/2014/main" id="{5D35D4A4-3D74-4721-B92E-5981576C937B}"/>
              </a:ext>
            </a:extLst>
          </p:cNvPr>
          <p:cNvSpPr>
            <a:spLocks xmlns:a="http://schemas.openxmlformats.org/drawingml/2006/main" noGrp="1"/>
          </p:cNvSpPr>
          <p:nvPr/>
        </p:nvSpPr>
        <p:spPr>
          <a:xfrm xmlns:a="http://schemas.openxmlformats.org/drawingml/2006/main">
            <a:off x="8241792" y="3648456"/>
            <a:ext cx="3133344" cy="157276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536774"/>
                </a:solidFill>
                <a:latin typeface="Verdana"/>
                <a:ea typeface="Verdana"/>
                <a:cs typeface="Verdana"/>
              </a:defRPr>
            </a:pPr>
            <a:r>
              <a:t>1.500 sản phẩm; ảnh query phụ thuộc catalog.</a:t>
            </a:r>
          </a:p>
          <a:p xmlns:a="http://schemas.openxmlformats.org/drawingml/2006/main">
            <a:pPr>
              <a:lnSpc>
                <a:spcPct val="120000"/>
              </a:lnSpc>
              <a:spcBef>
                <a:spcPts val="0"/>
              </a:spcBef>
              <a:spcAft>
                <a:spcPts val="500"/>
              </a:spcAft>
              <a:buNone/>
              <a:defRPr sz="1600" b="0">
                <a:solidFill>
                  <a:srgbClr val="536774"/>
                </a:solidFill>
                <a:latin typeface="Verdana"/>
                <a:ea typeface="Verdana"/>
                <a:cs typeface="Verdana"/>
              </a:defRPr>
            </a:pPr>
            <a:r>
              <a:t>Chưa đo ảnh thực tế và tải production.</a:t>
            </a:r>
          </a:p>
        </p:txBody>
      </p:sp>
      <p:sp>
        <p:nvSpPr>
          <p:cNvPr id="21" name="Rectangle 20">
            <a:extLst xmlns:a="http://schemas.openxmlformats.org/drawingml/2006/main">
              <a:ext uri="{FF2B5EF4-FFF2-40B4-BE49-F238E27FC236}">
                <a16:creationId xmlns:a16="http://schemas.microsoft.com/office/drawing/2014/main" id="{435F7196-BC15-4C9C-B829-83214CC00B6A}"/>
              </a:ext>
            </a:extLst>
          </p:cNvPr>
          <p:cNvSpPr>
            <a:spLocks xmlns:a="http://schemas.openxmlformats.org/drawingml/2006/main" noGrp="1"/>
          </p:cNvSpPr>
          <p:nvPr/>
        </p:nvSpPr>
        <p:spPr>
          <a:xfrm xmlns:a="http://schemas.openxmlformats.org/drawingml/2006/main">
            <a:off x="603504" y="5715000"/>
            <a:ext cx="10972800" cy="521207"/>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Rectangle 21">
            <a:extLst xmlns:a="http://schemas.openxmlformats.org/drawingml/2006/main">
              <a:ext uri="{FF2B5EF4-FFF2-40B4-BE49-F238E27FC236}">
                <a16:creationId xmlns:a16="http://schemas.microsoft.com/office/drawing/2014/main" id="{C12876B7-2A78-4704-BFEC-899A3CA3CE66}"/>
              </a:ext>
            </a:extLst>
          </p:cNvPr>
          <p:cNvSpPr>
            <a:spLocks xmlns:a="http://schemas.openxmlformats.org/drawingml/2006/main" noGrp="1"/>
          </p:cNvSpPr>
          <p:nvPr/>
        </p:nvSpPr>
        <p:spPr>
          <a:xfrm xmlns:a="http://schemas.openxmlformats.org/drawingml/2006/main">
            <a:off x="603504" y="5715000"/>
            <a:ext cx="32004" cy="521207"/>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574B12AB-CEB9-4CE1-97DE-6F86F97BBED3}"/>
              </a:ext>
            </a:extLst>
          </p:cNvPr>
          <p:cNvSpPr>
            <a:spLocks xmlns:a="http://schemas.openxmlformats.org/drawingml/2006/main" noGrp="1"/>
          </p:cNvSpPr>
          <p:nvPr/>
        </p:nvSpPr>
        <p:spPr>
          <a:xfrm xmlns:a="http://schemas.openxmlformats.org/drawingml/2006/main">
            <a:off x="758952" y="5833872"/>
            <a:ext cx="10652760" cy="3383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250" b="0">
                <a:solidFill>
                  <a:srgbClr val="086F69"/>
                </a:solidFill>
                <a:latin typeface="Verdana"/>
                <a:ea typeface="Verdana"/>
                <a:cs typeface="Verdana"/>
              </a:defRPr>
            </a:pPr>
            <a:r>
              <a:t>Review query, metadata, ảnh target và top retrieved trước khi kết luận nguyên nhân lỗi.</a:t>
            </a:r>
          </a:p>
        </p:txBody>
      </p:sp>
      <p:sp>
        <p:nvSpPr>
          <p:cNvPr id="24" name="TextBox 23">
            <a:extLst xmlns:a="http://schemas.openxmlformats.org/drawingml/2006/main">
              <a:ext uri="{FF2B5EF4-FFF2-40B4-BE49-F238E27FC236}">
                <a16:creationId xmlns:a16="http://schemas.microsoft.com/office/drawing/2014/main" id="{ED037F6A-3842-471C-A265-04C4A53F0C0F}"/>
              </a:ext>
            </a:extLst>
          </p:cNvPr>
          <p:cNvSpPr>
            <a:spLocks xmlns:a="http://schemas.openxmlformats.org/drawingml/2006/main" noGrp="1"/>
          </p:cNvSpPr>
          <p:nvPr/>
        </p:nvSpPr>
        <p:spPr>
          <a:xfrm xmlns:a="http://schemas.openxmlformats.org/drawingml/2006/main">
            <a:off x="603504" y="6473952"/>
            <a:ext cx="9875520"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950" b="0">
                <a:solidFill>
                  <a:srgbClr val="536774"/>
                </a:solidFill>
                <a:latin typeface="Verdana"/>
                <a:ea typeface="Verdana"/>
                <a:cs typeface="Verdana"/>
              </a:defRPr>
            </a:pPr>
            <a:r>
              <a:t>Nguồn: báo cáo Nhóm 4 · PDF tr. 7</a:t>
            </a:r>
          </a:p>
        </p:txBody>
      </p:sp>
      <p:sp>
        <p:nvSpPr>
          <p:cNvPr id="25" name="TextBox 24">
            <a:extLst xmlns:a="http://schemas.openxmlformats.org/drawingml/2006/main">
              <a:ext uri="{FF2B5EF4-FFF2-40B4-BE49-F238E27FC236}">
                <a16:creationId xmlns:a16="http://schemas.microsoft.com/office/drawing/2014/main" id="{2E9A4915-790B-4573-BD7B-7FBF790A037A}"/>
              </a:ext>
            </a:extLst>
          </p:cNvPr>
          <p:cNvSpPr>
            <a:spLocks xmlns:a="http://schemas.openxmlformats.org/drawingml/2006/main" noGrp="1"/>
          </p:cNvSpPr>
          <p:nvPr/>
        </p:nvSpPr>
        <p:spPr>
          <a:xfrm xmlns:a="http://schemas.openxmlformats.org/drawingml/2006/main">
            <a:off x="10698480" y="6473952"/>
            <a:ext cx="886968"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r">
              <a:lnSpc>
                <a:spcPct val="120000"/>
              </a:lnSpc>
              <a:spcBef>
                <a:spcPts val="0"/>
              </a:spcBef>
              <a:spcAft>
                <a:spcPts val="500"/>
              </a:spcAft>
              <a:buNone/>
              <a:defRPr sz="950" b="0">
                <a:solidFill>
                  <a:srgbClr val="152C3C"/>
                </a:solidFill>
                <a:latin typeface="Verdana"/>
                <a:ea typeface="Verdana"/>
                <a:cs typeface="Verdana"/>
              </a:defRPr>
            </a:pPr>
            <a:r>
              <a:t>11 / 12</a:t>
            </a:r>
          </a:p>
        </p:txBody>
      </p:sp>
    </p:spTree>
    <p:extLst>
      <p:ext uri="{BB962C8B-B14F-4D97-AF65-F5344CB8AC3E}">
        <p14:creationId xmlns:p14="http://schemas.microsoft.com/office/powerpoint/2010/main" val="899259940"/>
      </p:ext>
    </p:extLst>
  </p:cSld>
</p:sld>
</file>

<file path=ppt/slides/slide12.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045571E-3293-4142-B6A6-E45F3CB9C74C}"/>
              </a:ext>
            </a:extLst>
          </p:cNvPr>
          <p:cNvSpPr>
            <a:spLocks xmlns:a="http://schemas.openxmlformats.org/drawingml/2006/main" noGrp="1"/>
          </p:cNvSpPr>
          <p:nvPr/>
        </p:nvSpPr>
        <p:spPr>
          <a:xfrm xmlns:a="http://schemas.openxmlformats.org/drawingml/2006/main">
            <a:off x="603504" y="384048"/>
            <a:ext cx="10972800" cy="2468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50" b="1">
                <a:solidFill>
                  <a:srgbClr val="086F69"/>
                </a:solidFill>
                <a:latin typeface="Verdana"/>
                <a:ea typeface="Verdana"/>
                <a:cs typeface="Verdana"/>
              </a:defRPr>
            </a:pPr>
            <a:r>
              <a:t>07 / KẾT LUẬN</a:t>
            </a:r>
          </a:p>
        </p:txBody>
      </p:sp>
      <p:sp>
        <p:nvSpPr>
          <p:cNvPr id="3" name="Rectangle 2">
            <a:extLst xmlns:a="http://schemas.openxmlformats.org/drawingml/2006/main">
              <a:ext uri="{FF2B5EF4-FFF2-40B4-BE49-F238E27FC236}">
                <a16:creationId xmlns:a16="http://schemas.microsoft.com/office/drawing/2014/main" id="{BCBE2818-12F6-44A5-A229-698CB57BD3E8}"/>
              </a:ext>
            </a:extLst>
          </p:cNvPr>
          <p:cNvSpPr>
            <a:spLocks xmlns:a="http://schemas.openxmlformats.org/drawingml/2006/main" noGrp="1"/>
          </p:cNvSpPr>
          <p:nvPr/>
        </p:nvSpPr>
        <p:spPr>
          <a:xfrm xmlns:a="http://schemas.openxmlformats.org/drawingml/2006/main">
            <a:off x="603504" y="813816"/>
            <a:ext cx="10972800" cy="12801"/>
          </a:xfrm>
          <a:prstGeom xmlns:a="http://schemas.openxmlformats.org/drawingml/2006/main" prst="rect">
            <a:avLst/>
          </a:prstGeom>
          <a:solidFill xmlns:a="http://schemas.openxmlformats.org/drawingml/2006/main">
            <a:srgbClr val="D7DF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F2F3E126-5119-47D3-85F3-C5DE9AD67977}"/>
              </a:ext>
            </a:extLst>
          </p:cNvPr>
          <p:cNvSpPr>
            <a:spLocks xmlns:a="http://schemas.openxmlformats.org/drawingml/2006/main" noGrp="1"/>
          </p:cNvSpPr>
          <p:nvPr/>
        </p:nvSpPr>
        <p:spPr>
          <a:xfrm xmlns:a="http://schemas.openxmlformats.org/drawingml/2006/main">
            <a:off x="603504" y="1005840"/>
            <a:ext cx="10972800" cy="9692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3200" b="1">
                <a:solidFill>
                  <a:srgbClr val="152C3C"/>
                </a:solidFill>
                <a:latin typeface="Georgia"/>
                <a:ea typeface="Georgia"/>
                <a:cs typeface="Georgia"/>
              </a:defRPr>
            </a:pPr>
            <a:r>
              <a:t>Kết luận và hướng cải thiện</a:t>
            </a:r>
          </a:p>
        </p:txBody>
      </p:sp>
      <p:sp>
        <p:nvSpPr>
          <p:cNvPr id="5" name="TextBox 4">
            <a:extLst xmlns:a="http://schemas.openxmlformats.org/drawingml/2006/main">
              <a:ext uri="{FF2B5EF4-FFF2-40B4-BE49-F238E27FC236}">
                <a16:creationId xmlns:a16="http://schemas.microsoft.com/office/drawing/2014/main" id="{64371505-9301-4968-B591-EE2AB801FAF6}"/>
              </a:ext>
            </a:extLst>
          </p:cNvPr>
          <p:cNvSpPr>
            <a:spLocks xmlns:a="http://schemas.openxmlformats.org/drawingml/2006/main" noGrp="1"/>
          </p:cNvSpPr>
          <p:nvPr/>
        </p:nvSpPr>
        <p:spPr>
          <a:xfrm xmlns:a="http://schemas.openxmlformats.org/drawingml/2006/main">
            <a:off x="603504" y="1874519"/>
            <a:ext cx="10972800" cy="4297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400" b="0">
                <a:solidFill>
                  <a:srgbClr val="536774"/>
                </a:solidFill>
                <a:latin typeface="Verdana"/>
                <a:ea typeface="Verdana"/>
                <a:cs typeface="Verdana"/>
              </a:defRPr>
            </a:pPr>
            <a:r>
              <a:t>A1 đã có pipeline đa phương thức và khung ablation có kiểm soát.</a:t>
            </a:r>
          </a:p>
        </p:txBody>
      </p:sp>
      <p:sp>
        <p:nvSpPr>
          <p:cNvPr id="6" name="Rectangle 5">
            <a:extLst xmlns:a="http://schemas.openxmlformats.org/drawingml/2006/main">
              <a:ext uri="{FF2B5EF4-FFF2-40B4-BE49-F238E27FC236}">
                <a16:creationId xmlns:a16="http://schemas.microsoft.com/office/drawing/2014/main" id="{8747854D-CE66-4220-A884-27C326ED38F4}"/>
              </a:ext>
            </a:extLst>
          </p:cNvPr>
          <p:cNvSpPr>
            <a:spLocks xmlns:a="http://schemas.openxmlformats.org/drawingml/2006/main" noGrp="1"/>
          </p:cNvSpPr>
          <p:nvPr/>
        </p:nvSpPr>
        <p:spPr>
          <a:xfrm xmlns:a="http://schemas.openxmlformats.org/drawingml/2006/main">
            <a:off x="603504" y="2542032"/>
            <a:ext cx="3535680" cy="2779776"/>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2B4076C9-35F7-4F96-A93F-EBA428FA49FA}"/>
              </a:ext>
            </a:extLst>
          </p:cNvPr>
          <p:cNvSpPr>
            <a:spLocks xmlns:a="http://schemas.openxmlformats.org/drawingml/2006/main" noGrp="1"/>
          </p:cNvSpPr>
          <p:nvPr/>
        </p:nvSpPr>
        <p:spPr>
          <a:xfrm xmlns:a="http://schemas.openxmlformats.org/drawingml/2006/main">
            <a:off x="603504" y="2542032"/>
            <a:ext cx="3535680" cy="32004"/>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F676F71C-1B5A-4D23-B1CE-F923FDCEDB1C}"/>
              </a:ext>
            </a:extLst>
          </p:cNvPr>
          <p:cNvSpPr>
            <a:spLocks xmlns:a="http://schemas.openxmlformats.org/drawingml/2006/main" noGrp="1"/>
          </p:cNvSpPr>
          <p:nvPr/>
        </p:nvSpPr>
        <p:spPr>
          <a:xfrm xmlns:a="http://schemas.openxmlformats.org/drawingml/2006/main">
            <a:off x="804672" y="2706624"/>
            <a:ext cx="3133344"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00" b="1">
                <a:solidFill>
                  <a:srgbClr val="086F69"/>
                </a:solidFill>
                <a:latin typeface="Verdana"/>
                <a:ea typeface="Verdana"/>
                <a:cs typeface="Verdana"/>
              </a:defRPr>
            </a:pPr>
            <a:r>
              <a:t>01</a:t>
            </a:r>
          </a:p>
        </p:txBody>
      </p:sp>
      <p:sp>
        <p:nvSpPr>
          <p:cNvPr id="9" name="TextBox 8">
            <a:extLst xmlns:a="http://schemas.openxmlformats.org/drawingml/2006/main">
              <a:ext uri="{FF2B5EF4-FFF2-40B4-BE49-F238E27FC236}">
                <a16:creationId xmlns:a16="http://schemas.microsoft.com/office/drawing/2014/main" id="{7B5CBE63-5B9F-40AD-8DEB-C99182C7F6C5}"/>
              </a:ext>
            </a:extLst>
          </p:cNvPr>
          <p:cNvSpPr>
            <a:spLocks xmlns:a="http://schemas.openxmlformats.org/drawingml/2006/main" noGrp="1"/>
          </p:cNvSpPr>
          <p:nvPr/>
        </p:nvSpPr>
        <p:spPr>
          <a:xfrm xmlns:a="http://schemas.openxmlformats.org/drawingml/2006/main">
            <a:off x="804672" y="3044952"/>
            <a:ext cx="3133344"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900" b="1">
                <a:solidFill>
                  <a:srgbClr val="152C3C"/>
                </a:solidFill>
                <a:latin typeface="Verdana"/>
                <a:ea typeface="Verdana"/>
                <a:cs typeface="Verdana"/>
              </a:defRPr>
            </a:pPr>
            <a:r>
              <a:t>01 · Benchmark</a:t>
            </a:r>
          </a:p>
        </p:txBody>
      </p:sp>
      <p:sp>
        <p:nvSpPr>
          <p:cNvPr id="10" name="TextBox 9">
            <a:extLst xmlns:a="http://schemas.openxmlformats.org/drawingml/2006/main">
              <a:ext uri="{FF2B5EF4-FFF2-40B4-BE49-F238E27FC236}">
                <a16:creationId xmlns:a16="http://schemas.microsoft.com/office/drawing/2014/main" id="{6B713854-9AD9-4409-9DCA-C5123DA8183A}"/>
              </a:ext>
            </a:extLst>
          </p:cNvPr>
          <p:cNvSpPr>
            <a:spLocks xmlns:a="http://schemas.openxmlformats.org/drawingml/2006/main" noGrp="1"/>
          </p:cNvSpPr>
          <p:nvPr/>
        </p:nvSpPr>
        <p:spPr>
          <a:xfrm xmlns:a="http://schemas.openxmlformats.org/drawingml/2006/main">
            <a:off x="804672" y="3648456"/>
            <a:ext cx="3133344" cy="157276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536774"/>
                </a:solidFill>
                <a:latin typeface="Verdana"/>
                <a:ea typeface="Verdana"/>
                <a:cs typeface="Verdana"/>
              </a:defRPr>
            </a:pPr>
            <a:r>
              <a:t>Review qrels, thêm relevance phù hợp</a:t>
            </a:r>
          </a:p>
          <a:p xmlns:a="http://schemas.openxmlformats.org/drawingml/2006/main">
            <a:pPr>
              <a:lnSpc>
                <a:spcPct val="120000"/>
              </a:lnSpc>
              <a:spcBef>
                <a:spcPts val="0"/>
              </a:spcBef>
              <a:spcAft>
                <a:spcPts val="500"/>
              </a:spcAft>
              <a:buNone/>
              <a:defRPr sz="1600" b="0">
                <a:solidFill>
                  <a:srgbClr val="536774"/>
                </a:solidFill>
                <a:latin typeface="Verdana"/>
                <a:ea typeface="Verdana"/>
                <a:cs typeface="Verdana"/>
              </a:defRPr>
            </a:pPr>
            <a:r>
              <a:t>và ảnh truy vấn chụp độc lập.</a:t>
            </a:r>
          </a:p>
        </p:txBody>
      </p:sp>
      <p:sp>
        <p:nvSpPr>
          <p:cNvPr id="11" name="Rectangle 10">
            <a:extLst xmlns:a="http://schemas.openxmlformats.org/drawingml/2006/main">
              <a:ext uri="{FF2B5EF4-FFF2-40B4-BE49-F238E27FC236}">
                <a16:creationId xmlns:a16="http://schemas.microsoft.com/office/drawing/2014/main" id="{F284DBB3-6560-4FDD-A463-DEE439D3296B}"/>
              </a:ext>
            </a:extLst>
          </p:cNvPr>
          <p:cNvSpPr>
            <a:spLocks xmlns:a="http://schemas.openxmlformats.org/drawingml/2006/main" noGrp="1"/>
          </p:cNvSpPr>
          <p:nvPr/>
        </p:nvSpPr>
        <p:spPr>
          <a:xfrm xmlns:a="http://schemas.openxmlformats.org/drawingml/2006/main">
            <a:off x="4322064" y="2542032"/>
            <a:ext cx="3535680" cy="2779776"/>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6B6999A9-7112-4A96-983A-60359234809B}"/>
              </a:ext>
            </a:extLst>
          </p:cNvPr>
          <p:cNvSpPr>
            <a:spLocks xmlns:a="http://schemas.openxmlformats.org/drawingml/2006/main" noGrp="1"/>
          </p:cNvSpPr>
          <p:nvPr/>
        </p:nvSpPr>
        <p:spPr>
          <a:xfrm xmlns:a="http://schemas.openxmlformats.org/drawingml/2006/main">
            <a:off x="4322064" y="2542032"/>
            <a:ext cx="3535680" cy="32004"/>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0351814E-42B8-40ED-8816-70A9E65AD0F0}"/>
              </a:ext>
            </a:extLst>
          </p:cNvPr>
          <p:cNvSpPr>
            <a:spLocks xmlns:a="http://schemas.openxmlformats.org/drawingml/2006/main" noGrp="1"/>
          </p:cNvSpPr>
          <p:nvPr/>
        </p:nvSpPr>
        <p:spPr>
          <a:xfrm xmlns:a="http://schemas.openxmlformats.org/drawingml/2006/main">
            <a:off x="4523232" y="2706624"/>
            <a:ext cx="3133344"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00" b="1">
                <a:solidFill>
                  <a:srgbClr val="086F69"/>
                </a:solidFill>
                <a:latin typeface="Verdana"/>
                <a:ea typeface="Verdana"/>
                <a:cs typeface="Verdana"/>
              </a:defRPr>
            </a:pPr>
            <a:r>
              <a:t>02</a:t>
            </a:r>
          </a:p>
        </p:txBody>
      </p:sp>
      <p:sp>
        <p:nvSpPr>
          <p:cNvPr id="14" name="TextBox 13">
            <a:extLst xmlns:a="http://schemas.openxmlformats.org/drawingml/2006/main">
              <a:ext uri="{FF2B5EF4-FFF2-40B4-BE49-F238E27FC236}">
                <a16:creationId xmlns:a16="http://schemas.microsoft.com/office/drawing/2014/main" id="{995F1EE7-BE83-42BC-B0A5-9B680346C791}"/>
              </a:ext>
            </a:extLst>
          </p:cNvPr>
          <p:cNvSpPr>
            <a:spLocks xmlns:a="http://schemas.openxmlformats.org/drawingml/2006/main" noGrp="1"/>
          </p:cNvSpPr>
          <p:nvPr/>
        </p:nvSpPr>
        <p:spPr>
          <a:xfrm xmlns:a="http://schemas.openxmlformats.org/drawingml/2006/main">
            <a:off x="4523232" y="3044952"/>
            <a:ext cx="3133344"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900" b="1">
                <a:solidFill>
                  <a:srgbClr val="152C3C"/>
                </a:solidFill>
                <a:latin typeface="Verdana"/>
                <a:ea typeface="Verdana"/>
                <a:cs typeface="Verdana"/>
              </a:defRPr>
            </a:pPr>
            <a:r>
              <a:t>02 · Dense</a:t>
            </a:r>
          </a:p>
        </p:txBody>
      </p:sp>
      <p:sp>
        <p:nvSpPr>
          <p:cNvPr id="15" name="TextBox 14">
            <a:extLst xmlns:a="http://schemas.openxmlformats.org/drawingml/2006/main">
              <a:ext uri="{FF2B5EF4-FFF2-40B4-BE49-F238E27FC236}">
                <a16:creationId xmlns:a16="http://schemas.microsoft.com/office/drawing/2014/main" id="{78F1686E-E1DD-4610-B12A-10D4252067B4}"/>
              </a:ext>
            </a:extLst>
          </p:cNvPr>
          <p:cNvSpPr>
            <a:spLocks xmlns:a="http://schemas.openxmlformats.org/drawingml/2006/main" noGrp="1"/>
          </p:cNvSpPr>
          <p:nvPr/>
        </p:nvSpPr>
        <p:spPr>
          <a:xfrm xmlns:a="http://schemas.openxmlformats.org/drawingml/2006/main">
            <a:off x="4523232" y="3648456"/>
            <a:ext cx="3133344" cy="157276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536774"/>
                </a:solidFill>
                <a:latin typeface="Verdana"/>
                <a:ea typeface="Verdana"/>
                <a:cs typeface="Verdana"/>
              </a:defRPr>
            </a:pPr>
            <a:r>
              <a:t>Pin revision/preprocessing; so sánh</a:t>
            </a:r>
          </a:p>
          <a:p xmlns:a="http://schemas.openxmlformats.org/drawingml/2006/main">
            <a:pPr>
              <a:lnSpc>
                <a:spcPct val="120000"/>
              </a:lnSpc>
              <a:spcBef>
                <a:spcPts val="0"/>
              </a:spcBef>
              <a:spcAft>
                <a:spcPts val="500"/>
              </a:spcAft>
              <a:buNone/>
              <a:defRPr sz="1600" b="0">
                <a:solidFill>
                  <a:srgbClr val="536774"/>
                </a:solidFill>
                <a:latin typeface="Verdana"/>
                <a:ea typeface="Verdana"/>
                <a:cs typeface="Verdana"/>
              </a:defRPr>
            </a:pPr>
            <a:r>
              <a:t>title, metadata ngắn và search_text.</a:t>
            </a:r>
          </a:p>
        </p:txBody>
      </p:sp>
      <p:sp>
        <p:nvSpPr>
          <p:cNvPr id="16" name="Rectangle 15">
            <a:extLst xmlns:a="http://schemas.openxmlformats.org/drawingml/2006/main">
              <a:ext uri="{FF2B5EF4-FFF2-40B4-BE49-F238E27FC236}">
                <a16:creationId xmlns:a16="http://schemas.microsoft.com/office/drawing/2014/main" id="{F5F22D46-8D6E-4CFC-91BC-C45A3725C7EF}"/>
              </a:ext>
            </a:extLst>
          </p:cNvPr>
          <p:cNvSpPr>
            <a:spLocks xmlns:a="http://schemas.openxmlformats.org/drawingml/2006/main" noGrp="1"/>
          </p:cNvSpPr>
          <p:nvPr/>
        </p:nvSpPr>
        <p:spPr>
          <a:xfrm xmlns:a="http://schemas.openxmlformats.org/drawingml/2006/main">
            <a:off x="8040624" y="2542032"/>
            <a:ext cx="3535680" cy="2779776"/>
          </a:xfrm>
          <a:prstGeom xmlns:a="http://schemas.openxmlformats.org/drawingml/2006/main" prst="rect">
            <a:avLst/>
          </a:prstGeom>
          <a:solidFill xmlns:a="http://schemas.openxmlformats.org/drawingml/2006/main">
            <a:srgbClr val="FFFDF8"/>
          </a:solidFill>
          <a:ln xmlns:a="http://schemas.openxmlformats.org/drawingml/2006/main" w="8890">
            <a:solidFill>
              <a:srgbClr val="D7DFD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BDBEEBCA-8C6A-4DC8-9228-B42E4A152627}"/>
              </a:ext>
            </a:extLst>
          </p:cNvPr>
          <p:cNvSpPr>
            <a:spLocks xmlns:a="http://schemas.openxmlformats.org/drawingml/2006/main" noGrp="1"/>
          </p:cNvSpPr>
          <p:nvPr/>
        </p:nvSpPr>
        <p:spPr>
          <a:xfrm xmlns:a="http://schemas.openxmlformats.org/drawingml/2006/main">
            <a:off x="8040624" y="2542032"/>
            <a:ext cx="3535680" cy="32004"/>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32C312C2-9B2D-44CC-8A40-322CA8EFF6BE}"/>
              </a:ext>
            </a:extLst>
          </p:cNvPr>
          <p:cNvSpPr>
            <a:spLocks xmlns:a="http://schemas.openxmlformats.org/drawingml/2006/main" noGrp="1"/>
          </p:cNvSpPr>
          <p:nvPr/>
        </p:nvSpPr>
        <p:spPr>
          <a:xfrm xmlns:a="http://schemas.openxmlformats.org/drawingml/2006/main">
            <a:off x="8241792" y="2706624"/>
            <a:ext cx="3133344"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000" b="1">
                <a:solidFill>
                  <a:srgbClr val="086F69"/>
                </a:solidFill>
                <a:latin typeface="Verdana"/>
                <a:ea typeface="Verdana"/>
                <a:cs typeface="Verdana"/>
              </a:defRPr>
            </a:pPr>
            <a:r>
              <a:t>03</a:t>
            </a:r>
          </a:p>
        </p:txBody>
      </p:sp>
      <p:sp>
        <p:nvSpPr>
          <p:cNvPr id="19" name="TextBox 18">
            <a:extLst xmlns:a="http://schemas.openxmlformats.org/drawingml/2006/main">
              <a:ext uri="{FF2B5EF4-FFF2-40B4-BE49-F238E27FC236}">
                <a16:creationId xmlns:a16="http://schemas.microsoft.com/office/drawing/2014/main" id="{8A0A814F-0FB5-44A5-9D7D-A545DC45B6ED}"/>
              </a:ext>
            </a:extLst>
          </p:cNvPr>
          <p:cNvSpPr>
            <a:spLocks xmlns:a="http://schemas.openxmlformats.org/drawingml/2006/main" noGrp="1"/>
          </p:cNvSpPr>
          <p:nvPr/>
        </p:nvSpPr>
        <p:spPr>
          <a:xfrm xmlns:a="http://schemas.openxmlformats.org/drawingml/2006/main">
            <a:off x="8241792" y="3044952"/>
            <a:ext cx="3133344"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900" b="1">
                <a:solidFill>
                  <a:srgbClr val="152C3C"/>
                </a:solidFill>
                <a:latin typeface="Verdana"/>
                <a:ea typeface="Verdana"/>
                <a:cs typeface="Verdana"/>
              </a:defRPr>
            </a:pPr>
            <a:r>
              <a:t>03 · Fusion</a:t>
            </a:r>
          </a:p>
        </p:txBody>
      </p:sp>
      <p:sp>
        <p:nvSpPr>
          <p:cNvPr id="20" name="TextBox 19">
            <a:extLst xmlns:a="http://schemas.openxmlformats.org/drawingml/2006/main">
              <a:ext uri="{FF2B5EF4-FFF2-40B4-BE49-F238E27FC236}">
                <a16:creationId xmlns:a16="http://schemas.microsoft.com/office/drawing/2014/main" id="{E3A41874-72A0-4CD3-946E-0B2B89A78E7F}"/>
              </a:ext>
            </a:extLst>
          </p:cNvPr>
          <p:cNvSpPr>
            <a:spLocks xmlns:a="http://schemas.openxmlformats.org/drawingml/2006/main" noGrp="1"/>
          </p:cNvSpPr>
          <p:nvPr/>
        </p:nvSpPr>
        <p:spPr>
          <a:xfrm xmlns:a="http://schemas.openxmlformats.org/drawingml/2006/main">
            <a:off x="8241792" y="3648456"/>
            <a:ext cx="3133344" cy="157276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600" b="0">
                <a:solidFill>
                  <a:srgbClr val="536774"/>
                </a:solidFill>
                <a:latin typeface="Verdana"/>
                <a:ea typeface="Verdana"/>
                <a:cs typeface="Verdana"/>
              </a:defRPr>
            </a:pPr>
            <a:r>
              <a:t>Sau khi dense ổn định: thử candidate_k,</a:t>
            </a:r>
          </a:p>
          <a:p xmlns:a="http://schemas.openxmlformats.org/drawingml/2006/main">
            <a:pPr>
              <a:lnSpc>
                <a:spcPct val="120000"/>
              </a:lnSpc>
              <a:spcBef>
                <a:spcPts val="0"/>
              </a:spcBef>
              <a:spcAft>
                <a:spcPts val="500"/>
              </a:spcAft>
              <a:buNone/>
              <a:defRPr sz="1600" b="0">
                <a:solidFill>
                  <a:srgbClr val="536774"/>
                </a:solidFill>
                <a:latin typeface="Verdana"/>
                <a:ea typeface="Verdana"/>
                <a:cs typeface="Verdana"/>
              </a:defRPr>
            </a:pPr>
            <a:r>
              <a:t>weighted RRF, reranker và phân tích cứu/tụt rank.</a:t>
            </a:r>
          </a:p>
        </p:txBody>
      </p:sp>
      <p:sp>
        <p:nvSpPr>
          <p:cNvPr id="21" name="Rectangle 20">
            <a:extLst xmlns:a="http://schemas.openxmlformats.org/drawingml/2006/main">
              <a:ext uri="{FF2B5EF4-FFF2-40B4-BE49-F238E27FC236}">
                <a16:creationId xmlns:a16="http://schemas.microsoft.com/office/drawing/2014/main" id="{A0DF5E9A-7E8B-4299-8F01-2E53C56BF0EA}"/>
              </a:ext>
            </a:extLst>
          </p:cNvPr>
          <p:cNvSpPr>
            <a:spLocks xmlns:a="http://schemas.openxmlformats.org/drawingml/2006/main" noGrp="1"/>
          </p:cNvSpPr>
          <p:nvPr/>
        </p:nvSpPr>
        <p:spPr>
          <a:xfrm xmlns:a="http://schemas.openxmlformats.org/drawingml/2006/main">
            <a:off x="603504" y="5715000"/>
            <a:ext cx="10972800" cy="521207"/>
          </a:xfrm>
          <a:prstGeom xmlns:a="http://schemas.openxmlformats.org/drawingml/2006/main" prst="rect">
            <a:avLst/>
          </a:prstGeom>
          <a:solidFill xmlns:a="http://schemas.openxmlformats.org/drawingml/2006/main">
            <a:srgbClr val="E6ED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Rectangle 21">
            <a:extLst xmlns:a="http://schemas.openxmlformats.org/drawingml/2006/main">
              <a:ext uri="{FF2B5EF4-FFF2-40B4-BE49-F238E27FC236}">
                <a16:creationId xmlns:a16="http://schemas.microsoft.com/office/drawing/2014/main" id="{7BA93ACA-6353-4B24-8DBC-CE73EDDB1C87}"/>
              </a:ext>
            </a:extLst>
          </p:cNvPr>
          <p:cNvSpPr>
            <a:spLocks xmlns:a="http://schemas.openxmlformats.org/drawingml/2006/main" noGrp="1"/>
          </p:cNvSpPr>
          <p:nvPr/>
        </p:nvSpPr>
        <p:spPr>
          <a:xfrm xmlns:a="http://schemas.openxmlformats.org/drawingml/2006/main">
            <a:off x="603504" y="5715000"/>
            <a:ext cx="32004" cy="521207"/>
          </a:xfrm>
          <a:prstGeom xmlns:a="http://schemas.openxmlformats.org/drawingml/2006/main" prst="rect">
            <a:avLst/>
          </a:prstGeom>
          <a:solidFill xmlns:a="http://schemas.openxmlformats.org/drawingml/2006/main">
            <a:srgbClr val="086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A0A4C9BB-1550-491D-B2A8-6F0D28CB1FF2}"/>
              </a:ext>
            </a:extLst>
          </p:cNvPr>
          <p:cNvSpPr>
            <a:spLocks xmlns:a="http://schemas.openxmlformats.org/drawingml/2006/main" noGrp="1"/>
          </p:cNvSpPr>
          <p:nvPr/>
        </p:nvSpPr>
        <p:spPr>
          <a:xfrm xmlns:a="http://schemas.openxmlformats.org/drawingml/2006/main">
            <a:off x="758952" y="5833872"/>
            <a:ext cx="10652760" cy="3383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1250" b="0">
                <a:solidFill>
                  <a:srgbClr val="086F69"/>
                </a:solidFill>
                <a:latin typeface="Verdana"/>
                <a:ea typeface="Verdana"/>
                <a:cs typeface="Verdana"/>
              </a:defRPr>
            </a:pPr>
            <a:r>
              <a:t>BM25 tốt nhất cho text. Image cần ảnh độc lập. Exact Product ID đạt 100/100 top-1.</a:t>
            </a:r>
          </a:p>
        </p:txBody>
      </p:sp>
      <p:sp>
        <p:nvSpPr>
          <p:cNvPr id="24" name="TextBox 23">
            <a:extLst xmlns:a="http://schemas.openxmlformats.org/drawingml/2006/main">
              <a:ext uri="{FF2B5EF4-FFF2-40B4-BE49-F238E27FC236}">
                <a16:creationId xmlns:a16="http://schemas.microsoft.com/office/drawing/2014/main" id="{4CAB1F39-688F-4BBC-9DF9-47963234E350}"/>
              </a:ext>
            </a:extLst>
          </p:cNvPr>
          <p:cNvSpPr>
            <a:spLocks xmlns:a="http://schemas.openxmlformats.org/drawingml/2006/main" noGrp="1"/>
          </p:cNvSpPr>
          <p:nvPr/>
        </p:nvSpPr>
        <p:spPr>
          <a:xfrm xmlns:a="http://schemas.openxmlformats.org/drawingml/2006/main">
            <a:off x="603504" y="6473952"/>
            <a:ext cx="9875520"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20000"/>
              </a:lnSpc>
              <a:spcBef>
                <a:spcPts val="0"/>
              </a:spcBef>
              <a:spcAft>
                <a:spcPts val="500"/>
              </a:spcAft>
              <a:buNone/>
              <a:defRPr sz="950" b="0">
                <a:solidFill>
                  <a:srgbClr val="536774"/>
                </a:solidFill>
                <a:latin typeface="Verdana"/>
                <a:ea typeface="Verdana"/>
                <a:cs typeface="Verdana"/>
              </a:defRPr>
            </a:pPr>
            <a:r>
              <a:t>Nguồn: báo cáo Nhóm 4 · PDF tr. 7–9</a:t>
            </a:r>
          </a:p>
        </p:txBody>
      </p:sp>
      <p:sp>
        <p:nvSpPr>
          <p:cNvPr id="25" name="TextBox 24">
            <a:extLst xmlns:a="http://schemas.openxmlformats.org/drawingml/2006/main">
              <a:ext uri="{FF2B5EF4-FFF2-40B4-BE49-F238E27FC236}">
                <a16:creationId xmlns:a16="http://schemas.microsoft.com/office/drawing/2014/main" id="{AB681437-E0AA-4BBC-B3AC-9B4FA1D509D6}"/>
              </a:ext>
            </a:extLst>
          </p:cNvPr>
          <p:cNvSpPr>
            <a:spLocks xmlns:a="http://schemas.openxmlformats.org/drawingml/2006/main" noGrp="1"/>
          </p:cNvSpPr>
          <p:nvPr/>
        </p:nvSpPr>
        <p:spPr>
          <a:xfrm xmlns:a="http://schemas.openxmlformats.org/drawingml/2006/main">
            <a:off x="10698480" y="6473952"/>
            <a:ext cx="886968" cy="21945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r">
              <a:lnSpc>
                <a:spcPct val="120000"/>
              </a:lnSpc>
              <a:spcBef>
                <a:spcPts val="0"/>
              </a:spcBef>
              <a:spcAft>
                <a:spcPts val="500"/>
              </a:spcAft>
              <a:buNone/>
              <a:defRPr sz="950" b="0">
                <a:solidFill>
                  <a:srgbClr val="152C3C"/>
                </a:solidFill>
                <a:latin typeface="Verdana"/>
                <a:ea typeface="Verdana"/>
                <a:cs typeface="Verdana"/>
              </a:defRPr>
            </a:pPr>
            <a:r>
              <a:t>12 / 12</a:t>
            </a:r>
          </a:p>
        </p:txBody>
      </p:sp>
    </p:spTree>
    <p:extLst>
      <p:ext uri="{BB962C8B-B14F-4D97-AF65-F5344CB8AC3E}">
        <p14:creationId xmlns:p14="http://schemas.microsoft.com/office/powerpoint/2010/main" val="144836269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2026-10-06T12:39:59.5680000Z</dcterms:created>
  <dcterms:modified xsi:type="dcterms:W3CDTF">2026-10-06T12:39:59.5680000Z</dcterms:modified>
</coreProperties>
</file>